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89" autoAdjust="0"/>
    <p:restoredTop sz="74008" autoAdjust="0"/>
  </p:normalViewPr>
  <p:slideViewPr>
    <p:cSldViewPr snapToGrid="0">
      <p:cViewPr varScale="1">
        <p:scale>
          <a:sx n="118" d="100"/>
          <a:sy n="118" d="100"/>
        </p:scale>
        <p:origin x="412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451253-935D-46F9-9C3E-E33D74DC1BD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FAF38C-FF42-4CB1-B9EA-0EB5B95EB8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766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Základní</a:t>
            </a:r>
            <a:r>
              <a:rPr lang="en-US" dirty="0"/>
              <a:t> </a:t>
            </a:r>
            <a:r>
              <a:rPr lang="en-US" dirty="0" err="1"/>
              <a:t>problém</a:t>
            </a:r>
            <a:r>
              <a:rPr lang="en-US" dirty="0"/>
              <a:t>: </a:t>
            </a:r>
            <a:r>
              <a:rPr lang="en-US" dirty="0" err="1"/>
              <a:t>genetický</a:t>
            </a:r>
            <a:r>
              <a:rPr lang="en-US" dirty="0"/>
              <a:t> test </a:t>
            </a:r>
            <a:r>
              <a:rPr lang="en-US" dirty="0" err="1"/>
              <a:t>najde</a:t>
            </a:r>
            <a:r>
              <a:rPr lang="en-US" dirty="0"/>
              <a:t> </a:t>
            </a:r>
            <a:r>
              <a:rPr lang="en-US" dirty="0" err="1"/>
              <a:t>variantu</a:t>
            </a:r>
            <a:r>
              <a:rPr lang="en-US" dirty="0"/>
              <a:t>, ale </a:t>
            </a:r>
            <a:r>
              <a:rPr lang="en-US" dirty="0" err="1"/>
              <a:t>samotný</a:t>
            </a:r>
            <a:r>
              <a:rPr lang="en-US" dirty="0"/>
              <a:t> </a:t>
            </a:r>
            <a:r>
              <a:rPr lang="en-US" dirty="0" err="1"/>
              <a:t>nález</a:t>
            </a:r>
            <a:r>
              <a:rPr lang="en-US" dirty="0"/>
              <a:t> </a:t>
            </a:r>
            <a:r>
              <a:rPr lang="en-US" dirty="0" err="1"/>
              <a:t>ještě</a:t>
            </a:r>
            <a:r>
              <a:rPr lang="en-US" dirty="0"/>
              <a:t> </a:t>
            </a:r>
            <a:r>
              <a:rPr lang="en-US" dirty="0" err="1"/>
              <a:t>neříká</a:t>
            </a:r>
            <a:r>
              <a:rPr lang="en-US" dirty="0"/>
              <a:t>, </a:t>
            </a:r>
            <a:r>
              <a:rPr lang="en-US" dirty="0" err="1"/>
              <a:t>zda</a:t>
            </a:r>
            <a:r>
              <a:rPr lang="en-US" dirty="0"/>
              <a:t> je </a:t>
            </a:r>
            <a:r>
              <a:rPr lang="en-US" dirty="0" err="1"/>
              <a:t>klinicky</a:t>
            </a:r>
            <a:r>
              <a:rPr lang="en-US" dirty="0"/>
              <a:t> </a:t>
            </a:r>
            <a:r>
              <a:rPr lang="en-US" dirty="0" err="1"/>
              <a:t>významná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Co je </a:t>
            </a:r>
            <a:r>
              <a:rPr lang="en-US" dirty="0" err="1"/>
              <a:t>kritérium</a:t>
            </a:r>
            <a:r>
              <a:rPr lang="en-US" dirty="0"/>
              <a:t>: </a:t>
            </a:r>
            <a:r>
              <a:rPr lang="en-US" dirty="0" err="1"/>
              <a:t>předem</a:t>
            </a:r>
            <a:r>
              <a:rPr lang="en-US" dirty="0"/>
              <a:t> </a:t>
            </a:r>
            <a:r>
              <a:rPr lang="en-US" dirty="0" err="1"/>
              <a:t>definovaný</a:t>
            </a:r>
            <a:r>
              <a:rPr lang="en-US" dirty="0"/>
              <a:t> </a:t>
            </a:r>
            <a:r>
              <a:rPr lang="en-US" dirty="0" err="1"/>
              <a:t>typ</a:t>
            </a:r>
            <a:r>
              <a:rPr lang="en-US" dirty="0"/>
              <a:t> </a:t>
            </a:r>
            <a:r>
              <a:rPr lang="en-US" dirty="0" err="1"/>
              <a:t>důkazu</a:t>
            </a:r>
            <a:r>
              <a:rPr lang="en-US" dirty="0"/>
              <a:t>, </a:t>
            </a:r>
            <a:r>
              <a:rPr lang="en-US" dirty="0" err="1"/>
              <a:t>který</a:t>
            </a:r>
            <a:r>
              <a:rPr lang="en-US" dirty="0"/>
              <a:t> </a:t>
            </a:r>
            <a:r>
              <a:rPr lang="en-US" dirty="0" err="1"/>
              <a:t>posouvá</a:t>
            </a:r>
            <a:r>
              <a:rPr lang="en-US" dirty="0"/>
              <a:t> </a:t>
            </a:r>
            <a:r>
              <a:rPr lang="en-US" dirty="0" err="1"/>
              <a:t>klasifikaci</a:t>
            </a:r>
            <a:r>
              <a:rPr lang="en-US" dirty="0"/>
              <a:t> </a:t>
            </a:r>
            <a:r>
              <a:rPr lang="en-US" dirty="0" err="1"/>
              <a:t>směrem</a:t>
            </a:r>
            <a:r>
              <a:rPr lang="en-US" dirty="0"/>
              <a:t> k </a:t>
            </a:r>
            <a:r>
              <a:rPr lang="en-US" dirty="0" err="1"/>
              <a:t>benigní</a:t>
            </a:r>
            <a:r>
              <a:rPr lang="en-US" dirty="0"/>
              <a:t> </a:t>
            </a:r>
            <a:r>
              <a:rPr lang="en-US" dirty="0" err="1"/>
              <a:t>nebo</a:t>
            </a:r>
            <a:r>
              <a:rPr lang="en-US" dirty="0"/>
              <a:t> </a:t>
            </a:r>
            <a:r>
              <a:rPr lang="en-US" dirty="0" err="1"/>
              <a:t>patogenní</a:t>
            </a:r>
            <a:r>
              <a:rPr lang="en-US" dirty="0"/>
              <a:t> </a:t>
            </a:r>
            <a:r>
              <a:rPr lang="en-US" dirty="0" err="1"/>
              <a:t>variantě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Problém</a:t>
            </a:r>
            <a:r>
              <a:rPr lang="en-US" dirty="0"/>
              <a:t> je,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samotná</a:t>
            </a:r>
            <a:r>
              <a:rPr lang="en-US" dirty="0"/>
              <a:t> </a:t>
            </a:r>
            <a:r>
              <a:rPr lang="en-US" dirty="0" err="1"/>
              <a:t>kritéria</a:t>
            </a:r>
            <a:r>
              <a:rPr lang="en-US" dirty="0"/>
              <a:t> </a:t>
            </a:r>
            <a:r>
              <a:rPr lang="en-US" dirty="0" err="1"/>
              <a:t>mohou</a:t>
            </a:r>
            <a:r>
              <a:rPr lang="en-US" dirty="0"/>
              <a:t> </a:t>
            </a:r>
            <a:r>
              <a:rPr lang="en-US" dirty="0" err="1"/>
              <a:t>být</a:t>
            </a:r>
            <a:r>
              <a:rPr lang="en-US" dirty="0"/>
              <a:t> </a:t>
            </a:r>
            <a:r>
              <a:rPr lang="en-US" dirty="0" err="1"/>
              <a:t>velmi</a:t>
            </a:r>
            <a:r>
              <a:rPr lang="en-US" dirty="0"/>
              <a:t> </a:t>
            </a:r>
            <a:r>
              <a:rPr lang="en-US" dirty="0" err="1"/>
              <a:t>složitá</a:t>
            </a:r>
            <a:r>
              <a:rPr lang="en-US" dirty="0"/>
              <a:t>. Je </a:t>
            </a:r>
            <a:r>
              <a:rPr lang="en-US" dirty="0" err="1"/>
              <a:t>potřeba</a:t>
            </a:r>
            <a:r>
              <a:rPr lang="en-US" dirty="0"/>
              <a:t> </a:t>
            </a:r>
            <a:r>
              <a:rPr lang="en-US" dirty="0" err="1"/>
              <a:t>pracovat</a:t>
            </a:r>
            <a:r>
              <a:rPr lang="en-US" dirty="0"/>
              <a:t> s </a:t>
            </a:r>
            <a:r>
              <a:rPr lang="en-US" dirty="0" err="1"/>
              <a:t>tabulkami</a:t>
            </a:r>
            <a:r>
              <a:rPr lang="en-US" dirty="0"/>
              <a:t> </a:t>
            </a:r>
            <a:r>
              <a:rPr lang="en-US" dirty="0" err="1"/>
              <a:t>důkazů</a:t>
            </a:r>
            <a:r>
              <a:rPr lang="en-US" dirty="0"/>
              <a:t>, </a:t>
            </a:r>
            <a:r>
              <a:rPr lang="en-US" dirty="0" err="1"/>
              <a:t>různými</a:t>
            </a:r>
            <a:r>
              <a:rPr lang="en-US" dirty="0"/>
              <a:t> </a:t>
            </a:r>
            <a:r>
              <a:rPr lang="en-US" dirty="0" err="1"/>
              <a:t>typy</a:t>
            </a:r>
            <a:r>
              <a:rPr lang="en-US" dirty="0"/>
              <a:t> </a:t>
            </a:r>
            <a:r>
              <a:rPr lang="en-US" dirty="0" err="1"/>
              <a:t>skóre</a:t>
            </a:r>
            <a:r>
              <a:rPr lang="en-US" dirty="0"/>
              <a:t> a </a:t>
            </a:r>
            <a:r>
              <a:rPr lang="en-US" dirty="0" err="1"/>
              <a:t>nakonec</a:t>
            </a:r>
            <a:r>
              <a:rPr lang="en-US" dirty="0"/>
              <a:t> </a:t>
            </a:r>
            <a:r>
              <a:rPr lang="en-US" dirty="0" err="1"/>
              <a:t>všechno</a:t>
            </a:r>
            <a:r>
              <a:rPr lang="en-US" dirty="0"/>
              <a:t> </a:t>
            </a:r>
            <a:r>
              <a:rPr lang="en-US" dirty="0" err="1"/>
              <a:t>správně</a:t>
            </a:r>
            <a:r>
              <a:rPr lang="en-US" dirty="0"/>
              <a:t> </a:t>
            </a:r>
            <a:r>
              <a:rPr lang="en-US" dirty="0" err="1"/>
              <a:t>spojit</a:t>
            </a:r>
            <a:r>
              <a:rPr lang="en-US" dirty="0"/>
              <a:t> </a:t>
            </a:r>
            <a:r>
              <a:rPr lang="en-US" dirty="0" err="1"/>
              <a:t>pomocí</a:t>
            </a:r>
            <a:r>
              <a:rPr lang="en-US" dirty="0"/>
              <a:t> </a:t>
            </a:r>
            <a:r>
              <a:rPr lang="en-US" dirty="0" err="1"/>
              <a:t>rozhodovacích</a:t>
            </a:r>
            <a:r>
              <a:rPr lang="en-US" dirty="0"/>
              <a:t> </a:t>
            </a:r>
            <a:r>
              <a:rPr lang="en-US" dirty="0" err="1"/>
              <a:t>pravidel</a:t>
            </a:r>
            <a:r>
              <a:rPr lang="en-US" dirty="0"/>
              <a:t>. Ne </a:t>
            </a:r>
            <a:r>
              <a:rPr lang="en-US" dirty="0" err="1"/>
              <a:t>všechny</a:t>
            </a:r>
            <a:r>
              <a:rPr lang="en-US" dirty="0"/>
              <a:t> </a:t>
            </a:r>
            <a:r>
              <a:rPr lang="en-US" dirty="0" err="1"/>
              <a:t>laboratoře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</a:t>
            </a:r>
            <a:r>
              <a:rPr lang="en-US" dirty="0" err="1"/>
              <a:t>dostatek</a:t>
            </a:r>
            <a:r>
              <a:rPr lang="en-US" dirty="0"/>
              <a:t> </a:t>
            </a:r>
            <a:r>
              <a:rPr lang="en-US" dirty="0" err="1"/>
              <a:t>času</a:t>
            </a:r>
            <a:r>
              <a:rPr lang="en-US" dirty="0"/>
              <a:t> </a:t>
            </a:r>
            <a:r>
              <a:rPr lang="en-US" dirty="0" err="1"/>
              <a:t>nebo</a:t>
            </a:r>
            <a:r>
              <a:rPr lang="en-US" dirty="0"/>
              <a:t> </a:t>
            </a:r>
            <a:r>
              <a:rPr lang="en-US" dirty="0" err="1"/>
              <a:t>potřebnou</a:t>
            </a:r>
            <a:r>
              <a:rPr lang="en-US" dirty="0"/>
              <a:t> </a:t>
            </a:r>
            <a:r>
              <a:rPr lang="en-US" dirty="0" err="1"/>
              <a:t>odbornost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to, aby </a:t>
            </a:r>
            <a:r>
              <a:rPr lang="en-US" dirty="0" err="1"/>
              <a:t>klasifikaci</a:t>
            </a:r>
            <a:r>
              <a:rPr lang="en-US" dirty="0"/>
              <a:t> </a:t>
            </a:r>
            <a:r>
              <a:rPr lang="en-US" dirty="0" err="1"/>
              <a:t>prováděly</a:t>
            </a:r>
            <a:r>
              <a:rPr lang="en-US" dirty="0"/>
              <a:t> v </a:t>
            </a:r>
            <a:r>
              <a:rPr lang="en-US" dirty="0" err="1"/>
              <a:t>takové</a:t>
            </a:r>
            <a:r>
              <a:rPr lang="en-US" dirty="0"/>
              <a:t> </a:t>
            </a:r>
            <a:r>
              <a:rPr lang="en-US" dirty="0" err="1"/>
              <a:t>hloubce</a:t>
            </a:r>
            <a:r>
              <a:rPr lang="en-US" dirty="0"/>
              <a:t>, jak by </a:t>
            </a:r>
            <a:r>
              <a:rPr lang="en-US" dirty="0" err="1"/>
              <a:t>bylo</a:t>
            </a:r>
            <a:r>
              <a:rPr lang="en-US" dirty="0"/>
              <a:t> </a:t>
            </a:r>
            <a:r>
              <a:rPr lang="en-US" dirty="0" err="1"/>
              <a:t>ideální</a:t>
            </a:r>
            <a:r>
              <a:rPr lang="en-US" dirty="0"/>
              <a:t>. V </a:t>
            </a:r>
            <a:r>
              <a:rPr lang="en-US" dirty="0" err="1"/>
              <a:t>praxi</a:t>
            </a:r>
            <a:r>
              <a:rPr lang="en-US" dirty="0"/>
              <a:t> se pak </a:t>
            </a:r>
            <a:r>
              <a:rPr lang="en-US" dirty="0" err="1"/>
              <a:t>někdy</a:t>
            </a:r>
            <a:r>
              <a:rPr lang="en-US" dirty="0"/>
              <a:t> </a:t>
            </a:r>
            <a:r>
              <a:rPr lang="en-US" dirty="0" err="1"/>
              <a:t>sklouzne</a:t>
            </a:r>
            <a:r>
              <a:rPr lang="en-US" dirty="0"/>
              <a:t> k </a:t>
            </a:r>
            <a:r>
              <a:rPr lang="en-US" dirty="0" err="1"/>
              <a:t>přístupu</a:t>
            </a:r>
            <a:r>
              <a:rPr lang="en-US" dirty="0"/>
              <a:t> </a:t>
            </a:r>
            <a:r>
              <a:rPr lang="en-US" dirty="0" err="1"/>
              <a:t>typu</a:t>
            </a:r>
            <a:r>
              <a:rPr lang="en-US" dirty="0"/>
              <a:t>: </a:t>
            </a:r>
            <a:r>
              <a:rPr lang="en-US" dirty="0" err="1"/>
              <a:t>podívám</a:t>
            </a:r>
            <a:r>
              <a:rPr lang="en-US" dirty="0"/>
              <a:t> se, jak </a:t>
            </a:r>
            <a:r>
              <a:rPr lang="en-US" dirty="0" err="1"/>
              <a:t>tuto</a:t>
            </a:r>
            <a:r>
              <a:rPr lang="en-US" dirty="0"/>
              <a:t> </a:t>
            </a:r>
            <a:r>
              <a:rPr lang="en-US" dirty="0" err="1"/>
              <a:t>variantu</a:t>
            </a:r>
            <a:r>
              <a:rPr lang="en-US" dirty="0"/>
              <a:t> </a:t>
            </a:r>
            <a:r>
              <a:rPr lang="en-US" dirty="0" err="1"/>
              <a:t>hodnotili</a:t>
            </a:r>
            <a:r>
              <a:rPr lang="en-US" dirty="0"/>
              <a:t> </a:t>
            </a:r>
            <a:r>
              <a:rPr lang="en-US" dirty="0" err="1"/>
              <a:t>ostatní</a:t>
            </a:r>
            <a:r>
              <a:rPr lang="en-US" dirty="0"/>
              <a:t> v </a:t>
            </a:r>
            <a:r>
              <a:rPr lang="en-US" dirty="0" err="1"/>
              <a:t>ClinVaru</a:t>
            </a:r>
            <a:r>
              <a:rPr lang="en-US" dirty="0"/>
              <a:t>. </a:t>
            </a:r>
            <a:r>
              <a:rPr lang="en-US" dirty="0" err="1"/>
              <a:t>Tím</a:t>
            </a:r>
            <a:r>
              <a:rPr lang="en-US" dirty="0"/>
              <a:t> ale </a:t>
            </a:r>
            <a:r>
              <a:rPr lang="en-US" dirty="0" err="1"/>
              <a:t>může</a:t>
            </a:r>
            <a:r>
              <a:rPr lang="en-US" dirty="0"/>
              <a:t> </a:t>
            </a:r>
            <a:r>
              <a:rPr lang="en-US" dirty="0" err="1"/>
              <a:t>vznikat</a:t>
            </a:r>
            <a:r>
              <a:rPr lang="en-US" dirty="0"/>
              <a:t> </a:t>
            </a:r>
            <a:r>
              <a:rPr lang="en-US" dirty="0" err="1"/>
              <a:t>kruhové</a:t>
            </a:r>
            <a:r>
              <a:rPr lang="en-US" dirty="0"/>
              <a:t> </a:t>
            </a:r>
            <a:r>
              <a:rPr lang="en-US" dirty="0" err="1"/>
              <a:t>hodnocení</a:t>
            </a:r>
            <a:r>
              <a:rPr lang="en-US" dirty="0"/>
              <a:t>, </a:t>
            </a:r>
            <a:r>
              <a:rPr lang="en-US" dirty="0" err="1"/>
              <a:t>kdy</a:t>
            </a:r>
            <a:r>
              <a:rPr lang="en-US" dirty="0"/>
              <a:t> se </a:t>
            </a:r>
            <a:r>
              <a:rPr lang="en-US" dirty="0" err="1"/>
              <a:t>jednotlivé</a:t>
            </a:r>
            <a:r>
              <a:rPr lang="en-US" dirty="0"/>
              <a:t> </a:t>
            </a:r>
            <a:r>
              <a:rPr lang="en-US" dirty="0" err="1"/>
              <a:t>záznamy</a:t>
            </a:r>
            <a:r>
              <a:rPr lang="en-US" dirty="0"/>
              <a:t> </a:t>
            </a:r>
            <a:r>
              <a:rPr lang="en-US" dirty="0" err="1"/>
              <a:t>opírají</a:t>
            </a:r>
            <a:r>
              <a:rPr lang="en-US" dirty="0"/>
              <a:t> </a:t>
            </a:r>
            <a:r>
              <a:rPr lang="en-US" dirty="0" err="1"/>
              <a:t>jeden</a:t>
            </a:r>
            <a:r>
              <a:rPr lang="en-US" dirty="0"/>
              <a:t> o </a:t>
            </a:r>
            <a:r>
              <a:rPr lang="en-US" dirty="0" err="1"/>
              <a:t>druhý</a:t>
            </a:r>
            <a:r>
              <a:rPr lang="en-US" dirty="0"/>
              <a:t> </a:t>
            </a:r>
            <a:r>
              <a:rPr lang="en-US" dirty="0" err="1"/>
              <a:t>místo</a:t>
            </a:r>
            <a:r>
              <a:rPr lang="en-US" dirty="0"/>
              <a:t> o </a:t>
            </a:r>
            <a:r>
              <a:rPr lang="en-US" dirty="0" err="1"/>
              <a:t>nezávislé</a:t>
            </a:r>
            <a:r>
              <a:rPr lang="en-US" dirty="0"/>
              <a:t> </a:t>
            </a:r>
            <a:r>
              <a:rPr lang="en-US" dirty="0" err="1"/>
              <a:t>vyhodnocení</a:t>
            </a:r>
            <a:r>
              <a:rPr lang="en-US" dirty="0"/>
              <a:t> </a:t>
            </a:r>
            <a:r>
              <a:rPr lang="en-US" dirty="0" err="1"/>
              <a:t>důkazů</a:t>
            </a:r>
            <a:r>
              <a:rPr lang="en-US" dirty="0"/>
              <a:t>.</a:t>
            </a:r>
          </a:p>
          <a:p>
            <a:r>
              <a:rPr lang="en-US" dirty="0" err="1"/>
              <a:t>Lze</a:t>
            </a:r>
            <a:r>
              <a:rPr lang="en-US" dirty="0"/>
              <a:t> </a:t>
            </a:r>
            <a:r>
              <a:rPr lang="en-US" dirty="0" err="1"/>
              <a:t>zmínit</a:t>
            </a:r>
            <a:r>
              <a:rPr lang="en-US" dirty="0"/>
              <a:t> VUS, </a:t>
            </a:r>
            <a:r>
              <a:rPr lang="en-US" dirty="0" err="1"/>
              <a:t>tedy</a:t>
            </a:r>
            <a:r>
              <a:rPr lang="en-US" dirty="0"/>
              <a:t> </a:t>
            </a:r>
            <a:r>
              <a:rPr lang="en-US" dirty="0" err="1"/>
              <a:t>variantu</a:t>
            </a:r>
            <a:r>
              <a:rPr lang="en-US" dirty="0"/>
              <a:t> s </a:t>
            </a:r>
            <a:r>
              <a:rPr lang="en-US" dirty="0" err="1"/>
              <a:t>nedostatečnými</a:t>
            </a:r>
            <a:r>
              <a:rPr lang="en-US" dirty="0"/>
              <a:t> </a:t>
            </a:r>
            <a:r>
              <a:rPr lang="en-US" dirty="0" err="1"/>
              <a:t>nebo</a:t>
            </a:r>
            <a:r>
              <a:rPr lang="en-US" dirty="0"/>
              <a:t> </a:t>
            </a:r>
            <a:r>
              <a:rPr lang="en-US" dirty="0" err="1"/>
              <a:t>rozpornými</a:t>
            </a:r>
            <a:r>
              <a:rPr lang="en-US" dirty="0"/>
              <a:t> </a:t>
            </a:r>
            <a:r>
              <a:rPr lang="en-US" dirty="0" err="1"/>
              <a:t>důkazy</a:t>
            </a:r>
            <a:r>
              <a:rPr lang="en-US" dirty="0"/>
              <a:t>. </a:t>
            </a:r>
            <a:r>
              <a:rPr lang="en-US" dirty="0" err="1"/>
              <a:t>Není</a:t>
            </a:r>
            <a:r>
              <a:rPr lang="en-US" dirty="0"/>
              <a:t> </a:t>
            </a:r>
            <a:r>
              <a:rPr lang="en-US" dirty="0" err="1"/>
              <a:t>nutné</a:t>
            </a:r>
            <a:r>
              <a:rPr lang="en-US" dirty="0"/>
              <a:t> </a:t>
            </a:r>
            <a:r>
              <a:rPr lang="en-US" dirty="0" err="1"/>
              <a:t>zacházet</a:t>
            </a:r>
            <a:r>
              <a:rPr lang="en-US" dirty="0"/>
              <a:t> do </a:t>
            </a:r>
            <a:r>
              <a:rPr lang="en-US" dirty="0" err="1"/>
              <a:t>kombinatoriky</a:t>
            </a:r>
            <a:r>
              <a:rPr lang="en-US" dirty="0"/>
              <a:t> ACMG. VUS </a:t>
            </a:r>
            <a:r>
              <a:rPr lang="en-US" dirty="0" err="1"/>
              <a:t>jsou</a:t>
            </a:r>
            <a:r>
              <a:rPr lang="en-US" dirty="0"/>
              <a:t> v </a:t>
            </a:r>
            <a:r>
              <a:rPr lang="en-US" dirty="0" err="1"/>
              <a:t>současnosti</a:t>
            </a:r>
            <a:r>
              <a:rPr lang="en-US" dirty="0"/>
              <a:t> </a:t>
            </a:r>
            <a:r>
              <a:rPr lang="en-US" dirty="0" err="1"/>
              <a:t>velký</a:t>
            </a:r>
            <a:r>
              <a:rPr lang="en-US" dirty="0"/>
              <a:t> </a:t>
            </a:r>
            <a:r>
              <a:rPr lang="en-US" dirty="0" err="1"/>
              <a:t>problém</a:t>
            </a:r>
            <a:r>
              <a:rPr lang="en-US" dirty="0"/>
              <a:t>, </a:t>
            </a:r>
            <a:r>
              <a:rPr lang="en-US" dirty="0" err="1"/>
              <a:t>ať</a:t>
            </a:r>
            <a:r>
              <a:rPr lang="en-US" dirty="0"/>
              <a:t> </a:t>
            </a:r>
            <a:r>
              <a:rPr lang="en-US" dirty="0" err="1"/>
              <a:t>už</a:t>
            </a:r>
            <a:r>
              <a:rPr lang="en-US" dirty="0"/>
              <a:t> </a:t>
            </a:r>
            <a:r>
              <a:rPr lang="en-US" dirty="0" err="1"/>
              <a:t>kvůli</a:t>
            </a:r>
            <a:r>
              <a:rPr lang="en-US" dirty="0"/>
              <a:t> </a:t>
            </a:r>
            <a:r>
              <a:rPr lang="en-US" dirty="0" err="1"/>
              <a:t>nedostatku</a:t>
            </a:r>
            <a:r>
              <a:rPr lang="en-US" dirty="0"/>
              <a:t> </a:t>
            </a:r>
            <a:r>
              <a:rPr lang="en-US" dirty="0" err="1"/>
              <a:t>dat</a:t>
            </a:r>
            <a:r>
              <a:rPr lang="en-US" dirty="0"/>
              <a:t>, </a:t>
            </a:r>
            <a:r>
              <a:rPr lang="en-US" dirty="0" err="1"/>
              <a:t>nebo</a:t>
            </a:r>
            <a:r>
              <a:rPr lang="en-US" dirty="0"/>
              <a:t> </a:t>
            </a:r>
            <a:r>
              <a:rPr lang="en-US" dirty="0" err="1"/>
              <a:t>kvůli</a:t>
            </a:r>
            <a:r>
              <a:rPr lang="en-US" dirty="0"/>
              <a:t> </a:t>
            </a:r>
            <a:r>
              <a:rPr lang="en-US" dirty="0" err="1"/>
              <a:t>neúplnému</a:t>
            </a:r>
            <a:r>
              <a:rPr lang="en-US" dirty="0"/>
              <a:t> </a:t>
            </a:r>
            <a:r>
              <a:rPr lang="en-US" dirty="0" err="1"/>
              <a:t>či</a:t>
            </a:r>
            <a:r>
              <a:rPr lang="en-US" dirty="0"/>
              <a:t> </a:t>
            </a:r>
            <a:r>
              <a:rPr lang="en-US" dirty="0" err="1"/>
              <a:t>nepřesnému</a:t>
            </a:r>
            <a:r>
              <a:rPr lang="en-US" dirty="0"/>
              <a:t> </a:t>
            </a:r>
            <a:r>
              <a:rPr lang="en-US" dirty="0" err="1"/>
              <a:t>vyhodnocení</a:t>
            </a:r>
            <a:r>
              <a:rPr lang="en-US" dirty="0"/>
              <a:t> </a:t>
            </a:r>
            <a:r>
              <a:rPr lang="en-US" dirty="0" err="1"/>
              <a:t>dostupných</a:t>
            </a:r>
            <a:r>
              <a:rPr lang="en-US" dirty="0"/>
              <a:t> </a:t>
            </a:r>
            <a:r>
              <a:rPr lang="en-US" dirty="0" err="1"/>
              <a:t>důkazů</a:t>
            </a:r>
            <a:r>
              <a:rPr lang="en-US" dirty="0"/>
              <a:t>. ARIANE </a:t>
            </a:r>
            <a:r>
              <a:rPr lang="en-US" dirty="0" err="1"/>
              <a:t>může</a:t>
            </a:r>
            <a:r>
              <a:rPr lang="en-US" dirty="0"/>
              <a:t> </a:t>
            </a:r>
            <a:r>
              <a:rPr lang="en-US" dirty="0" err="1"/>
              <a:t>pomoci</a:t>
            </a:r>
            <a:r>
              <a:rPr lang="en-US" dirty="0"/>
              <a:t> v </a:t>
            </a:r>
            <a:r>
              <a:rPr lang="en-US" dirty="0" err="1"/>
              <a:t>obou</a:t>
            </a:r>
            <a:r>
              <a:rPr lang="en-US" dirty="0"/>
              <a:t> </a:t>
            </a:r>
            <a:r>
              <a:rPr lang="en-US" dirty="0" err="1"/>
              <a:t>případech</a:t>
            </a:r>
            <a:r>
              <a:rPr lang="en-US" dirty="0"/>
              <a:t> </a:t>
            </a:r>
            <a:r>
              <a:rPr lang="en-US" dirty="0" err="1"/>
              <a:t>tím</a:t>
            </a:r>
            <a:r>
              <a:rPr lang="en-US" dirty="0"/>
              <a:t>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zpřístupní</a:t>
            </a:r>
            <a:r>
              <a:rPr lang="en-US" dirty="0"/>
              <a:t> </a:t>
            </a:r>
            <a:r>
              <a:rPr lang="en-US" dirty="0" err="1"/>
              <a:t>konzistentnější</a:t>
            </a:r>
            <a:r>
              <a:rPr lang="en-US" dirty="0"/>
              <a:t> a </a:t>
            </a:r>
            <a:r>
              <a:rPr lang="en-US" dirty="0" err="1"/>
              <a:t>důkladnější</a:t>
            </a:r>
            <a:r>
              <a:rPr lang="en-US" dirty="0"/>
              <a:t> </a:t>
            </a:r>
            <a:r>
              <a:rPr lang="en-US" dirty="0" err="1"/>
              <a:t>vyhodnocení</a:t>
            </a:r>
            <a:r>
              <a:rPr lang="en-US" dirty="0"/>
              <a:t> a </a:t>
            </a:r>
            <a:r>
              <a:rPr lang="en-US" dirty="0" err="1"/>
              <a:t>potenciálně</a:t>
            </a:r>
            <a:r>
              <a:rPr lang="en-US" dirty="0"/>
              <a:t> </a:t>
            </a:r>
            <a:r>
              <a:rPr lang="en-US" dirty="0" err="1"/>
              <a:t>sníží</a:t>
            </a:r>
            <a:r>
              <a:rPr lang="en-US" dirty="0"/>
              <a:t> </a:t>
            </a:r>
            <a:r>
              <a:rPr lang="en-US" dirty="0" err="1"/>
              <a:t>počet</a:t>
            </a:r>
            <a:r>
              <a:rPr lang="en-US" dirty="0"/>
              <a:t> variant, </a:t>
            </a:r>
            <a:r>
              <a:rPr lang="en-US" dirty="0" err="1"/>
              <a:t>které</a:t>
            </a:r>
            <a:r>
              <a:rPr lang="en-US" dirty="0"/>
              <a:t> </a:t>
            </a:r>
            <a:r>
              <a:rPr lang="en-US" dirty="0" err="1"/>
              <a:t>zůstávají</a:t>
            </a:r>
            <a:r>
              <a:rPr lang="en-US" dirty="0"/>
              <a:t> </a:t>
            </a:r>
            <a:r>
              <a:rPr lang="en-US" dirty="0" err="1"/>
              <a:t>klasifikované</a:t>
            </a:r>
            <a:r>
              <a:rPr lang="en-US" dirty="0"/>
              <a:t> </a:t>
            </a:r>
            <a:r>
              <a:rPr lang="en-US" dirty="0" err="1"/>
              <a:t>jako</a:t>
            </a:r>
            <a:r>
              <a:rPr lang="en-US" dirty="0"/>
              <a:t> VUS.</a:t>
            </a:r>
          </a:p>
          <a:p>
            <a:endParaRPr lang="en-US" dirty="0"/>
          </a:p>
          <a:p>
            <a:r>
              <a:rPr lang="en-US" dirty="0"/>
              <a:t>ENIGMA je </a:t>
            </a:r>
            <a:r>
              <a:rPr lang="en-US" dirty="0" err="1"/>
              <a:t>mezinárodní</a:t>
            </a:r>
            <a:r>
              <a:rPr lang="en-US" dirty="0"/>
              <a:t> </a:t>
            </a:r>
            <a:r>
              <a:rPr lang="en-US" dirty="0" err="1"/>
              <a:t>expertní</a:t>
            </a:r>
            <a:r>
              <a:rPr lang="en-US" dirty="0"/>
              <a:t> panel, </a:t>
            </a:r>
            <a:r>
              <a:rPr lang="en-US" dirty="0" err="1"/>
              <a:t>který</a:t>
            </a:r>
            <a:r>
              <a:rPr lang="en-US" dirty="0"/>
              <a:t> </a:t>
            </a:r>
            <a:r>
              <a:rPr lang="en-US" dirty="0" err="1"/>
              <a:t>pravidla</a:t>
            </a:r>
            <a:r>
              <a:rPr lang="en-US" dirty="0"/>
              <a:t> </a:t>
            </a:r>
            <a:r>
              <a:rPr lang="en-US" dirty="0" err="1"/>
              <a:t>zpřesnil</a:t>
            </a:r>
            <a:r>
              <a:rPr lang="en-US" dirty="0"/>
              <a:t> pro BRCA1 a BRCA2.</a:t>
            </a:r>
          </a:p>
          <a:p>
            <a:endParaRPr lang="en-US" dirty="0"/>
          </a:p>
          <a:p>
            <a:r>
              <a:rPr lang="en-US" dirty="0" err="1"/>
              <a:t>Poslední</a:t>
            </a:r>
            <a:r>
              <a:rPr lang="en-US" dirty="0"/>
              <a:t> box je </a:t>
            </a:r>
            <a:r>
              <a:rPr lang="en-US" dirty="0" err="1"/>
              <a:t>přechod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další</a:t>
            </a:r>
            <a:r>
              <a:rPr lang="en-US" dirty="0"/>
              <a:t> slide: </a:t>
            </a:r>
            <a:r>
              <a:rPr lang="en-US" dirty="0" err="1"/>
              <a:t>část</a:t>
            </a:r>
            <a:r>
              <a:rPr lang="en-US" dirty="0"/>
              <a:t> evidence </a:t>
            </a:r>
            <a:r>
              <a:rPr lang="en-US" dirty="0" err="1"/>
              <a:t>lze</a:t>
            </a:r>
            <a:r>
              <a:rPr lang="en-US" dirty="0"/>
              <a:t> </a:t>
            </a:r>
            <a:r>
              <a:rPr lang="en-US" dirty="0" err="1"/>
              <a:t>zpracovat</a:t>
            </a:r>
            <a:r>
              <a:rPr lang="en-US" dirty="0"/>
              <a:t> </a:t>
            </a:r>
            <a:r>
              <a:rPr lang="en-US" dirty="0" err="1"/>
              <a:t>automaticky</a:t>
            </a:r>
            <a:r>
              <a:rPr lang="en-US" dirty="0"/>
              <a:t> a </a:t>
            </a:r>
            <a:r>
              <a:rPr lang="en-US" dirty="0" err="1"/>
              <a:t>část</a:t>
            </a:r>
            <a:r>
              <a:rPr lang="en-US" dirty="0"/>
              <a:t> </a:t>
            </a:r>
            <a:r>
              <a:rPr lang="en-US" dirty="0" err="1"/>
              <a:t>stále</a:t>
            </a:r>
            <a:r>
              <a:rPr lang="en-US" dirty="0"/>
              <a:t> </a:t>
            </a:r>
            <a:r>
              <a:rPr lang="en-US" dirty="0" err="1"/>
              <a:t>vyžaduje</a:t>
            </a:r>
            <a:r>
              <a:rPr lang="en-US" dirty="0"/>
              <a:t> </a:t>
            </a:r>
            <a:r>
              <a:rPr lang="en-US" dirty="0" err="1"/>
              <a:t>ruční</a:t>
            </a:r>
            <a:r>
              <a:rPr lang="en-US" dirty="0"/>
              <a:t> </a:t>
            </a:r>
            <a:r>
              <a:rPr lang="en-US" dirty="0" err="1"/>
              <a:t>odborné</a:t>
            </a:r>
            <a:r>
              <a:rPr lang="en-US" dirty="0"/>
              <a:t> </a:t>
            </a:r>
            <a:r>
              <a:rPr lang="en-US" dirty="0" err="1"/>
              <a:t>posouzení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Tady zdůraznit, že ARIANE už je funkční aplikace, ne návrh nebo pilot.
Formulace, že automatizuje části interpretace, je záměrně přesná. Aplikace automatizuje jen ta kritéria, která lze spolehlivě vyhodnotit z dostupných dat.
BRCA1 a BRCA2 jsou </a:t>
            </a:r>
            <a:r>
              <a:rPr lang="en-US" dirty="0" err="1"/>
              <a:t>první</a:t>
            </a:r>
            <a:r>
              <a:rPr lang="en-US" dirty="0"/>
              <a:t> </a:t>
            </a:r>
            <a:r>
              <a:rPr lang="en-US" dirty="0" err="1"/>
              <a:t>implementace</a:t>
            </a:r>
            <a:r>
              <a:rPr lang="en-US" dirty="0"/>
              <a:t>. Jsou vhodné pro začátek, protože mají detailně popsaná expertní pravidla a velké množství dostupných dat.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Hlavní sdělení: první část projektu už automatizuje pravidla založená na strukturovaných datech. Další fáze míří na evidenci, která se skrývá v publikacích.
AI </a:t>
            </a:r>
            <a:r>
              <a:rPr lang="en-US" dirty="0" err="1"/>
              <a:t>není</a:t>
            </a:r>
            <a:r>
              <a:rPr lang="en-US" dirty="0"/>
              <a:t> </a:t>
            </a:r>
            <a:r>
              <a:rPr lang="en-US" dirty="0" err="1"/>
              <a:t>není</a:t>
            </a:r>
            <a:r>
              <a:rPr lang="en-US" dirty="0"/>
              <a:t> to </a:t>
            </a:r>
            <a:r>
              <a:rPr lang="en-US" dirty="0" err="1"/>
              <a:t>hlavní</a:t>
            </a:r>
            <a:r>
              <a:rPr lang="en-US" dirty="0"/>
              <a:t> I </a:t>
            </a:r>
            <a:r>
              <a:rPr lang="en-US" dirty="0" err="1"/>
              <a:t>když</a:t>
            </a:r>
            <a:r>
              <a:rPr lang="en-US" dirty="0"/>
              <a:t> je to buzzword. Jazykové modely jsou prostředek pro vyhledání a strukturování evidence, nikoli náhrada </a:t>
            </a:r>
            <a:r>
              <a:rPr lang="en-US" dirty="0" err="1"/>
              <a:t>odborného</a:t>
            </a:r>
            <a:r>
              <a:rPr lang="en-US" dirty="0"/>
              <a:t> </a:t>
            </a:r>
            <a:r>
              <a:rPr lang="en-US" dirty="0" err="1"/>
              <a:t>rozhodnutí</a:t>
            </a:r>
            <a:r>
              <a:rPr lang="en-US" dirty="0"/>
              <a:t> – </a:t>
            </a:r>
            <a:r>
              <a:rPr lang="en-US" dirty="0" err="1"/>
              <a:t>tohle</a:t>
            </a:r>
            <a:r>
              <a:rPr lang="en-US" dirty="0"/>
              <a:t> je </a:t>
            </a:r>
            <a:r>
              <a:rPr lang="en-US" dirty="0" err="1"/>
              <a:t>hrozně</a:t>
            </a:r>
            <a:r>
              <a:rPr lang="en-US" dirty="0"/>
              <a:t> </a:t>
            </a:r>
            <a:r>
              <a:rPr lang="en-US" dirty="0" err="1"/>
              <a:t>důležité</a:t>
            </a:r>
            <a:r>
              <a:rPr lang="en-US" dirty="0"/>
              <a:t> I z </a:t>
            </a:r>
            <a:r>
              <a:rPr lang="en-US" dirty="0" err="1"/>
              <a:t>etických</a:t>
            </a:r>
            <a:r>
              <a:rPr lang="en-US" dirty="0"/>
              <a:t> </a:t>
            </a:r>
            <a:r>
              <a:rPr lang="en-US" dirty="0" err="1"/>
              <a:t>důvodů</a:t>
            </a:r>
            <a:r>
              <a:rPr lang="en-US" dirty="0"/>
              <a:t>.
Zdůraznit dohledatelnost: každý vytěžený údaj má zůstat propojený s původním zdrojem a má být předložen expertovi k posouzení.
BRCA1 a BRCA2 </a:t>
            </a:r>
            <a:r>
              <a:rPr lang="en-US" dirty="0" err="1"/>
              <a:t>jsou</a:t>
            </a:r>
            <a:r>
              <a:rPr lang="en-US"/>
              <a:t> vhodný</a:t>
            </a:r>
            <a:r>
              <a:rPr lang="en-US" dirty="0"/>
              <a:t> první případ, protože existuje dostatek ručně zkurátorované literatury, proti které lze systém vyvíjet a hodnotit.
Dlouhodobě má jít o obecný rámec, který lze rozšířit na další geny podle dostupnosti kvalitních genově specifických pravidel.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77635-F53D-254D-DF64-6E2B88D384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AB681D-CB6F-0EB7-DBD9-49B27D1A8B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887EF-2B17-1196-0543-CA934508D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605FC-4F2B-684E-B502-CF6CF64FC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048A62-2F04-A103-51F3-F01A55153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270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41E42-734E-5B6A-23F3-D98A36EDE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BCDF4-AF54-F4E3-EB9E-E367E7671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07185-B8A8-7B11-2F8B-3C6653A81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071C3-BE86-C8BD-180B-2C960C76F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3DC4F-36D4-D651-508C-609377974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788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2795C-8DC8-BC8B-3D02-120D0EF7E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1AB956-055D-113D-A07F-C0112A6EC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E240A4-E289-098C-0F29-AFF592563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9B794-0651-5489-41D7-70A706913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68022-FD59-1FB9-8CD5-E4C190036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26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E961-8F74-D8AE-6A6B-796E41E56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76044-9F29-F764-64E1-6DBE087916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F5E954-6D37-C586-071E-2F89F2E4EC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7EB409-72BE-2197-823A-D4DA62D93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56372A-031F-A125-A90F-A28FDBC51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C19DB1-8714-50E7-01CD-1473FAE21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2637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75044-1BF0-9871-3303-B046259DA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56856D-291B-EA53-ACF8-1DB6C957AF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54FB2A-594F-8060-66C2-E88DCB74C3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293A9E-9B5E-EAEA-4225-C56743B18A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15BAA0-4A93-3D71-0D3F-6D4DBB2E98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86BFF1-1891-F9C5-816F-2E3845AA8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7A3515-49DE-89F6-E61E-A0F3793B2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3ADC78-A842-F0C2-6371-6DD1C88B0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608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4C337-7A55-1112-4399-62CD5B7B5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AF0002-3850-B8A7-77B5-3233D7123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827681-5719-007E-8782-EEA9E2F3F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55115B-D425-7BE8-DD9B-028768475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087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E47C36-5AA9-CEF8-1665-79195D4E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C01FB0-5380-92C0-0C95-5E49317DC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B1854-4AD2-1E25-EFA0-425CE32AF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516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3128-1A3C-51AC-3A3D-34B94DDB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5FDFD-9D93-29C4-775E-4E914BFD0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145E4F-F22B-9C72-1A3F-4DFDF4E04B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5E7654-D0A8-8B83-8E22-2E2EBF4AB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BD2650-9342-D342-1E2D-D2A245990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C7C5DB-E57B-6E96-FC24-8D701A82F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00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814B1-3803-7C04-B2F0-71233CF6C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A07591-4661-D278-D026-EA17A7F6BF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521F19-020B-DE0E-F4E9-16975E9640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AC0240-1E56-CD5F-691C-C1056F5DD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648294-4BE7-3C55-4605-4B0C19A89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895A9A-0533-837F-06FB-2CEA04A31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75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33C55-4494-7EA5-ECBE-D095BCC4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12B577-CCEB-1C9F-302E-83266F8DBC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5AB17-B6E5-0326-738A-FCBB485C3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917E6E-39F1-4AAB-DAD1-B504B95EF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8E69B-98EE-0731-6AF8-1CA25517C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094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94C513-C677-EB7D-DDDA-AEAAACCBCF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32F261-12BE-F948-AE5A-9E56C6A72C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25183B-99DB-BACF-B449-2427BE0FB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83958-26A1-B985-3587-7FD4FB327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66661-87EE-3C6F-C56E-3C7BB2D24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596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25054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808830-2FA1-3B4D-617C-5AF4ED24E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D5589C-B85F-B6E6-4EFE-3F0EDFB818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D9C539-F747-494D-6823-139EB3A38C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C7C647-8E80-4E6F-93AF-5D50231B1C8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C0A02-984D-6BB3-2EB0-6FE25A61EB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03BF0-2A3E-B638-01B5-A8642DB58B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213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ARIANE - BRCA1_2 Variant Classification.mp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26C08-F18C-D73A-2D2F-092B5C4581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Georgia" panose="02040502050405020303" pitchFamily="18" charset="0"/>
              </a:rPr>
              <a:t>ARIANE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91CD63-9B5E-773B-3022-DA583D9738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Automated ACMG Rule-based Interpretation and Annotation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ENgine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BRCA1/2 variant classification following ENIGMA VCEP v1.2</a:t>
            </a:r>
          </a:p>
          <a:p>
            <a:endParaRPr lang="en-US" dirty="0"/>
          </a:p>
        </p:txBody>
      </p:sp>
      <p:pic>
        <p:nvPicPr>
          <p:cNvPr id="5" name="Image 0" descr="/mnt/data/ariane_deck_author_identity/images/uochb-iocb-prague-logo.png">
            <a:extLst>
              <a:ext uri="{FF2B5EF4-FFF2-40B4-BE49-F238E27FC236}">
                <a16:creationId xmlns:a16="http://schemas.microsoft.com/office/drawing/2014/main" id="{BA878323-8B3D-618D-0EB6-18F5FFD0C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9346" y="6196307"/>
            <a:ext cx="1376132" cy="493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81B598-259C-2921-E431-94730014A03D}"/>
              </a:ext>
            </a:extLst>
          </p:cNvPr>
          <p:cNvSpPr txBox="1"/>
          <p:nvPr/>
        </p:nvSpPr>
        <p:spPr>
          <a:xfrm>
            <a:off x="6094616" y="6196307"/>
            <a:ext cx="6097384" cy="49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MUDr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Zdeněk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Kleibl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Ph.D.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RNDr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Jana Soukupová, Ph.D.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Ústav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biochemie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experimentální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onkologie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1.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lékařská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fakulta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Univerzity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Karlovy</a:t>
            </a:r>
            <a:endParaRPr lang="en-US" sz="88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764C0C-976A-F033-70D5-C41E1134A64C}"/>
              </a:ext>
            </a:extLst>
          </p:cNvPr>
          <p:cNvSpPr txBox="1"/>
          <p:nvPr/>
        </p:nvSpPr>
        <p:spPr>
          <a:xfrm>
            <a:off x="4319067" y="6212363"/>
            <a:ext cx="156902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Kamila Clarová</a:t>
            </a:r>
            <a:endParaRPr lang="en-US" sz="900" dirty="0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91F2008F-CF2A-8569-FF18-95A8FF8CD1DA}"/>
              </a:ext>
            </a:extLst>
          </p:cNvPr>
          <p:cNvSpPr/>
          <p:nvPr/>
        </p:nvSpPr>
        <p:spPr>
          <a:xfrm>
            <a:off x="3643053" y="6498061"/>
            <a:ext cx="2140527" cy="1371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Skupina Jiřího Vondráška</a:t>
            </a:r>
            <a:endParaRPr lang="en-US" sz="800" dirty="0"/>
          </a:p>
        </p:txBody>
      </p:sp>
      <p:sp>
        <p:nvSpPr>
          <p:cNvPr id="18" name="Shape 2">
            <a:extLst>
              <a:ext uri="{FF2B5EF4-FFF2-40B4-BE49-F238E27FC236}">
                <a16:creationId xmlns:a16="http://schemas.microsoft.com/office/drawing/2014/main" id="{B59F568F-AE42-4476-2B20-36EE80B7C38F}"/>
              </a:ext>
            </a:extLst>
          </p:cNvPr>
          <p:cNvSpPr/>
          <p:nvPr/>
        </p:nvSpPr>
        <p:spPr>
          <a:xfrm>
            <a:off x="5966374" y="6259202"/>
            <a:ext cx="0" cy="347472"/>
          </a:xfrm>
          <a:prstGeom prst="line">
            <a:avLst/>
          </a:prstGeom>
          <a:noFill/>
          <a:ln w="1905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990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50" kern="0" spc="12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Snímek 1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750" dirty="0">
                <a:solidFill>
                  <a:srgbClr val="1A2A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Klasifikace genetických variant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566928" cy="0"/>
          </a:xfrm>
          <a:prstGeom prst="line">
            <a:avLst/>
          </a:prstGeom>
          <a:noFill/>
          <a:ln w="1905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ariane_deck_author_identity/images/uochb-iocb-pragu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2146" y="310896"/>
            <a:ext cx="1376132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95360" y="85039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Kamila Clarová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518072" y="1051560"/>
            <a:ext cx="2140527" cy="1371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Skupina Jiřího Vondráška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94360" y="1508760"/>
            <a:ext cx="5715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Genetické vyšetření nachází změny v DNA, označované jako genetické varianty. Většina z nich je neškodná, ale některé mohou ovlivnit funkci genu a zvýšit riziko onemocnění.</a:t>
            </a:r>
            <a:endParaRPr lang="en-US" sz="1220" dirty="0"/>
          </a:p>
        </p:txBody>
      </p:sp>
      <p:sp>
        <p:nvSpPr>
          <p:cNvPr id="9" name="Text 6"/>
          <p:cNvSpPr/>
          <p:nvPr/>
        </p:nvSpPr>
        <p:spPr>
          <a:xfrm>
            <a:off x="594360" y="2249424"/>
            <a:ext cx="5715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Při interpretaci varianty se hodnotí různé typy evidence pomocí předem definovaných klasifikačních kritérií. Každé kritérium představuje určitý typ důkazu a posouvá klasifikaci směrem k benigní nebo patogenní variantě.</a:t>
            </a:r>
            <a:endParaRPr lang="en-US" sz="1220" dirty="0"/>
          </a:p>
        </p:txBody>
      </p:sp>
      <p:sp>
        <p:nvSpPr>
          <p:cNvPr id="10" name="Text 7"/>
          <p:cNvSpPr/>
          <p:nvPr/>
        </p:nvSpPr>
        <p:spPr>
          <a:xfrm>
            <a:off x="594360" y="3154680"/>
            <a:ext cx="5715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Rámec ACMG/AMP poskytuje obecná pravidla pro interpretaci variant. Expertní panely tato pravidla dále zpřesňují pro jednotlivé geny nebo skupiny genů.</a:t>
            </a:r>
            <a:endParaRPr lang="en-US" sz="1220" dirty="0"/>
          </a:p>
        </p:txBody>
      </p:sp>
      <p:sp>
        <p:nvSpPr>
          <p:cNvPr id="11" name="Text 8"/>
          <p:cNvSpPr/>
          <p:nvPr/>
        </p:nvSpPr>
        <p:spPr>
          <a:xfrm>
            <a:off x="594360" y="3895344"/>
            <a:ext cx="5715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BRCA1 a BRCA2 byla pravidla zpřesněna mezinárodním expertním panelem ClinGen ENIGMA.</a:t>
            </a:r>
            <a:endParaRPr lang="en-US" sz="1220" dirty="0"/>
          </a:p>
        </p:txBody>
      </p:sp>
      <p:sp>
        <p:nvSpPr>
          <p:cNvPr id="12" name="Text 9"/>
          <p:cNvSpPr/>
          <p:nvPr/>
        </p:nvSpPr>
        <p:spPr>
          <a:xfrm>
            <a:off x="594360" y="4672584"/>
            <a:ext cx="5715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používaná pro klasifikaci</a:t>
            </a:r>
            <a:endParaRPr lang="en-US" sz="770" dirty="0"/>
          </a:p>
        </p:txBody>
      </p:sp>
      <p:sp>
        <p:nvSpPr>
          <p:cNvPr id="13" name="Shape 10"/>
          <p:cNvSpPr/>
          <p:nvPr/>
        </p:nvSpPr>
        <p:spPr>
          <a:xfrm>
            <a:off x="594360" y="4919472"/>
            <a:ext cx="571500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94360" y="518464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58952" y="505663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Populační frekvence</a:t>
            </a:r>
            <a:endParaRPr lang="en-US" sz="1170" dirty="0"/>
          </a:p>
        </p:txBody>
      </p:sp>
      <p:sp>
        <p:nvSpPr>
          <p:cNvPr id="16" name="Shape 13"/>
          <p:cNvSpPr/>
          <p:nvPr/>
        </p:nvSpPr>
        <p:spPr>
          <a:xfrm>
            <a:off x="594360" y="545896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58952" y="533095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Předpokládaný dopad na gen nebo protein</a:t>
            </a:r>
            <a:endParaRPr lang="en-US" sz="1170" dirty="0"/>
          </a:p>
        </p:txBody>
      </p:sp>
      <p:sp>
        <p:nvSpPr>
          <p:cNvPr id="18" name="Shape 15"/>
          <p:cNvSpPr/>
          <p:nvPr/>
        </p:nvSpPr>
        <p:spPr>
          <a:xfrm>
            <a:off x="594360" y="573328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58952" y="560527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RNA a splicingová data</a:t>
            </a:r>
            <a:endParaRPr lang="en-US" sz="1170" dirty="0"/>
          </a:p>
        </p:txBody>
      </p:sp>
      <p:sp>
        <p:nvSpPr>
          <p:cNvPr id="20" name="Shape 17"/>
          <p:cNvSpPr/>
          <p:nvPr/>
        </p:nvSpPr>
        <p:spPr>
          <a:xfrm>
            <a:off x="594360" y="600760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758952" y="587959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Funkční studie</a:t>
            </a:r>
            <a:endParaRPr lang="en-US" sz="1170" dirty="0"/>
          </a:p>
        </p:txBody>
      </p:sp>
      <p:sp>
        <p:nvSpPr>
          <p:cNvPr id="22" name="Shape 19"/>
          <p:cNvSpPr/>
          <p:nvPr/>
        </p:nvSpPr>
        <p:spPr>
          <a:xfrm>
            <a:off x="594360" y="628192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58952" y="615391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Klinická a rodinná data</a:t>
            </a:r>
            <a:endParaRPr lang="en-US" sz="1170" dirty="0"/>
          </a:p>
        </p:txBody>
      </p:sp>
      <p:sp>
        <p:nvSpPr>
          <p:cNvPr id="24" name="Text 21"/>
          <p:cNvSpPr/>
          <p:nvPr/>
        </p:nvSpPr>
        <p:spPr>
          <a:xfrm>
            <a:off x="6629400" y="1508760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Pět kategorií</a:t>
            </a:r>
            <a:endParaRPr lang="en-US" sz="770" dirty="0"/>
          </a:p>
        </p:txBody>
      </p:sp>
      <p:sp>
        <p:nvSpPr>
          <p:cNvPr id="25" name="Shape 22"/>
          <p:cNvSpPr/>
          <p:nvPr/>
        </p:nvSpPr>
        <p:spPr>
          <a:xfrm>
            <a:off x="6629400" y="1755648"/>
            <a:ext cx="49834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629400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Benigní</a:t>
            </a:r>
            <a:endParaRPr lang="en-US" sz="820" dirty="0"/>
          </a:p>
        </p:txBody>
      </p:sp>
      <p:sp>
        <p:nvSpPr>
          <p:cNvPr id="27" name="Shape 24"/>
          <p:cNvSpPr/>
          <p:nvPr/>
        </p:nvSpPr>
        <p:spPr>
          <a:xfrm>
            <a:off x="6638544" y="1938528"/>
            <a:ext cx="969264" cy="54864"/>
          </a:xfrm>
          <a:prstGeom prst="rect">
            <a:avLst/>
          </a:prstGeom>
          <a:solidFill>
            <a:srgbClr val="4E8C6E"/>
          </a:solidFill>
          <a:ln w="12700">
            <a:solidFill>
              <a:srgbClr val="4E8C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626096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Pravděpodobně benigní</a:t>
            </a:r>
            <a:endParaRPr lang="en-US" sz="820" dirty="0"/>
          </a:p>
        </p:txBody>
      </p:sp>
      <p:sp>
        <p:nvSpPr>
          <p:cNvPr id="29" name="Shape 26"/>
          <p:cNvSpPr/>
          <p:nvPr/>
        </p:nvSpPr>
        <p:spPr>
          <a:xfrm>
            <a:off x="7635240" y="1938528"/>
            <a:ext cx="969264" cy="54864"/>
          </a:xfrm>
          <a:prstGeom prst="rect">
            <a:avLst/>
          </a:prstGeom>
          <a:solidFill>
            <a:srgbClr val="8FB49E"/>
          </a:solidFill>
          <a:ln w="12700">
            <a:solidFill>
              <a:srgbClr val="8FB49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8622792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Varianta nejasného významu (VUS)</a:t>
            </a:r>
            <a:endParaRPr lang="en-US" sz="820" dirty="0"/>
          </a:p>
        </p:txBody>
      </p:sp>
      <p:sp>
        <p:nvSpPr>
          <p:cNvPr id="31" name="Shape 28"/>
          <p:cNvSpPr/>
          <p:nvPr/>
        </p:nvSpPr>
        <p:spPr>
          <a:xfrm>
            <a:off x="8631936" y="1938528"/>
            <a:ext cx="969264" cy="54864"/>
          </a:xfrm>
          <a:prstGeom prst="rect">
            <a:avLst/>
          </a:prstGeom>
          <a:solidFill>
            <a:srgbClr val="B9AE7C"/>
          </a:solidFill>
          <a:ln w="12700">
            <a:solidFill>
              <a:srgbClr val="B9AE7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9619488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Pravděpodobně patogenní</a:t>
            </a:r>
            <a:endParaRPr lang="en-US" sz="820" dirty="0"/>
          </a:p>
        </p:txBody>
      </p:sp>
      <p:sp>
        <p:nvSpPr>
          <p:cNvPr id="33" name="Shape 30"/>
          <p:cNvSpPr/>
          <p:nvPr/>
        </p:nvSpPr>
        <p:spPr>
          <a:xfrm>
            <a:off x="9628632" y="1938528"/>
            <a:ext cx="969264" cy="54864"/>
          </a:xfrm>
          <a:prstGeom prst="rect">
            <a:avLst/>
          </a:prstGeom>
          <a:solidFill>
            <a:srgbClr val="C79A8C"/>
          </a:solidFill>
          <a:ln w="12700">
            <a:solidFill>
              <a:srgbClr val="C79A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10616184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Patogenní</a:t>
            </a:r>
            <a:endParaRPr lang="en-US" sz="820" dirty="0"/>
          </a:p>
        </p:txBody>
      </p:sp>
      <p:sp>
        <p:nvSpPr>
          <p:cNvPr id="35" name="Shape 32"/>
          <p:cNvSpPr/>
          <p:nvPr/>
        </p:nvSpPr>
        <p:spPr>
          <a:xfrm>
            <a:off x="10625328" y="1938528"/>
            <a:ext cx="969264" cy="54864"/>
          </a:xfrm>
          <a:prstGeom prst="rect">
            <a:avLst/>
          </a:prstGeom>
          <a:solidFill>
            <a:srgbClr val="B0554A"/>
          </a:solidFill>
          <a:ln w="12700">
            <a:solidFill>
              <a:srgbClr val="B055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629400" y="2743200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r>
              <a:rPr lang="cs-CZ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 je klasifikace náročná</a:t>
            </a:r>
            <a:endParaRPr lang="en-US" sz="770" dirty="0"/>
          </a:p>
        </p:txBody>
      </p:sp>
      <p:sp>
        <p:nvSpPr>
          <p:cNvPr id="37" name="Shape 34"/>
          <p:cNvSpPr/>
          <p:nvPr/>
        </p:nvSpPr>
        <p:spPr>
          <a:xfrm>
            <a:off x="6629400" y="2990088"/>
            <a:ext cx="49834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6629400" y="3145536"/>
            <a:ext cx="4983480" cy="1014984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algn="ctr"/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Klasifikace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variant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může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být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časově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náročná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a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vyžaduje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značnou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odbornou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znalost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.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Relevantní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důkazy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jsou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rozptýlené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v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databázích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,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predikčních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nástrojích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a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odborných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publikacích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a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jednotlivá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kritéria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je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nutné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aplikovat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podle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komplexních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,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často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genově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specifických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pravidel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.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Některá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kritéria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lze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vyhodnotit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výpočetně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,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jiná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stále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vyžadují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manuální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odborné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posouzení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.</a:t>
            </a:r>
          </a:p>
        </p:txBody>
      </p:sp>
      <p:sp>
        <p:nvSpPr>
          <p:cNvPr id="39" name="Text 36"/>
          <p:cNvSpPr/>
          <p:nvPr/>
        </p:nvSpPr>
        <p:spPr>
          <a:xfrm>
            <a:off x="6629400" y="4526280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Základní princip</a:t>
            </a:r>
            <a:endParaRPr lang="en-US" sz="770" dirty="0"/>
          </a:p>
        </p:txBody>
      </p:sp>
      <p:sp>
        <p:nvSpPr>
          <p:cNvPr id="40" name="Shape 37"/>
          <p:cNvSpPr/>
          <p:nvPr/>
        </p:nvSpPr>
        <p:spPr>
          <a:xfrm>
            <a:off x="6629400" y="4773168"/>
            <a:ext cx="49834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6629400" y="4983480"/>
            <a:ext cx="1074420" cy="384048"/>
          </a:xfrm>
          <a:prstGeom prst="rect">
            <a:avLst/>
          </a:prstGeom>
          <a:solidFill>
            <a:srgbClr val="F5F8F8"/>
          </a:solidFill>
          <a:ln w="889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Varianta</a:t>
            </a:r>
            <a:endParaRPr lang="en-US" sz="960" dirty="0"/>
          </a:p>
        </p:txBody>
      </p:sp>
      <p:sp>
        <p:nvSpPr>
          <p:cNvPr id="42" name="Text 39"/>
          <p:cNvSpPr/>
          <p:nvPr/>
        </p:nvSpPr>
        <p:spPr>
          <a:xfrm>
            <a:off x="7740396" y="5084064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932420" y="4983480"/>
            <a:ext cx="1074420" cy="384048"/>
          </a:xfrm>
          <a:prstGeom prst="rect">
            <a:avLst/>
          </a:prstGeom>
          <a:solidFill>
            <a:srgbClr val="F5F8F8"/>
          </a:solidFill>
          <a:ln w="889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60" dirty="0"/>
          </a:p>
        </p:txBody>
      </p:sp>
      <p:sp>
        <p:nvSpPr>
          <p:cNvPr id="44" name="Text 41"/>
          <p:cNvSpPr/>
          <p:nvPr/>
        </p:nvSpPr>
        <p:spPr>
          <a:xfrm>
            <a:off x="9043416" y="5084064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235440" y="4983480"/>
            <a:ext cx="1074420" cy="384048"/>
          </a:xfrm>
          <a:prstGeom prst="rect">
            <a:avLst/>
          </a:prstGeom>
          <a:solidFill>
            <a:srgbClr val="F5F8F8"/>
          </a:solidFill>
          <a:ln w="889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Kritéria</a:t>
            </a:r>
            <a:endParaRPr lang="en-US" sz="960" dirty="0"/>
          </a:p>
        </p:txBody>
      </p:sp>
      <p:sp>
        <p:nvSpPr>
          <p:cNvPr id="46" name="Text 43"/>
          <p:cNvSpPr/>
          <p:nvPr/>
        </p:nvSpPr>
        <p:spPr>
          <a:xfrm>
            <a:off x="10346436" y="5084064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10538460" y="4983480"/>
            <a:ext cx="1074420" cy="384048"/>
          </a:xfrm>
          <a:prstGeom prst="rect">
            <a:avLst/>
          </a:prstGeom>
          <a:solidFill>
            <a:srgbClr val="15697A"/>
          </a:solidFill>
          <a:ln w="8890">
            <a:solidFill>
              <a:srgbClr val="15697A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Klasifikace</a:t>
            </a:r>
            <a:endParaRPr lang="en-US" sz="9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50" kern="0" spc="12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Snímek 2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750" dirty="0">
                <a:solidFill>
                  <a:srgbClr val="1A2A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ARIANE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566928" cy="0"/>
          </a:xfrm>
          <a:prstGeom prst="line">
            <a:avLst/>
          </a:prstGeom>
          <a:noFill/>
          <a:ln w="1905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ariane_deck_author_identity/images/uochb-iocb-pragu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2146" y="310896"/>
            <a:ext cx="1376132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95360" y="85039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Kamila Clarová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105156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Skupina Jiřího Vondráška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94360" y="14173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Webová</a:t>
            </a:r>
            <a:r>
              <a:rPr lang="en-US" sz="10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aplikace</a:t>
            </a:r>
            <a:r>
              <a:rPr lang="en-US" sz="10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ARIANE automatizuje části interpretace genetických variant podle zavedených klasifikačních kritérií.</a:t>
            </a:r>
            <a:endParaRPr lang="en-US" sz="1080" dirty="0"/>
          </a:p>
          <a:p>
            <a:pPr marL="0" indent="0" algn="l">
              <a:buNone/>
            </a:pPr>
            <a:endParaRPr lang="en-US" sz="1080" dirty="0"/>
          </a:p>
          <a:p>
            <a:pPr marL="0" indent="0" algn="l">
              <a:buNone/>
            </a:pPr>
            <a:r>
              <a:rPr lang="en-US" sz="10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Vývoj začal geny BRCA1 a BRCA2, protože patří mezi nejlépe popsané geny spojené s dědičnou nádorovou predispozicí a mají detailní expertní pravidla pro interpretaci variant.</a:t>
            </a:r>
            <a:endParaRPr lang="en-US" sz="1080" dirty="0"/>
          </a:p>
          <a:p>
            <a:pPr marL="0" indent="0" algn="l">
              <a:buNone/>
            </a:pPr>
            <a:endParaRPr lang="en-US" sz="1080" dirty="0"/>
          </a:p>
          <a:p>
            <a:pPr marL="0" indent="0" algn="l">
              <a:buNone/>
            </a:pPr>
            <a:r>
              <a:rPr lang="en-US" sz="10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Současná verze je funkční webová aplikace. Automaticky vyhodnocuje kritéria, která lze odvodit z dostupných anotací a referenčních dat. Kritéria vyžadující odborné posouzení zůstávají jasně označená.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94360" y="3429000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každou variantu ARIANE poskytuje</a:t>
            </a:r>
            <a:endParaRPr lang="en-US" sz="770" dirty="0"/>
          </a:p>
        </p:txBody>
      </p:sp>
      <p:sp>
        <p:nvSpPr>
          <p:cNvPr id="10" name="Shape 7"/>
          <p:cNvSpPr/>
          <p:nvPr/>
        </p:nvSpPr>
        <p:spPr>
          <a:xfrm>
            <a:off x="594360" y="3675888"/>
            <a:ext cx="402336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94360" y="3941064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58952" y="3813048"/>
            <a:ext cx="3858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Vyhodnocená a aplikovaná kritéria</a:t>
            </a:r>
            <a:endParaRPr lang="en-US" sz="960" dirty="0"/>
          </a:p>
        </p:txBody>
      </p:sp>
      <p:sp>
        <p:nvSpPr>
          <p:cNvPr id="13" name="Shape 10"/>
          <p:cNvSpPr/>
          <p:nvPr/>
        </p:nvSpPr>
        <p:spPr>
          <a:xfrm>
            <a:off x="594360" y="4215384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58952" y="4087368"/>
            <a:ext cx="3858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 podporující jednotlivá rozhodnutí</a:t>
            </a:r>
            <a:endParaRPr lang="en-US" sz="960" dirty="0"/>
          </a:p>
        </p:txBody>
      </p:sp>
      <p:sp>
        <p:nvSpPr>
          <p:cNvPr id="15" name="Shape 12"/>
          <p:cNvSpPr/>
          <p:nvPr/>
        </p:nvSpPr>
        <p:spPr>
          <a:xfrm>
            <a:off x="594360" y="4489704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58952" y="4361688"/>
            <a:ext cx="3858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Navrženou klasifikaci</a:t>
            </a:r>
            <a:endParaRPr lang="en-US" sz="960" dirty="0"/>
          </a:p>
        </p:txBody>
      </p:sp>
      <p:sp>
        <p:nvSpPr>
          <p:cNvPr id="17" name="Shape 14"/>
          <p:cNvSpPr/>
          <p:nvPr/>
        </p:nvSpPr>
        <p:spPr>
          <a:xfrm>
            <a:off x="594360" y="4764024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58952" y="4636008"/>
            <a:ext cx="3858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Varování a položky vyžadující manuální revizi</a:t>
            </a:r>
            <a:endParaRPr lang="en-US" sz="960" dirty="0"/>
          </a:p>
        </p:txBody>
      </p:sp>
      <p:sp>
        <p:nvSpPr>
          <p:cNvPr id="19" name="Shape 16"/>
          <p:cNvSpPr/>
          <p:nvPr/>
        </p:nvSpPr>
        <p:spPr>
          <a:xfrm>
            <a:off x="594360" y="5074920"/>
            <a:ext cx="402336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94360" y="5138928"/>
            <a:ext cx="40233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Současná implementace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594360" y="5294376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BRCA1 a BRCA2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594360" y="5422392"/>
            <a:ext cx="402336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594360" y="5486400"/>
            <a:ext cx="40233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Webová aplikace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594360" y="5641848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ariane-app.duckdns.org</a:t>
            </a:r>
            <a:endParaRPr lang="en-US" sz="880" dirty="0"/>
          </a:p>
        </p:txBody>
      </p:sp>
      <p:sp>
        <p:nvSpPr>
          <p:cNvPr id="25" name="Shape 22"/>
          <p:cNvSpPr/>
          <p:nvPr/>
        </p:nvSpPr>
        <p:spPr>
          <a:xfrm>
            <a:off x="594360" y="5769864"/>
            <a:ext cx="402336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94360" y="5833872"/>
            <a:ext cx="40233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Spolupráce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594360" y="5989320"/>
            <a:ext cx="4023360" cy="619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MUDr. Zdeněk Kleibl, Ph.D.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RNDr. Jana Soukupová, Ph.D.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Ústav biochemie a experimentální onkologie, 1. lékařská fakulta Univerzity Karlovy</a:t>
            </a:r>
            <a:endParaRPr lang="en-US" sz="880" dirty="0"/>
          </a:p>
        </p:txBody>
      </p:sp>
      <p:pic>
        <p:nvPicPr>
          <p:cNvPr id="29" name="Image 1" descr="/mnt/data/ariane_deck_author_identity/images/ariane-result.png"/>
          <p:cNvPicPr>
            <a:picLocks noChangeAspect="1"/>
          </p:cNvPicPr>
          <p:nvPr/>
        </p:nvPicPr>
        <p:blipFill>
          <a:blip r:embed="rId4"/>
          <a:srcRect r="1303" b="34000"/>
          <a:stretch/>
        </p:blipFill>
        <p:spPr>
          <a:xfrm>
            <a:off x="4800600" y="1417320"/>
            <a:ext cx="6812280" cy="443484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4800600" y="1417320"/>
            <a:ext cx="6812280" cy="4434840"/>
          </a:xfrm>
          <a:prstGeom prst="rect">
            <a:avLst/>
          </a:prstGeom>
          <a:solidFill>
            <a:srgbClr val="FFFFFF">
              <a:alpha val="0"/>
            </a:srgbClr>
          </a:solidFill>
          <a:ln w="8890">
            <a:solidFill>
              <a:srgbClr val="DCE4E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4800600" y="5971032"/>
            <a:ext cx="3406140" cy="493776"/>
          </a:xfrm>
          <a:prstGeom prst="rect">
            <a:avLst/>
          </a:prstGeom>
          <a:solidFill>
            <a:srgbClr val="FFFFFF"/>
          </a:solidFill>
          <a:ln w="7620">
            <a:solidFill>
              <a:srgbClr val="DCE4E6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Současná implementace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BRCA1 / BRCA2</a:t>
            </a:r>
            <a:endParaRPr lang="en-US" sz="940" dirty="0"/>
          </a:p>
        </p:txBody>
      </p:sp>
      <p:sp>
        <p:nvSpPr>
          <p:cNvPr id="32" name="Text 28"/>
          <p:cNvSpPr/>
          <p:nvPr/>
        </p:nvSpPr>
        <p:spPr>
          <a:xfrm>
            <a:off x="8206740" y="5971032"/>
            <a:ext cx="3406140" cy="493776"/>
          </a:xfrm>
          <a:prstGeom prst="rect">
            <a:avLst/>
          </a:prstGeom>
          <a:solidFill>
            <a:srgbClr val="FFFFFF"/>
          </a:solidFill>
          <a:ln w="7620">
            <a:solidFill>
              <a:srgbClr val="DCE4E6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Navrženo pro rozšíření na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další geny a genově specifická pravidla</a:t>
            </a:r>
            <a:endParaRPr lang="en-US" sz="9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50" kern="0" spc="12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Snímek 3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750" dirty="0">
                <a:solidFill>
                  <a:srgbClr val="1A2A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Další fáze: evidence z vědecké literatury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566928" cy="0"/>
          </a:xfrm>
          <a:prstGeom prst="line">
            <a:avLst/>
          </a:prstGeom>
          <a:noFill/>
          <a:ln w="1905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ariane_deck_author_identity/images/uochb-iocb-pragu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2146" y="310896"/>
            <a:ext cx="1376132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95360" y="85039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Kamila Clarová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105156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Skupina Jiřího Vondráška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94360" y="15087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všechna evidence potřebná pro interpretaci variant je dostupná ve strukturovaných databázích.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Funkční studie, RNA experimenty a další relevantní výsledky jsou často popsány pouze v jednotlivých publikacích, tabulkách nebo suplementárních datech a dnes vyžadují manuální kuraci literatury.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Jazykové modely budou použity jako nástroj pro podporu vyhledávání literatury a extrakce strukturované evidence. Vytěžená evidence zůstane propojená s původní publikací a bude předkládána k odborné revizi.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94360" y="370332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První rozsah</a:t>
            </a:r>
            <a:endParaRPr lang="en-US" sz="770" dirty="0"/>
          </a:p>
        </p:txBody>
      </p:sp>
      <p:sp>
        <p:nvSpPr>
          <p:cNvPr id="10" name="Shape 7"/>
          <p:cNvSpPr/>
          <p:nvPr/>
        </p:nvSpPr>
        <p:spPr>
          <a:xfrm>
            <a:off x="594360" y="3950208"/>
            <a:ext cx="512064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94360" y="4105656"/>
            <a:ext cx="512064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94360" y="4169664"/>
            <a:ext cx="51206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Geny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594360" y="43251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BRCA1 a BRCA2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594360" y="4599432"/>
            <a:ext cx="512064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4360" y="4663440"/>
            <a:ext cx="51206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594360" y="481888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Funkční a RNA / splicingové studie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594360" y="5093208"/>
            <a:ext cx="512064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94360" y="5157216"/>
            <a:ext cx="51206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Proč nejdřív BRCA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594360" y="5312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Existuje velké množství zkurátorované literatury vhodné pro vývoj a hodnocení systému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594360" y="5586984"/>
            <a:ext cx="512064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172200" y="1508760"/>
            <a:ext cx="5440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Plánovaný workflow</a:t>
            </a:r>
            <a:endParaRPr lang="en-US" sz="770" dirty="0"/>
          </a:p>
        </p:txBody>
      </p:sp>
      <p:sp>
        <p:nvSpPr>
          <p:cNvPr id="22" name="Shape 19"/>
          <p:cNvSpPr/>
          <p:nvPr/>
        </p:nvSpPr>
        <p:spPr>
          <a:xfrm>
            <a:off x="6172200" y="1755648"/>
            <a:ext cx="54406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172200" y="1901952"/>
            <a:ext cx="544068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15697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Vědecká literatura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172200" y="2505456"/>
            <a:ext cx="5440680" cy="438912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Vyhledání relevantních studií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72200" y="3108960"/>
            <a:ext cx="5440680" cy="438912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Identifikace variant, experimentů a výsledků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172200" y="3712464"/>
            <a:ext cx="5440680" cy="438912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Extrakce strukturované evidence propojené se zdrojem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172200" y="4315968"/>
            <a:ext cx="5440680" cy="438912"/>
          </a:xfrm>
          <a:prstGeom prst="rect">
            <a:avLst/>
          </a:prstGeom>
          <a:solidFill>
            <a:srgbClr val="15697A"/>
          </a:solidFill>
          <a:ln w="9525">
            <a:solidFill>
              <a:srgbClr val="15697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Expertní revize a využití v ARIANE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72200" y="4983480"/>
            <a:ext cx="5440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Dlouhodobý směr</a:t>
            </a:r>
            <a:endParaRPr lang="en-US" sz="770" dirty="0"/>
          </a:p>
        </p:txBody>
      </p:sp>
      <p:sp>
        <p:nvSpPr>
          <p:cNvPr id="29" name="Shape 26"/>
          <p:cNvSpPr/>
          <p:nvPr/>
        </p:nvSpPr>
        <p:spPr>
          <a:xfrm>
            <a:off x="6172200" y="5230368"/>
            <a:ext cx="54406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172200" y="5385816"/>
            <a:ext cx="5440680" cy="694944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Stejný rámec lze rozšířit na další geny a genově specifická pravidla interpretace variant.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55448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850" b="0">
                <a:solidFill>
                  <a:srgbClr val="8A9BA1"/>
                </a:solidFill>
                <a:latin typeface="IBM Plex Mono"/>
              </a:rPr>
              <a:t>Snímek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498079" cy="8686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700" b="0">
                <a:solidFill>
                  <a:srgbClr val="1A2A31"/>
                </a:solidFill>
                <a:latin typeface="Newsreader"/>
              </a:rPr>
              <a:t>Směrem k systematičtější interpretaci variant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566928" cy="22860"/>
          </a:xfrm>
          <a:prstGeom prst="rect">
            <a:avLst/>
          </a:prstGeom>
          <a:solidFill>
            <a:srgbClr val="156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274320"/>
            <a:ext cx="1417320" cy="5085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832104"/>
            <a:ext cx="338328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950" b="1">
                <a:solidFill>
                  <a:srgbClr val="1A2A31"/>
                </a:solidFill>
                <a:latin typeface="IBM Plex Sans"/>
              </a:rPr>
              <a:t>Kamila Clarová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033271"/>
            <a:ext cx="338328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900" b="0">
                <a:solidFill>
                  <a:srgbClr val="5B6E76"/>
                </a:solidFill>
                <a:latin typeface="IBM Plex Sans"/>
              </a:rPr>
              <a:t>Skupina Jiřího Vondráška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3291840" cy="4133087"/>
          </a:xfrm>
          <a:prstGeom prst="roundRect">
            <a:avLst/>
          </a:prstGeom>
          <a:solidFill>
            <a:srgbClr val="F5F8F8"/>
          </a:solidFill>
          <a:ln>
            <a:solidFill>
              <a:srgbClr val="DC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64592" wrap="square">
            <a:norm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8A9BA1"/>
                </a:solidFill>
                <a:latin typeface="IBM Plex Sans"/>
              </a:rPr>
              <a:t>SOUČASNÝ PROBLÉM</a:t>
            </a:r>
          </a:p>
          <a:p>
            <a:pPr>
              <a:lnSpc>
                <a:spcPct val="108000"/>
              </a:lnSpc>
            </a:pPr>
            <a:r>
              <a:rPr sz="1230">
                <a:solidFill>
                  <a:srgbClr val="1A2A31"/>
                </a:solidFill>
                <a:latin typeface="IBM Plex Sans"/>
              </a:rPr>
              <a:t>Klasifikace variant je složitá, časově náročná a vyžaduje značnou odbornou znalost. Dostupné důkazy a genově specifická pravidla proto nejsou v rutinní praxi vždy vyhodnocovány konzistentně.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719072"/>
            <a:ext cx="3840480" cy="4133087"/>
          </a:xfrm>
          <a:prstGeom prst="roundRect">
            <a:avLst/>
          </a:prstGeom>
          <a:solidFill>
            <a:srgbClr val="F5F8F8"/>
          </a:solidFill>
          <a:ln>
            <a:solidFill>
              <a:srgbClr val="DC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64592" wrap="square">
            <a:norm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8A9BA1"/>
                </a:solidFill>
                <a:latin typeface="IBM Plex Sans"/>
              </a:rPr>
              <a:t>ARIANE V LABORATORNÍ PRAXI</a:t>
            </a:r>
          </a:p>
          <a:p>
            <a:pPr>
              <a:lnSpc>
                <a:spcPct val="108000"/>
              </a:lnSpc>
            </a:pPr>
            <a:r>
              <a:rPr sz="1080">
                <a:solidFill>
                  <a:srgbClr val="1A2A31"/>
                </a:solidFill>
                <a:latin typeface="IBM Plex Sans"/>
              </a:rPr>
              <a:t>ARIANE je navržena jako praktický nástroj pro laboratoře provádějící klasifikaci genetických variant. Při hodnocení konkrétní varianty automaticky vyhodnocuje použitelná kritéria, dokumentuje podkladovou evidenci a provádí uživatele klasifikačním procesem. Vývoj probíhá ve spolupráci s členy ENIGMA Janou Soukupovou a Zdeňkem Kleiblem, a je tak úzce propojen s expertní komunitou zabývající se interpretací variant BRCA1/2.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02752" y="1719072"/>
            <a:ext cx="3337560" cy="4133087"/>
          </a:xfrm>
          <a:prstGeom prst="roundRect">
            <a:avLst/>
          </a:prstGeom>
          <a:solidFill>
            <a:srgbClr val="F5F8F8"/>
          </a:solidFill>
          <a:ln>
            <a:solidFill>
              <a:srgbClr val="DC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64592" wrap="square">
            <a:norm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8A9BA1"/>
                </a:solidFill>
                <a:latin typeface="IBM Plex Sans"/>
              </a:rPr>
              <a:t>DALŠÍ KROK VE VÝVOJI</a:t>
            </a:r>
          </a:p>
          <a:p>
            <a:pPr>
              <a:lnSpc>
                <a:spcPct val="108000"/>
              </a:lnSpc>
            </a:pPr>
            <a:r>
              <a:rPr sz="1230">
                <a:solidFill>
                  <a:srgbClr val="1A2A31"/>
                </a:solidFill>
                <a:latin typeface="IBM Plex Sans"/>
              </a:rPr>
              <a:t>Rozšířit tento rámec na důkazy obsažené ve vědecké literatuře, přičemž expertní revize zůstává nedílnou součástí interpretačního procesu.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236208"/>
            <a:ext cx="6400800" cy="256032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r>
              <a:rPr sz="1050" u="sng">
                <a:solidFill>
                  <a:srgbClr val="15697A"/>
                </a:solidFill>
                <a:latin typeface="IBM Plex Sans"/>
                <a:hlinkClick r:id="rId3"/>
              </a:rPr>
              <a:t>Video ukázka: ARIANE - klasifikace variant BRCA1/2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1008</Words>
  <Application>Microsoft Office PowerPoint</Application>
  <PresentationFormat>Widescreen</PresentationFormat>
  <Paragraphs>103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Courier New</vt:lpstr>
      <vt:lpstr>Georgia</vt:lpstr>
      <vt:lpstr>Office Theme</vt:lpstr>
      <vt:lpstr>ARIANE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kamila clarova</dc:creator>
  <cp:lastModifiedBy>kamila clarova</cp:lastModifiedBy>
  <cp:revision>8</cp:revision>
  <dcterms:created xsi:type="dcterms:W3CDTF">2026-08-31T10:16:31Z</dcterms:created>
  <dcterms:modified xsi:type="dcterms:W3CDTF">2026-08-31T16:09:55Z</dcterms:modified>
</cp:coreProperties>
</file>