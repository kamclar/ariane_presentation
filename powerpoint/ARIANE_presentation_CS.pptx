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9" autoAdjust="0"/>
    <p:restoredTop sz="74008" autoAdjust="0"/>
  </p:normalViewPr>
  <p:slideViewPr>
    <p:cSldViewPr snapToGrid="0">
      <p:cViewPr varScale="1">
        <p:scale>
          <a:sx n="105" d="100"/>
          <a:sy n="105" d="100"/>
        </p:scale>
        <p:origin x="5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51253-935D-46F9-9C3E-E33D74DC1BD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AF38C-FF42-4CB1-B9EA-0EB5B95EB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66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Základní</a:t>
            </a:r>
            <a:r>
              <a:rPr lang="en-US" dirty="0"/>
              <a:t> </a:t>
            </a:r>
            <a:r>
              <a:rPr lang="en-US" dirty="0" err="1"/>
              <a:t>problém</a:t>
            </a:r>
            <a:r>
              <a:rPr lang="en-US" dirty="0"/>
              <a:t>: </a:t>
            </a:r>
            <a:r>
              <a:rPr lang="en-US" dirty="0" err="1"/>
              <a:t>genetický</a:t>
            </a:r>
            <a:r>
              <a:rPr lang="en-US" dirty="0"/>
              <a:t> test </a:t>
            </a:r>
            <a:r>
              <a:rPr lang="en-US" dirty="0" err="1"/>
              <a:t>najde</a:t>
            </a:r>
            <a:r>
              <a:rPr lang="en-US" dirty="0"/>
              <a:t> </a:t>
            </a:r>
            <a:r>
              <a:rPr lang="en-US" dirty="0" err="1"/>
              <a:t>variantu</a:t>
            </a:r>
            <a:r>
              <a:rPr lang="en-US" dirty="0"/>
              <a:t>, ale </a:t>
            </a:r>
            <a:r>
              <a:rPr lang="en-US" dirty="0" err="1"/>
              <a:t>samotný</a:t>
            </a:r>
            <a:r>
              <a:rPr lang="en-US" dirty="0"/>
              <a:t> </a:t>
            </a:r>
            <a:r>
              <a:rPr lang="en-US" dirty="0" err="1"/>
              <a:t>nález</a:t>
            </a:r>
            <a:r>
              <a:rPr lang="en-US" dirty="0"/>
              <a:t> </a:t>
            </a:r>
            <a:r>
              <a:rPr lang="en-US" dirty="0" err="1"/>
              <a:t>ještě</a:t>
            </a:r>
            <a:r>
              <a:rPr lang="en-US" dirty="0"/>
              <a:t> </a:t>
            </a:r>
            <a:r>
              <a:rPr lang="en-US" dirty="0" err="1"/>
              <a:t>neříká</a:t>
            </a:r>
            <a:r>
              <a:rPr lang="en-US" dirty="0"/>
              <a:t>, </a:t>
            </a:r>
            <a:r>
              <a:rPr lang="en-US" dirty="0" err="1"/>
              <a:t>zda</a:t>
            </a:r>
            <a:r>
              <a:rPr lang="en-US" dirty="0"/>
              <a:t> je </a:t>
            </a:r>
            <a:r>
              <a:rPr lang="en-US" dirty="0" err="1"/>
              <a:t>klinicky</a:t>
            </a:r>
            <a:r>
              <a:rPr lang="en-US" dirty="0"/>
              <a:t> </a:t>
            </a:r>
            <a:r>
              <a:rPr lang="en-US" dirty="0" err="1"/>
              <a:t>významná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Co je </a:t>
            </a:r>
            <a:r>
              <a:rPr lang="en-US" dirty="0" err="1"/>
              <a:t>kritérium</a:t>
            </a:r>
            <a:r>
              <a:rPr lang="en-US" dirty="0"/>
              <a:t>: </a:t>
            </a:r>
            <a:r>
              <a:rPr lang="en-US" dirty="0" err="1"/>
              <a:t>předem</a:t>
            </a:r>
            <a:r>
              <a:rPr lang="en-US" dirty="0"/>
              <a:t> </a:t>
            </a:r>
            <a:r>
              <a:rPr lang="en-US" dirty="0" err="1"/>
              <a:t>definovaný</a:t>
            </a:r>
            <a:r>
              <a:rPr lang="en-US" dirty="0"/>
              <a:t> </a:t>
            </a:r>
            <a:r>
              <a:rPr lang="en-US" dirty="0" err="1"/>
              <a:t>typ</a:t>
            </a:r>
            <a:r>
              <a:rPr lang="en-US" dirty="0"/>
              <a:t> </a:t>
            </a:r>
            <a:r>
              <a:rPr lang="en-US" dirty="0" err="1"/>
              <a:t>důkazu</a:t>
            </a:r>
            <a:r>
              <a:rPr lang="en-US" dirty="0"/>
              <a:t>, </a:t>
            </a:r>
            <a:r>
              <a:rPr lang="en-US" dirty="0" err="1"/>
              <a:t>který</a:t>
            </a:r>
            <a:r>
              <a:rPr lang="en-US" dirty="0"/>
              <a:t> </a:t>
            </a:r>
            <a:r>
              <a:rPr lang="en-US" dirty="0" err="1"/>
              <a:t>posouvá</a:t>
            </a:r>
            <a:r>
              <a:rPr lang="en-US" dirty="0"/>
              <a:t> </a:t>
            </a:r>
            <a:r>
              <a:rPr lang="en-US" dirty="0" err="1"/>
              <a:t>klasifikaci</a:t>
            </a:r>
            <a:r>
              <a:rPr lang="en-US" dirty="0"/>
              <a:t> </a:t>
            </a:r>
            <a:r>
              <a:rPr lang="en-US" dirty="0" err="1"/>
              <a:t>směrem</a:t>
            </a:r>
            <a:r>
              <a:rPr lang="en-US" dirty="0"/>
              <a:t> k </a:t>
            </a:r>
            <a:r>
              <a:rPr lang="en-US" dirty="0" err="1"/>
              <a:t>benigní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patogenní</a:t>
            </a:r>
            <a:r>
              <a:rPr lang="en-US" dirty="0"/>
              <a:t> </a:t>
            </a:r>
            <a:r>
              <a:rPr lang="en-US" dirty="0" err="1"/>
              <a:t>variantě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Problém</a:t>
            </a:r>
            <a:r>
              <a:rPr lang="en-US" dirty="0"/>
              <a:t> je,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samotná</a:t>
            </a:r>
            <a:r>
              <a:rPr lang="en-US" dirty="0"/>
              <a:t> </a:t>
            </a:r>
            <a:r>
              <a:rPr lang="en-US" dirty="0" err="1"/>
              <a:t>kritéria</a:t>
            </a:r>
            <a:r>
              <a:rPr lang="en-US" dirty="0"/>
              <a:t> </a:t>
            </a:r>
            <a:r>
              <a:rPr lang="en-US" dirty="0" err="1"/>
              <a:t>mohou</a:t>
            </a:r>
            <a:r>
              <a:rPr lang="en-US" dirty="0"/>
              <a:t> </a:t>
            </a:r>
            <a:r>
              <a:rPr lang="en-US" dirty="0" err="1"/>
              <a:t>být</a:t>
            </a:r>
            <a:r>
              <a:rPr lang="en-US" dirty="0"/>
              <a:t> </a:t>
            </a:r>
            <a:r>
              <a:rPr lang="en-US" dirty="0" err="1"/>
              <a:t>velmi</a:t>
            </a:r>
            <a:r>
              <a:rPr lang="en-US" dirty="0"/>
              <a:t> </a:t>
            </a:r>
            <a:r>
              <a:rPr lang="en-US" dirty="0" err="1"/>
              <a:t>složitá</a:t>
            </a:r>
            <a:r>
              <a:rPr lang="en-US" dirty="0"/>
              <a:t>. Je </a:t>
            </a:r>
            <a:r>
              <a:rPr lang="en-US" dirty="0" err="1"/>
              <a:t>potřeba</a:t>
            </a:r>
            <a:r>
              <a:rPr lang="en-US" dirty="0"/>
              <a:t> </a:t>
            </a:r>
            <a:r>
              <a:rPr lang="en-US" dirty="0" err="1"/>
              <a:t>pracovat</a:t>
            </a:r>
            <a:r>
              <a:rPr lang="en-US" dirty="0"/>
              <a:t> s </a:t>
            </a:r>
            <a:r>
              <a:rPr lang="en-US" dirty="0" err="1"/>
              <a:t>tabulkami</a:t>
            </a:r>
            <a:r>
              <a:rPr lang="en-US" dirty="0"/>
              <a:t> </a:t>
            </a:r>
            <a:r>
              <a:rPr lang="en-US" dirty="0" err="1"/>
              <a:t>důkazů</a:t>
            </a:r>
            <a:r>
              <a:rPr lang="en-US" dirty="0"/>
              <a:t>, </a:t>
            </a:r>
            <a:r>
              <a:rPr lang="en-US" dirty="0" err="1"/>
              <a:t>různými</a:t>
            </a:r>
            <a:r>
              <a:rPr lang="en-US" dirty="0"/>
              <a:t> </a:t>
            </a:r>
            <a:r>
              <a:rPr lang="en-US" dirty="0" err="1"/>
              <a:t>typy</a:t>
            </a:r>
            <a:r>
              <a:rPr lang="en-US" dirty="0"/>
              <a:t> </a:t>
            </a:r>
            <a:r>
              <a:rPr lang="en-US" dirty="0" err="1"/>
              <a:t>skóre</a:t>
            </a:r>
            <a:r>
              <a:rPr lang="en-US" dirty="0"/>
              <a:t> a </a:t>
            </a:r>
            <a:r>
              <a:rPr lang="en-US" dirty="0" err="1"/>
              <a:t>nakonec</a:t>
            </a:r>
            <a:r>
              <a:rPr lang="en-US" dirty="0"/>
              <a:t> </a:t>
            </a:r>
            <a:r>
              <a:rPr lang="en-US" dirty="0" err="1"/>
              <a:t>všechno</a:t>
            </a:r>
            <a:r>
              <a:rPr lang="en-US" dirty="0"/>
              <a:t> </a:t>
            </a:r>
            <a:r>
              <a:rPr lang="en-US" dirty="0" err="1"/>
              <a:t>správně</a:t>
            </a:r>
            <a:r>
              <a:rPr lang="en-US" dirty="0"/>
              <a:t> </a:t>
            </a:r>
            <a:r>
              <a:rPr lang="en-US" dirty="0" err="1"/>
              <a:t>spojit</a:t>
            </a:r>
            <a:r>
              <a:rPr lang="en-US" dirty="0"/>
              <a:t> </a:t>
            </a:r>
            <a:r>
              <a:rPr lang="en-US" dirty="0" err="1"/>
              <a:t>pomocí</a:t>
            </a:r>
            <a:r>
              <a:rPr lang="en-US" dirty="0"/>
              <a:t> </a:t>
            </a:r>
            <a:r>
              <a:rPr lang="en-US" dirty="0" err="1"/>
              <a:t>rozhodovacích</a:t>
            </a:r>
            <a:r>
              <a:rPr lang="en-US" dirty="0"/>
              <a:t> </a:t>
            </a:r>
            <a:r>
              <a:rPr lang="en-US" dirty="0" err="1"/>
              <a:t>pravidel</a:t>
            </a:r>
            <a:r>
              <a:rPr lang="en-US" dirty="0"/>
              <a:t>. Ne </a:t>
            </a:r>
            <a:r>
              <a:rPr lang="en-US" dirty="0" err="1"/>
              <a:t>všechny</a:t>
            </a:r>
            <a:r>
              <a:rPr lang="en-US" dirty="0"/>
              <a:t> </a:t>
            </a:r>
            <a:r>
              <a:rPr lang="en-US" dirty="0" err="1"/>
              <a:t>laboratoře</a:t>
            </a:r>
            <a:r>
              <a:rPr lang="en-US" dirty="0"/>
              <a:t> </a:t>
            </a:r>
            <a:r>
              <a:rPr lang="en-US" dirty="0" err="1"/>
              <a:t>mají</a:t>
            </a:r>
            <a:r>
              <a:rPr lang="en-US" dirty="0"/>
              <a:t> </a:t>
            </a:r>
            <a:r>
              <a:rPr lang="en-US" dirty="0" err="1"/>
              <a:t>dostatek</a:t>
            </a:r>
            <a:r>
              <a:rPr lang="en-US" dirty="0"/>
              <a:t> </a:t>
            </a:r>
            <a:r>
              <a:rPr lang="en-US" dirty="0" err="1"/>
              <a:t>času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potřebnou</a:t>
            </a:r>
            <a:r>
              <a:rPr lang="en-US" dirty="0"/>
              <a:t> </a:t>
            </a:r>
            <a:r>
              <a:rPr lang="en-US" dirty="0" err="1"/>
              <a:t>odbornost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to, aby </a:t>
            </a:r>
            <a:r>
              <a:rPr lang="en-US" dirty="0" err="1"/>
              <a:t>klasifikaci</a:t>
            </a:r>
            <a:r>
              <a:rPr lang="en-US" dirty="0"/>
              <a:t> </a:t>
            </a:r>
            <a:r>
              <a:rPr lang="en-US" dirty="0" err="1"/>
              <a:t>prováděly</a:t>
            </a:r>
            <a:r>
              <a:rPr lang="en-US" dirty="0"/>
              <a:t> v </a:t>
            </a:r>
            <a:r>
              <a:rPr lang="en-US" dirty="0" err="1"/>
              <a:t>takové</a:t>
            </a:r>
            <a:r>
              <a:rPr lang="en-US" dirty="0"/>
              <a:t> </a:t>
            </a:r>
            <a:r>
              <a:rPr lang="en-US" dirty="0" err="1"/>
              <a:t>hloubce</a:t>
            </a:r>
            <a:r>
              <a:rPr lang="en-US" dirty="0"/>
              <a:t>, jak by </a:t>
            </a:r>
            <a:r>
              <a:rPr lang="en-US" dirty="0" err="1"/>
              <a:t>bylo</a:t>
            </a:r>
            <a:r>
              <a:rPr lang="en-US" dirty="0"/>
              <a:t> </a:t>
            </a:r>
            <a:r>
              <a:rPr lang="en-US" dirty="0" err="1"/>
              <a:t>ideální</a:t>
            </a:r>
            <a:r>
              <a:rPr lang="en-US" dirty="0"/>
              <a:t>. V </a:t>
            </a:r>
            <a:r>
              <a:rPr lang="en-US" dirty="0" err="1"/>
              <a:t>praxi</a:t>
            </a:r>
            <a:r>
              <a:rPr lang="en-US" dirty="0"/>
              <a:t> se pak </a:t>
            </a:r>
            <a:r>
              <a:rPr lang="en-US" dirty="0" err="1"/>
              <a:t>někdy</a:t>
            </a:r>
            <a:r>
              <a:rPr lang="en-US" dirty="0"/>
              <a:t> </a:t>
            </a:r>
            <a:r>
              <a:rPr lang="en-US" dirty="0" err="1"/>
              <a:t>sklouzne</a:t>
            </a:r>
            <a:r>
              <a:rPr lang="en-US" dirty="0"/>
              <a:t> k </a:t>
            </a:r>
            <a:r>
              <a:rPr lang="en-US" dirty="0" err="1"/>
              <a:t>přístupu</a:t>
            </a:r>
            <a:r>
              <a:rPr lang="en-US" dirty="0"/>
              <a:t> </a:t>
            </a:r>
            <a:r>
              <a:rPr lang="en-US" dirty="0" err="1"/>
              <a:t>typu</a:t>
            </a:r>
            <a:r>
              <a:rPr lang="en-US" dirty="0"/>
              <a:t>: </a:t>
            </a:r>
            <a:r>
              <a:rPr lang="en-US" dirty="0" err="1"/>
              <a:t>podívám</a:t>
            </a:r>
            <a:r>
              <a:rPr lang="en-US" dirty="0"/>
              <a:t> se, jak </a:t>
            </a:r>
            <a:r>
              <a:rPr lang="en-US" dirty="0" err="1"/>
              <a:t>tuto</a:t>
            </a:r>
            <a:r>
              <a:rPr lang="en-US" dirty="0"/>
              <a:t> </a:t>
            </a:r>
            <a:r>
              <a:rPr lang="en-US" dirty="0" err="1"/>
              <a:t>variantu</a:t>
            </a:r>
            <a:r>
              <a:rPr lang="en-US" dirty="0"/>
              <a:t> </a:t>
            </a:r>
            <a:r>
              <a:rPr lang="en-US" dirty="0" err="1"/>
              <a:t>hodnotili</a:t>
            </a:r>
            <a:r>
              <a:rPr lang="en-US" dirty="0"/>
              <a:t> </a:t>
            </a:r>
            <a:r>
              <a:rPr lang="en-US" dirty="0" err="1"/>
              <a:t>ostatní</a:t>
            </a:r>
            <a:r>
              <a:rPr lang="en-US" dirty="0"/>
              <a:t> v </a:t>
            </a:r>
            <a:r>
              <a:rPr lang="en-US" dirty="0" err="1"/>
              <a:t>ClinVaru</a:t>
            </a:r>
            <a:r>
              <a:rPr lang="en-US" dirty="0"/>
              <a:t>. </a:t>
            </a:r>
            <a:r>
              <a:rPr lang="en-US" dirty="0" err="1"/>
              <a:t>Tím</a:t>
            </a:r>
            <a:r>
              <a:rPr lang="en-US" dirty="0"/>
              <a:t> ale </a:t>
            </a:r>
            <a:r>
              <a:rPr lang="en-US" dirty="0" err="1"/>
              <a:t>může</a:t>
            </a:r>
            <a:r>
              <a:rPr lang="en-US" dirty="0"/>
              <a:t> </a:t>
            </a:r>
            <a:r>
              <a:rPr lang="en-US" dirty="0" err="1"/>
              <a:t>vznikat</a:t>
            </a:r>
            <a:r>
              <a:rPr lang="en-US" dirty="0"/>
              <a:t> </a:t>
            </a:r>
            <a:r>
              <a:rPr lang="en-US" dirty="0" err="1"/>
              <a:t>kruhové</a:t>
            </a:r>
            <a:r>
              <a:rPr lang="en-US" dirty="0"/>
              <a:t> </a:t>
            </a:r>
            <a:r>
              <a:rPr lang="en-US" dirty="0" err="1"/>
              <a:t>hodnocení</a:t>
            </a:r>
            <a:r>
              <a:rPr lang="en-US" dirty="0"/>
              <a:t>, </a:t>
            </a:r>
            <a:r>
              <a:rPr lang="en-US" dirty="0" err="1"/>
              <a:t>kdy</a:t>
            </a:r>
            <a:r>
              <a:rPr lang="en-US" dirty="0"/>
              <a:t> se </a:t>
            </a:r>
            <a:r>
              <a:rPr lang="en-US" dirty="0" err="1"/>
              <a:t>jednotlivé</a:t>
            </a:r>
            <a:r>
              <a:rPr lang="en-US" dirty="0"/>
              <a:t> </a:t>
            </a:r>
            <a:r>
              <a:rPr lang="en-US" dirty="0" err="1"/>
              <a:t>záznamy</a:t>
            </a:r>
            <a:r>
              <a:rPr lang="en-US" dirty="0"/>
              <a:t> </a:t>
            </a:r>
            <a:r>
              <a:rPr lang="en-US" dirty="0" err="1"/>
              <a:t>opírají</a:t>
            </a:r>
            <a:r>
              <a:rPr lang="en-US" dirty="0"/>
              <a:t> </a:t>
            </a:r>
            <a:r>
              <a:rPr lang="en-US" dirty="0" err="1"/>
              <a:t>jeden</a:t>
            </a:r>
            <a:r>
              <a:rPr lang="en-US" dirty="0"/>
              <a:t> o </a:t>
            </a:r>
            <a:r>
              <a:rPr lang="en-US" dirty="0" err="1"/>
              <a:t>druhý</a:t>
            </a:r>
            <a:r>
              <a:rPr lang="en-US" dirty="0"/>
              <a:t> </a:t>
            </a:r>
            <a:r>
              <a:rPr lang="en-US" dirty="0" err="1"/>
              <a:t>místo</a:t>
            </a:r>
            <a:r>
              <a:rPr lang="en-US" dirty="0"/>
              <a:t> o </a:t>
            </a:r>
            <a:r>
              <a:rPr lang="en-US" dirty="0" err="1"/>
              <a:t>nezávislé</a:t>
            </a:r>
            <a:r>
              <a:rPr lang="en-US" dirty="0"/>
              <a:t> </a:t>
            </a:r>
            <a:r>
              <a:rPr lang="en-US" dirty="0" err="1"/>
              <a:t>vyhodnocení</a:t>
            </a:r>
            <a:r>
              <a:rPr lang="en-US" dirty="0"/>
              <a:t> </a:t>
            </a:r>
            <a:r>
              <a:rPr lang="en-US" dirty="0" err="1"/>
              <a:t>důkazů</a:t>
            </a:r>
            <a:r>
              <a:rPr lang="en-US" dirty="0"/>
              <a:t>.</a:t>
            </a:r>
          </a:p>
          <a:p>
            <a:r>
              <a:rPr lang="en-US" dirty="0" err="1"/>
              <a:t>Lze</a:t>
            </a:r>
            <a:r>
              <a:rPr lang="en-US" dirty="0"/>
              <a:t> </a:t>
            </a:r>
            <a:r>
              <a:rPr lang="en-US" dirty="0" err="1"/>
              <a:t>zmínit</a:t>
            </a:r>
            <a:r>
              <a:rPr lang="en-US" dirty="0"/>
              <a:t> VUS, </a:t>
            </a:r>
            <a:r>
              <a:rPr lang="en-US" dirty="0" err="1"/>
              <a:t>tedy</a:t>
            </a:r>
            <a:r>
              <a:rPr lang="en-US" dirty="0"/>
              <a:t> </a:t>
            </a:r>
            <a:r>
              <a:rPr lang="en-US" dirty="0" err="1"/>
              <a:t>variantu</a:t>
            </a:r>
            <a:r>
              <a:rPr lang="en-US" dirty="0"/>
              <a:t> s </a:t>
            </a:r>
            <a:r>
              <a:rPr lang="en-US" dirty="0" err="1"/>
              <a:t>nedostatečnými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rozpornými</a:t>
            </a:r>
            <a:r>
              <a:rPr lang="en-US" dirty="0"/>
              <a:t> </a:t>
            </a:r>
            <a:r>
              <a:rPr lang="en-US" dirty="0" err="1"/>
              <a:t>důkazy</a:t>
            </a:r>
            <a:r>
              <a:rPr lang="en-US" dirty="0"/>
              <a:t>. </a:t>
            </a:r>
            <a:r>
              <a:rPr lang="en-US" dirty="0" err="1"/>
              <a:t>Není</a:t>
            </a:r>
            <a:r>
              <a:rPr lang="en-US" dirty="0"/>
              <a:t> </a:t>
            </a:r>
            <a:r>
              <a:rPr lang="en-US" dirty="0" err="1"/>
              <a:t>nutné</a:t>
            </a:r>
            <a:r>
              <a:rPr lang="en-US" dirty="0"/>
              <a:t> </a:t>
            </a:r>
            <a:r>
              <a:rPr lang="en-US" dirty="0" err="1"/>
              <a:t>zacházet</a:t>
            </a:r>
            <a:r>
              <a:rPr lang="en-US" dirty="0"/>
              <a:t> do </a:t>
            </a:r>
            <a:r>
              <a:rPr lang="en-US" dirty="0" err="1"/>
              <a:t>kombinatoriky</a:t>
            </a:r>
            <a:r>
              <a:rPr lang="en-US" dirty="0"/>
              <a:t> ACMG. VUS </a:t>
            </a:r>
            <a:r>
              <a:rPr lang="en-US" dirty="0" err="1"/>
              <a:t>jsou</a:t>
            </a:r>
            <a:r>
              <a:rPr lang="en-US" dirty="0"/>
              <a:t> v </a:t>
            </a:r>
            <a:r>
              <a:rPr lang="en-US" dirty="0" err="1"/>
              <a:t>současnosti</a:t>
            </a:r>
            <a:r>
              <a:rPr lang="en-US" dirty="0"/>
              <a:t> </a:t>
            </a:r>
            <a:r>
              <a:rPr lang="en-US" dirty="0" err="1"/>
              <a:t>velký</a:t>
            </a:r>
            <a:r>
              <a:rPr lang="en-US" dirty="0"/>
              <a:t> </a:t>
            </a:r>
            <a:r>
              <a:rPr lang="en-US" dirty="0" err="1"/>
              <a:t>problém</a:t>
            </a:r>
            <a:r>
              <a:rPr lang="en-US" dirty="0"/>
              <a:t>, </a:t>
            </a:r>
            <a:r>
              <a:rPr lang="en-US" dirty="0" err="1"/>
              <a:t>ať</a:t>
            </a:r>
            <a:r>
              <a:rPr lang="en-US" dirty="0"/>
              <a:t> </a:t>
            </a:r>
            <a:r>
              <a:rPr lang="en-US" dirty="0" err="1"/>
              <a:t>už</a:t>
            </a:r>
            <a:r>
              <a:rPr lang="en-US" dirty="0"/>
              <a:t> </a:t>
            </a:r>
            <a:r>
              <a:rPr lang="en-US" dirty="0" err="1"/>
              <a:t>kvůli</a:t>
            </a:r>
            <a:r>
              <a:rPr lang="en-US" dirty="0"/>
              <a:t> </a:t>
            </a:r>
            <a:r>
              <a:rPr lang="en-US" dirty="0" err="1"/>
              <a:t>nedostatku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,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kvůli</a:t>
            </a:r>
            <a:r>
              <a:rPr lang="en-US" dirty="0"/>
              <a:t> </a:t>
            </a:r>
            <a:r>
              <a:rPr lang="en-US" dirty="0" err="1"/>
              <a:t>neúplnému</a:t>
            </a:r>
            <a:r>
              <a:rPr lang="en-US" dirty="0"/>
              <a:t> </a:t>
            </a:r>
            <a:r>
              <a:rPr lang="en-US" dirty="0" err="1"/>
              <a:t>či</a:t>
            </a:r>
            <a:r>
              <a:rPr lang="en-US" dirty="0"/>
              <a:t> </a:t>
            </a:r>
            <a:r>
              <a:rPr lang="en-US" dirty="0" err="1"/>
              <a:t>nepřesnému</a:t>
            </a:r>
            <a:r>
              <a:rPr lang="en-US" dirty="0"/>
              <a:t> </a:t>
            </a:r>
            <a:r>
              <a:rPr lang="en-US" dirty="0" err="1"/>
              <a:t>vyhodnocení</a:t>
            </a:r>
            <a:r>
              <a:rPr lang="en-US" dirty="0"/>
              <a:t> </a:t>
            </a:r>
            <a:r>
              <a:rPr lang="en-US" dirty="0" err="1"/>
              <a:t>dostupných</a:t>
            </a:r>
            <a:r>
              <a:rPr lang="en-US" dirty="0"/>
              <a:t> </a:t>
            </a:r>
            <a:r>
              <a:rPr lang="en-US" dirty="0" err="1"/>
              <a:t>důkazů</a:t>
            </a:r>
            <a:r>
              <a:rPr lang="en-US" dirty="0"/>
              <a:t>. ARIANE </a:t>
            </a:r>
            <a:r>
              <a:rPr lang="en-US" dirty="0" err="1"/>
              <a:t>může</a:t>
            </a:r>
            <a:r>
              <a:rPr lang="en-US" dirty="0"/>
              <a:t> </a:t>
            </a:r>
            <a:r>
              <a:rPr lang="en-US" dirty="0" err="1"/>
              <a:t>pomoci</a:t>
            </a:r>
            <a:r>
              <a:rPr lang="en-US" dirty="0"/>
              <a:t> v </a:t>
            </a:r>
            <a:r>
              <a:rPr lang="en-US" dirty="0" err="1"/>
              <a:t>obou</a:t>
            </a:r>
            <a:r>
              <a:rPr lang="en-US" dirty="0"/>
              <a:t> </a:t>
            </a:r>
            <a:r>
              <a:rPr lang="en-US" dirty="0" err="1"/>
              <a:t>případech</a:t>
            </a:r>
            <a:r>
              <a:rPr lang="en-US" dirty="0"/>
              <a:t> </a:t>
            </a:r>
            <a:r>
              <a:rPr lang="en-US" dirty="0" err="1"/>
              <a:t>tím</a:t>
            </a:r>
            <a:r>
              <a:rPr lang="en-US" dirty="0"/>
              <a:t>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zpřístupní</a:t>
            </a:r>
            <a:r>
              <a:rPr lang="en-US" dirty="0"/>
              <a:t> </a:t>
            </a:r>
            <a:r>
              <a:rPr lang="en-US" dirty="0" err="1"/>
              <a:t>konzistentnější</a:t>
            </a:r>
            <a:r>
              <a:rPr lang="en-US" dirty="0"/>
              <a:t> a </a:t>
            </a:r>
            <a:r>
              <a:rPr lang="en-US" dirty="0" err="1"/>
              <a:t>důkladnější</a:t>
            </a:r>
            <a:r>
              <a:rPr lang="en-US" dirty="0"/>
              <a:t> </a:t>
            </a:r>
            <a:r>
              <a:rPr lang="en-US" dirty="0" err="1"/>
              <a:t>vyhodnocení</a:t>
            </a:r>
            <a:r>
              <a:rPr lang="en-US" dirty="0"/>
              <a:t> a </a:t>
            </a:r>
            <a:r>
              <a:rPr lang="en-US" dirty="0" err="1"/>
              <a:t>potenciálně</a:t>
            </a:r>
            <a:r>
              <a:rPr lang="en-US" dirty="0"/>
              <a:t> </a:t>
            </a:r>
            <a:r>
              <a:rPr lang="en-US" dirty="0" err="1"/>
              <a:t>sníží</a:t>
            </a:r>
            <a:r>
              <a:rPr lang="en-US" dirty="0"/>
              <a:t> </a:t>
            </a:r>
            <a:r>
              <a:rPr lang="en-US" dirty="0" err="1"/>
              <a:t>počet</a:t>
            </a:r>
            <a:r>
              <a:rPr lang="en-US" dirty="0"/>
              <a:t> variant, </a:t>
            </a:r>
            <a:r>
              <a:rPr lang="en-US" dirty="0" err="1"/>
              <a:t>které</a:t>
            </a:r>
            <a:r>
              <a:rPr lang="en-US" dirty="0"/>
              <a:t> </a:t>
            </a:r>
            <a:r>
              <a:rPr lang="en-US" dirty="0" err="1"/>
              <a:t>zůstávají</a:t>
            </a:r>
            <a:r>
              <a:rPr lang="en-US" dirty="0"/>
              <a:t> </a:t>
            </a:r>
            <a:r>
              <a:rPr lang="en-US" dirty="0" err="1"/>
              <a:t>klasifikované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VUS.</a:t>
            </a:r>
          </a:p>
          <a:p>
            <a:endParaRPr lang="en-US" dirty="0"/>
          </a:p>
          <a:p>
            <a:r>
              <a:rPr lang="en-US" dirty="0"/>
              <a:t>ENIGMA je </a:t>
            </a:r>
            <a:r>
              <a:rPr lang="en-US" dirty="0" err="1"/>
              <a:t>mezinárodní</a:t>
            </a:r>
            <a:r>
              <a:rPr lang="en-US" dirty="0"/>
              <a:t> </a:t>
            </a:r>
            <a:r>
              <a:rPr lang="en-US" dirty="0" err="1"/>
              <a:t>expertní</a:t>
            </a:r>
            <a:r>
              <a:rPr lang="en-US" dirty="0"/>
              <a:t> panel, </a:t>
            </a:r>
            <a:r>
              <a:rPr lang="en-US" dirty="0" err="1"/>
              <a:t>který</a:t>
            </a:r>
            <a:r>
              <a:rPr lang="en-US" dirty="0"/>
              <a:t> </a:t>
            </a:r>
            <a:r>
              <a:rPr lang="en-US" dirty="0" err="1"/>
              <a:t>pravidla</a:t>
            </a:r>
            <a:r>
              <a:rPr lang="en-US" dirty="0"/>
              <a:t> </a:t>
            </a:r>
            <a:r>
              <a:rPr lang="en-US" dirty="0" err="1"/>
              <a:t>zpřesnil</a:t>
            </a:r>
            <a:r>
              <a:rPr lang="en-US" dirty="0"/>
              <a:t> pro BRCA1 a BRCA2.</a:t>
            </a:r>
          </a:p>
          <a:p>
            <a:endParaRPr lang="en-US" dirty="0"/>
          </a:p>
          <a:p>
            <a:r>
              <a:rPr lang="en-US" dirty="0" err="1"/>
              <a:t>Poslední</a:t>
            </a:r>
            <a:r>
              <a:rPr lang="en-US" dirty="0"/>
              <a:t> box je </a:t>
            </a:r>
            <a:r>
              <a:rPr lang="en-US" dirty="0" err="1"/>
              <a:t>přechod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další</a:t>
            </a:r>
            <a:r>
              <a:rPr lang="en-US" dirty="0"/>
              <a:t> slide: </a:t>
            </a:r>
            <a:r>
              <a:rPr lang="en-US" dirty="0" err="1"/>
              <a:t>část</a:t>
            </a:r>
            <a:r>
              <a:rPr lang="en-US" dirty="0"/>
              <a:t> evidence </a:t>
            </a:r>
            <a:r>
              <a:rPr lang="en-US" dirty="0" err="1"/>
              <a:t>lze</a:t>
            </a:r>
            <a:r>
              <a:rPr lang="en-US" dirty="0"/>
              <a:t> </a:t>
            </a:r>
            <a:r>
              <a:rPr lang="en-US" dirty="0" err="1"/>
              <a:t>zpracovat</a:t>
            </a:r>
            <a:r>
              <a:rPr lang="en-US" dirty="0"/>
              <a:t> </a:t>
            </a:r>
            <a:r>
              <a:rPr lang="en-US" dirty="0" err="1"/>
              <a:t>automaticky</a:t>
            </a:r>
            <a:r>
              <a:rPr lang="en-US" dirty="0"/>
              <a:t> a </a:t>
            </a:r>
            <a:r>
              <a:rPr lang="en-US" dirty="0" err="1"/>
              <a:t>část</a:t>
            </a:r>
            <a:r>
              <a:rPr lang="en-US" dirty="0"/>
              <a:t> </a:t>
            </a:r>
            <a:r>
              <a:rPr lang="en-US" dirty="0" err="1"/>
              <a:t>stále</a:t>
            </a:r>
            <a:r>
              <a:rPr lang="en-US" dirty="0"/>
              <a:t> </a:t>
            </a:r>
            <a:r>
              <a:rPr lang="en-US" dirty="0" err="1"/>
              <a:t>vyžaduje</a:t>
            </a:r>
            <a:r>
              <a:rPr lang="en-US" dirty="0"/>
              <a:t> </a:t>
            </a:r>
            <a:r>
              <a:rPr lang="en-US" dirty="0" err="1"/>
              <a:t>ruční</a:t>
            </a:r>
            <a:r>
              <a:rPr lang="en-US" dirty="0"/>
              <a:t> </a:t>
            </a:r>
            <a:r>
              <a:rPr lang="en-US" dirty="0" err="1"/>
              <a:t>odborné</a:t>
            </a:r>
            <a:r>
              <a:rPr lang="en-US" dirty="0"/>
              <a:t> </a:t>
            </a:r>
            <a:r>
              <a:rPr lang="en-US" dirty="0" err="1"/>
              <a:t>posouzení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Tady zdůraznit, že ARIANE už je funkční aplikace, ne návrh nebo pilot.
</a:t>
            </a:r>
            <a:r>
              <a:rPr lang="en-US"/>
              <a:t>
Aplikace</a:t>
            </a:r>
            <a:r>
              <a:rPr lang="en-US" dirty="0"/>
              <a:t> automatizuje jen ta kritéria, která lze spolehlivě vyhodnotit z dostupných dat.
BRCA1 a BRCA2 jsou </a:t>
            </a:r>
            <a:r>
              <a:rPr lang="en-US" dirty="0" err="1"/>
              <a:t>první</a:t>
            </a:r>
            <a:r>
              <a:rPr lang="en-US" dirty="0"/>
              <a:t> </a:t>
            </a:r>
            <a:r>
              <a:rPr lang="en-US" dirty="0" err="1"/>
              <a:t>implementace</a:t>
            </a:r>
            <a:r>
              <a:rPr lang="en-US" dirty="0"/>
              <a:t>. Jsou vhodné pro začátek, protože mají detailně popsaná expertní pravidla a velké množství dostupných 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Hlavní sdělení: první část projektu už automatizuje pravidla založená na strukturovaných datech. Další fáze míří na evidenci, která se skrývá v publikacích.
AI </a:t>
            </a:r>
            <a:r>
              <a:rPr lang="en-US" dirty="0" err="1"/>
              <a:t>není</a:t>
            </a:r>
            <a:r>
              <a:rPr lang="en-US" dirty="0"/>
              <a:t> </a:t>
            </a:r>
            <a:r>
              <a:rPr lang="en-US" dirty="0" err="1"/>
              <a:t>není</a:t>
            </a:r>
            <a:r>
              <a:rPr lang="en-US" dirty="0"/>
              <a:t> to </a:t>
            </a:r>
            <a:r>
              <a:rPr lang="en-US" dirty="0" err="1"/>
              <a:t>hlavní</a:t>
            </a:r>
            <a:r>
              <a:rPr lang="en-US" dirty="0"/>
              <a:t> I </a:t>
            </a:r>
            <a:r>
              <a:rPr lang="en-US" dirty="0" err="1"/>
              <a:t>když</a:t>
            </a:r>
            <a:r>
              <a:rPr lang="en-US" dirty="0"/>
              <a:t> je to buzzword. Jazykové modely jsou prostředek pro vyhledání a strukturování evidence, nikoli náhrada </a:t>
            </a:r>
            <a:r>
              <a:rPr lang="en-US" dirty="0" err="1"/>
              <a:t>odborného</a:t>
            </a:r>
            <a:r>
              <a:rPr lang="en-US" dirty="0"/>
              <a:t> </a:t>
            </a:r>
            <a:r>
              <a:rPr lang="en-US" dirty="0" err="1"/>
              <a:t>rozhodnutí</a:t>
            </a:r>
            <a:r>
              <a:rPr lang="en-US" dirty="0"/>
              <a:t> – </a:t>
            </a:r>
            <a:r>
              <a:rPr lang="en-US" dirty="0" err="1"/>
              <a:t>tohle</a:t>
            </a:r>
            <a:r>
              <a:rPr lang="en-US" dirty="0"/>
              <a:t> je </a:t>
            </a:r>
            <a:r>
              <a:rPr lang="en-US" dirty="0" err="1"/>
              <a:t>hrozně</a:t>
            </a:r>
            <a:r>
              <a:rPr lang="en-US" dirty="0"/>
              <a:t> </a:t>
            </a:r>
            <a:r>
              <a:rPr lang="en-US" dirty="0" err="1"/>
              <a:t>důležité</a:t>
            </a:r>
            <a:r>
              <a:rPr lang="en-US" dirty="0"/>
              <a:t> I z </a:t>
            </a:r>
            <a:r>
              <a:rPr lang="en-US" dirty="0" err="1"/>
              <a:t>etických</a:t>
            </a:r>
            <a:r>
              <a:rPr lang="en-US" dirty="0"/>
              <a:t> </a:t>
            </a:r>
            <a:r>
              <a:rPr lang="en-US" dirty="0" err="1"/>
              <a:t>důvodů</a:t>
            </a:r>
            <a:r>
              <a:rPr lang="en-US" dirty="0"/>
              <a:t>.
Zdůraznit dohledatelnost: každý vytěžený údaj má zůstat propojený s původním zdrojem a má být předložen expertovi k posouzení.
BRCA1 a BRCA2 </a:t>
            </a:r>
            <a:r>
              <a:rPr lang="en-US" dirty="0" err="1"/>
              <a:t>jsou</a:t>
            </a:r>
            <a:r>
              <a:rPr lang="en-US" dirty="0"/>
              <a:t> </a:t>
            </a:r>
            <a:r>
              <a:rPr lang="en-US" dirty="0" err="1"/>
              <a:t>vhodný</a:t>
            </a:r>
            <a:r>
              <a:rPr lang="en-US" dirty="0"/>
              <a:t> první případ, protože existuje dostatek ručně zkurátorované literatury, proti které lze systém vyvíjet a hodnotit.
Dlouhodobě má jít o obecný rámec, který lze rozšířit na další geny podle dostupnosti kvalitních genově specifických pravidel.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7635-F53D-254D-DF64-6E2B88D38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B681D-CB6F-0EB7-DBD9-49B27D1A8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887EF-2B17-1196-0543-CA934508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605FC-4F2B-684E-B502-CF6CF64F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48A62-2F04-A103-51F3-F01A55153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70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41E42-734E-5B6A-23F3-D98A36ED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BCDF4-AF54-F4E3-EB9E-E367E767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07185-B8A8-7B11-2F8B-3C6653A8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071C3-BE86-C8BD-180B-2C960C76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3DC4F-36D4-D651-508C-60937797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78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795C-8DC8-BC8B-3D02-120D0EF7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AB956-055D-113D-A07F-C0112A6EC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240A4-E289-098C-0F29-AFF59256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9B794-0651-5489-41D7-70A70691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68022-FD59-1FB9-8CD5-E4C19003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2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E961-8F74-D8AE-6A6B-796E41E5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76044-9F29-F764-64E1-6DBE08791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5E954-6D37-C586-071E-2F89F2E4E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EB409-72BE-2197-823A-D4DA62D93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6372A-031F-A125-A90F-A28FDBC5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19DB1-8714-50E7-01CD-1473FAE2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63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75044-1BF0-9871-3303-B046259DA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6856D-291B-EA53-ACF8-1DB6C957A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4FB2A-594F-8060-66C2-E88DCB74C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93A9E-9B5E-EAEA-4225-C56743B18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15BAA0-4A93-3D71-0D3F-6D4DBB2E9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6BFF1-1891-F9C5-816F-2E3845AA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7A3515-49DE-89F6-E61E-A0F3793B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3ADC78-A842-F0C2-6371-6DD1C88B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C337-7A55-1112-4399-62CD5B7B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AF0002-3850-B8A7-77B5-3233D712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27681-5719-007E-8782-EEA9E2F3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5115B-D425-7BE8-DD9B-02876847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8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47C36-5AA9-CEF8-1665-79195D4E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01FB0-5380-92C0-0C95-5E49317DC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B1854-4AD2-1E25-EFA0-425CE32A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1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3128-1A3C-51AC-3A3D-34B94DDB1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5FDFD-9D93-29C4-775E-4E914BFD0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45E4F-F22B-9C72-1A3F-4DFDF4E04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E7654-D0A8-8B83-8E22-2E2EBF4A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D2650-9342-D342-1E2D-D2A24599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7C5DB-E57B-6E96-FC24-8D701A82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0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814B1-3803-7C04-B2F0-71233CF6C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A07591-4661-D278-D026-EA17A7F6B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21F19-020B-DE0E-F4E9-16975E964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C0240-1E56-CD5F-691C-C1056F5D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48294-4BE7-3C55-4605-4B0C19A89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95A9A-0533-837F-06FB-2CEA04A3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7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3C55-4494-7EA5-ECBE-D095BCC4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2B577-CCEB-1C9F-302E-83266F8DB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5AB17-B6E5-0326-738A-FCBB485C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17E6E-39F1-4AAB-DAD1-B504B95E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8E69B-98EE-0731-6AF8-1CA25517C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9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4C513-C677-EB7D-DDDA-AEAAACCBC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2F261-12BE-F948-AE5A-9E56C6A72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5183B-99DB-BACF-B449-2427BE0F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83958-26A1-B985-3587-7FD4FB32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6661-87EE-3C6F-C56E-3C7BB2D2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96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50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808830-2FA1-3B4D-617C-5AF4ED24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5589C-B85F-B6E6-4EFE-3F0EDFB81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9C539-F747-494D-6823-139EB3A38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7C647-8E80-4E6F-93AF-5D50231B1C8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C0A02-984D-6BB3-2EB0-6FE25A61E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03BF0-2A3E-B638-01B5-A8642DB58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03D7B-CA60-4432-BAC4-2C579961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1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RIANE%20-%20BRCA1_2%20Variant%20Classification.mp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6C08-F18C-D73A-2D2F-092B5C4581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ARIANE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1CD63-9B5E-773B-3022-DA583D9738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Automated ACMG Rule-based Interpretation and Annotation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BRCA1/2 variant classification following ENIGMA VCEP v1.2</a:t>
            </a:r>
          </a:p>
          <a:p>
            <a:endParaRPr lang="en-US" dirty="0"/>
          </a:p>
        </p:txBody>
      </p:sp>
      <p:pic>
        <p:nvPicPr>
          <p:cNvPr id="5" name="Image 0" descr="/mnt/data/ariane_deck_author_identity/images/uochb-iocb-prague-logo.png">
            <a:extLst>
              <a:ext uri="{FF2B5EF4-FFF2-40B4-BE49-F238E27FC236}">
                <a16:creationId xmlns:a16="http://schemas.microsoft.com/office/drawing/2014/main" id="{BA878323-8B3D-618D-0EB6-18F5FFD0C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9346" y="6196307"/>
            <a:ext cx="1376132" cy="493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81B598-259C-2921-E431-94730014A03D}"/>
              </a:ext>
            </a:extLst>
          </p:cNvPr>
          <p:cNvSpPr txBox="1"/>
          <p:nvPr/>
        </p:nvSpPr>
        <p:spPr>
          <a:xfrm>
            <a:off x="6094616" y="6196307"/>
            <a:ext cx="6097384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</a:t>
            </a:r>
            <a:r>
              <a:rPr lang="en-US" sz="8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MUDr</a:t>
            </a: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Zdeněk </a:t>
            </a:r>
            <a:r>
              <a:rPr lang="en-US" sz="8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Kleibl</a:t>
            </a: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Ph.D.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RNDr</a:t>
            </a: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Jana Soukupová, Ph.D.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Ústav</a:t>
            </a: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biochemie</a:t>
            </a: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8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experimentální</a:t>
            </a: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onkologie</a:t>
            </a: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1. </a:t>
            </a:r>
            <a:r>
              <a:rPr lang="en-US" sz="8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lékařská</a:t>
            </a: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fakulta</a:t>
            </a: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Univerzity</a:t>
            </a: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Karlovy</a:t>
            </a:r>
            <a:endParaRPr lang="en-US" sz="8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64C0C-976A-F033-70D5-C41E1134A64C}"/>
              </a:ext>
            </a:extLst>
          </p:cNvPr>
          <p:cNvSpPr txBox="1"/>
          <p:nvPr/>
        </p:nvSpPr>
        <p:spPr>
          <a:xfrm>
            <a:off x="4319067" y="6212363"/>
            <a:ext cx="15690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Kamila Clarová</a:t>
            </a:r>
            <a:endParaRPr lang="en-US" sz="9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1F2008F-CF2A-8569-FF18-95A8FF8CD1DA}"/>
              </a:ext>
            </a:extLst>
          </p:cNvPr>
          <p:cNvSpPr/>
          <p:nvPr/>
        </p:nvSpPr>
        <p:spPr>
          <a:xfrm>
            <a:off x="3643053" y="6498061"/>
            <a:ext cx="2140527" cy="137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Jiřího Vondráška</a:t>
            </a:r>
            <a:endParaRPr lang="en-US" sz="8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B59F568F-AE42-4476-2B20-36EE80B7C38F}"/>
              </a:ext>
            </a:extLst>
          </p:cNvPr>
          <p:cNvSpPr/>
          <p:nvPr/>
        </p:nvSpPr>
        <p:spPr>
          <a:xfrm>
            <a:off x="5966374" y="6259202"/>
            <a:ext cx="0" cy="347472"/>
          </a:xfrm>
          <a:prstGeom prst="line">
            <a:avLst/>
          </a:prstGeom>
          <a:noFill/>
          <a:ln w="1905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90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>
            <a:extLst>
              <a:ext uri="{FF2B5EF4-FFF2-40B4-BE49-F238E27FC236}">
                <a16:creationId xmlns:a16="http://schemas.microsoft.com/office/drawing/2014/main" id="{98AA7BEB-EB74-3C28-1736-4B514C073F2D}"/>
              </a:ext>
            </a:extLst>
          </p:cNvPr>
          <p:cNvSpPr/>
          <p:nvPr/>
        </p:nvSpPr>
        <p:spPr>
          <a:xfrm>
            <a:off x="512064" y="3383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20" dirty="0" err="1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Snímek</a:t>
            </a:r>
            <a:r>
              <a:rPr lang="en-US" sz="750" kern="0" spc="12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cs-CZ" sz="750" kern="0" spc="12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</a:p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67EBEE3C-A2E2-4445-1249-CC96A70BBB38}"/>
              </a:ext>
            </a:extLst>
          </p:cNvPr>
          <p:cNvSpPr/>
          <p:nvPr/>
        </p:nvSpPr>
        <p:spPr>
          <a:xfrm>
            <a:off x="502920" y="56692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cs-CZ" sz="2750" dirty="0">
                <a:solidFill>
                  <a:srgbClr val="1A2A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Jedno písmeno, tři různé důsledky</a:t>
            </a:r>
            <a:endParaRPr lang="en-US" sz="2750" dirty="0"/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4C22CE2F-D5EC-8A6F-9020-78F80694C245}"/>
              </a:ext>
            </a:extLst>
          </p:cNvPr>
          <p:cNvSpPr/>
          <p:nvPr/>
        </p:nvSpPr>
        <p:spPr>
          <a:xfrm>
            <a:off x="502920" y="1161288"/>
            <a:ext cx="566928" cy="0"/>
          </a:xfrm>
          <a:prstGeom prst="line">
            <a:avLst/>
          </a:prstGeom>
          <a:noFill/>
          <a:ln w="1905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0" descr="/mnt/data/ariane_deck_author_identity/images/uochb-iocb-prague-logo.png">
            <a:extLst>
              <a:ext uri="{FF2B5EF4-FFF2-40B4-BE49-F238E27FC236}">
                <a16:creationId xmlns:a16="http://schemas.microsoft.com/office/drawing/2014/main" id="{B763ECA7-59C8-DFD5-8615-6592F58B0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146" y="310896"/>
            <a:ext cx="1376132" cy="493776"/>
          </a:xfrm>
          <a:prstGeom prst="rect">
            <a:avLst/>
          </a:prstGeom>
        </p:spPr>
      </p:pic>
      <p:sp>
        <p:nvSpPr>
          <p:cNvPr id="57" name="Text 3">
            <a:extLst>
              <a:ext uri="{FF2B5EF4-FFF2-40B4-BE49-F238E27FC236}">
                <a16:creationId xmlns:a16="http://schemas.microsoft.com/office/drawing/2014/main" id="{7A6B6D10-4A5D-C77B-8135-F282D1EBA632}"/>
              </a:ext>
            </a:extLst>
          </p:cNvPr>
          <p:cNvSpPr/>
          <p:nvPr/>
        </p:nvSpPr>
        <p:spPr>
          <a:xfrm>
            <a:off x="8595360" y="8503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Kamila Clarová</a:t>
            </a:r>
            <a:endParaRPr lang="en-US" sz="900" dirty="0"/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47149D6C-92B5-1633-D968-2F8EB4B7560D}"/>
              </a:ext>
            </a:extLst>
          </p:cNvPr>
          <p:cNvSpPr/>
          <p:nvPr/>
        </p:nvSpPr>
        <p:spPr>
          <a:xfrm>
            <a:off x="8229600" y="1051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Jiří Vondrášek Group</a:t>
            </a:r>
            <a:endParaRPr lang="en-US" sz="800" dirty="0"/>
          </a:p>
        </p:txBody>
      </p:sp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A4E05ABF-3A48-A38A-76CD-B348CF2AB191}"/>
              </a:ext>
            </a:extLst>
          </p:cNvPr>
          <p:cNvSpPr/>
          <p:nvPr/>
        </p:nvSpPr>
        <p:spPr>
          <a:xfrm>
            <a:off x="566928" y="1591056"/>
            <a:ext cx="11073384" cy="676656"/>
          </a:xfrm>
          <a:prstGeom prst="roundRect">
            <a:avLst>
              <a:gd name="adj" fmla="val 7000"/>
            </a:avLst>
          </a:prstGeom>
          <a:solidFill>
            <a:srgbClr val="F5F8F8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9786B9-5492-8824-BB58-362C4374B4A6}"/>
              </a:ext>
            </a:extLst>
          </p:cNvPr>
          <p:cNvSpPr txBox="1"/>
          <p:nvPr/>
        </p:nvSpPr>
        <p:spPr>
          <a:xfrm>
            <a:off x="5984748" y="1851730"/>
            <a:ext cx="15544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cs-CZ" sz="950" b="0" spc="150" dirty="0">
                <a:solidFill>
                  <a:srgbClr val="15697A"/>
                </a:solidFill>
                <a:latin typeface="Consolas"/>
              </a:rPr>
              <a:t>NORMÁLNĚ</a:t>
            </a:r>
            <a:endParaRPr sz="950" b="0" spc="150" dirty="0">
              <a:solidFill>
                <a:srgbClr val="15697A"/>
              </a:solidFill>
              <a:latin typeface="Consolas"/>
            </a:endParaRPr>
          </a:p>
        </p:txBody>
      </p:sp>
      <p:cxnSp>
        <p:nvCxnSpPr>
          <p:cNvPr id="4" name="Connector 9">
            <a:extLst>
              <a:ext uri="{FF2B5EF4-FFF2-40B4-BE49-F238E27FC236}">
                <a16:creationId xmlns:a16="http://schemas.microsoft.com/office/drawing/2014/main" id="{2AA83185-85E8-5E44-3683-F8F0D01CA5EA}"/>
              </a:ext>
            </a:extLst>
          </p:cNvPr>
          <p:cNvCxnSpPr/>
          <p:nvPr/>
        </p:nvCxnSpPr>
        <p:spPr>
          <a:xfrm flipH="1" flipV="1">
            <a:off x="7295357" y="1963789"/>
            <a:ext cx="35387" cy="97795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10">
            <a:extLst>
              <a:ext uri="{FF2B5EF4-FFF2-40B4-BE49-F238E27FC236}">
                <a16:creationId xmlns:a16="http://schemas.microsoft.com/office/drawing/2014/main" id="{8C5D11B7-3FF7-B44A-A402-EA2E1525428D}"/>
              </a:ext>
            </a:extLst>
          </p:cNvPr>
          <p:cNvCxnSpPr/>
          <p:nvPr/>
        </p:nvCxnSpPr>
        <p:spPr>
          <a:xfrm flipV="1">
            <a:off x="7295357" y="1861742"/>
            <a:ext cx="41285" cy="102047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11">
            <a:extLst>
              <a:ext uri="{FF2B5EF4-FFF2-40B4-BE49-F238E27FC236}">
                <a16:creationId xmlns:a16="http://schemas.microsoft.com/office/drawing/2014/main" id="{418FFA2D-EAAE-C7C8-CBDB-5A87755CCD24}"/>
              </a:ext>
            </a:extLst>
          </p:cNvPr>
          <p:cNvCxnSpPr/>
          <p:nvPr/>
        </p:nvCxnSpPr>
        <p:spPr>
          <a:xfrm flipV="1">
            <a:off x="7336642" y="1793711"/>
            <a:ext cx="94366" cy="68031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12">
            <a:extLst>
              <a:ext uri="{FF2B5EF4-FFF2-40B4-BE49-F238E27FC236}">
                <a16:creationId xmlns:a16="http://schemas.microsoft.com/office/drawing/2014/main" id="{D1C5BFBF-7251-6B03-2F31-2BDA8C002927}"/>
              </a:ext>
            </a:extLst>
          </p:cNvPr>
          <p:cNvCxnSpPr/>
          <p:nvPr/>
        </p:nvCxnSpPr>
        <p:spPr>
          <a:xfrm flipV="1">
            <a:off x="7431008" y="1768199"/>
            <a:ext cx="129754" cy="25512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13">
            <a:extLst>
              <a:ext uri="{FF2B5EF4-FFF2-40B4-BE49-F238E27FC236}">
                <a16:creationId xmlns:a16="http://schemas.microsoft.com/office/drawing/2014/main" id="{5D40367B-9A19-7566-804B-746AFC4FA4CC}"/>
              </a:ext>
            </a:extLst>
          </p:cNvPr>
          <p:cNvCxnSpPr/>
          <p:nvPr/>
        </p:nvCxnSpPr>
        <p:spPr>
          <a:xfrm>
            <a:off x="7560762" y="1768199"/>
            <a:ext cx="123855" cy="25512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14">
            <a:extLst>
              <a:ext uri="{FF2B5EF4-FFF2-40B4-BE49-F238E27FC236}">
                <a16:creationId xmlns:a16="http://schemas.microsoft.com/office/drawing/2014/main" id="{1454BF6B-7FBD-A6A7-E4FE-71209E31391E}"/>
              </a:ext>
            </a:extLst>
          </p:cNvPr>
          <p:cNvCxnSpPr/>
          <p:nvPr/>
        </p:nvCxnSpPr>
        <p:spPr>
          <a:xfrm>
            <a:off x="7684617" y="1793711"/>
            <a:ext cx="82570" cy="68031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5">
            <a:extLst>
              <a:ext uri="{FF2B5EF4-FFF2-40B4-BE49-F238E27FC236}">
                <a16:creationId xmlns:a16="http://schemas.microsoft.com/office/drawing/2014/main" id="{F1297560-3E7A-9DED-0A6F-4176E61806EB}"/>
              </a:ext>
            </a:extLst>
          </p:cNvPr>
          <p:cNvCxnSpPr/>
          <p:nvPr/>
        </p:nvCxnSpPr>
        <p:spPr>
          <a:xfrm>
            <a:off x="7767187" y="1861742"/>
            <a:ext cx="17694" cy="97795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6">
            <a:extLst>
              <a:ext uri="{FF2B5EF4-FFF2-40B4-BE49-F238E27FC236}">
                <a16:creationId xmlns:a16="http://schemas.microsoft.com/office/drawing/2014/main" id="{728CEA26-7246-1C56-F386-49C2376E154E}"/>
              </a:ext>
            </a:extLst>
          </p:cNvPr>
          <p:cNvCxnSpPr/>
          <p:nvPr/>
        </p:nvCxnSpPr>
        <p:spPr>
          <a:xfrm flipH="1">
            <a:off x="7714107" y="1959537"/>
            <a:ext cx="70774" cy="72284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7">
            <a:extLst>
              <a:ext uri="{FF2B5EF4-FFF2-40B4-BE49-F238E27FC236}">
                <a16:creationId xmlns:a16="http://schemas.microsoft.com/office/drawing/2014/main" id="{A29CE9F0-179C-50F1-3053-3CE9E8C60A7A}"/>
              </a:ext>
            </a:extLst>
          </p:cNvPr>
          <p:cNvCxnSpPr/>
          <p:nvPr/>
        </p:nvCxnSpPr>
        <p:spPr>
          <a:xfrm flipH="1">
            <a:off x="7596149" y="2031821"/>
            <a:ext cx="117958" cy="25511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8">
            <a:extLst>
              <a:ext uri="{FF2B5EF4-FFF2-40B4-BE49-F238E27FC236}">
                <a16:creationId xmlns:a16="http://schemas.microsoft.com/office/drawing/2014/main" id="{3FD91B25-D25B-781D-DA25-5F08F16CBEBA}"/>
              </a:ext>
            </a:extLst>
          </p:cNvPr>
          <p:cNvCxnSpPr/>
          <p:nvPr/>
        </p:nvCxnSpPr>
        <p:spPr>
          <a:xfrm flipH="1" flipV="1">
            <a:off x="7495885" y="2014813"/>
            <a:ext cx="100264" cy="42519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9">
            <a:extLst>
              <a:ext uri="{FF2B5EF4-FFF2-40B4-BE49-F238E27FC236}">
                <a16:creationId xmlns:a16="http://schemas.microsoft.com/office/drawing/2014/main" id="{900CC125-8972-6EAB-AA55-CF9BBEAE3E8A}"/>
              </a:ext>
            </a:extLst>
          </p:cNvPr>
          <p:cNvCxnSpPr/>
          <p:nvPr/>
        </p:nvCxnSpPr>
        <p:spPr>
          <a:xfrm flipH="1" flipV="1">
            <a:off x="7489987" y="1925522"/>
            <a:ext cx="5898" cy="89291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0601C89-7253-8761-76AB-D2C33A1690DE}"/>
              </a:ext>
            </a:extLst>
          </p:cNvPr>
          <p:cNvSpPr/>
          <p:nvPr/>
        </p:nvSpPr>
        <p:spPr>
          <a:xfrm>
            <a:off x="7269022" y="1999862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59B8300-6553-DE28-3315-644EA6247799}"/>
              </a:ext>
            </a:extLst>
          </p:cNvPr>
          <p:cNvSpPr/>
          <p:nvPr/>
        </p:nvSpPr>
        <p:spPr>
          <a:xfrm>
            <a:off x="7233635" y="1902067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2AE5E9-0636-1340-ADA2-12D674830AD0}"/>
              </a:ext>
            </a:extLst>
          </p:cNvPr>
          <p:cNvSpPr/>
          <p:nvPr/>
        </p:nvSpPr>
        <p:spPr>
          <a:xfrm>
            <a:off x="7274920" y="1800020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D764FC-EB11-5698-5C53-6EA79B98BE7F}"/>
              </a:ext>
            </a:extLst>
          </p:cNvPr>
          <p:cNvSpPr/>
          <p:nvPr/>
        </p:nvSpPr>
        <p:spPr>
          <a:xfrm>
            <a:off x="7369286" y="1731989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FCEBE7-0D68-975F-DEC3-5D529874CD42}"/>
              </a:ext>
            </a:extLst>
          </p:cNvPr>
          <p:cNvSpPr/>
          <p:nvPr/>
        </p:nvSpPr>
        <p:spPr>
          <a:xfrm>
            <a:off x="7499040" y="1706477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A72258-5A4B-57DE-BF1E-BE0E0E715368}"/>
              </a:ext>
            </a:extLst>
          </p:cNvPr>
          <p:cNvSpPr/>
          <p:nvPr/>
        </p:nvSpPr>
        <p:spPr>
          <a:xfrm>
            <a:off x="7622895" y="1731989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D56DF2C-BA3E-C498-6599-B10B3EEEA3D1}"/>
              </a:ext>
            </a:extLst>
          </p:cNvPr>
          <p:cNvSpPr/>
          <p:nvPr/>
        </p:nvSpPr>
        <p:spPr>
          <a:xfrm>
            <a:off x="7705465" y="1800020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A3DA7D8-A523-771B-0ACF-2A22BAE80800}"/>
              </a:ext>
            </a:extLst>
          </p:cNvPr>
          <p:cNvSpPr/>
          <p:nvPr/>
        </p:nvSpPr>
        <p:spPr>
          <a:xfrm>
            <a:off x="7723159" y="1897815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4C9426-D4A1-8681-05E0-C363FE1ABC93}"/>
              </a:ext>
            </a:extLst>
          </p:cNvPr>
          <p:cNvSpPr/>
          <p:nvPr/>
        </p:nvSpPr>
        <p:spPr>
          <a:xfrm>
            <a:off x="7652385" y="1970099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B8DEE3B-D30B-9E2A-1F30-8D1E7ECB7278}"/>
              </a:ext>
            </a:extLst>
          </p:cNvPr>
          <p:cNvSpPr/>
          <p:nvPr/>
        </p:nvSpPr>
        <p:spPr>
          <a:xfrm>
            <a:off x="7534427" y="1995610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D605753-B4E8-3BB9-F0DA-DB65DFA4D201}"/>
              </a:ext>
            </a:extLst>
          </p:cNvPr>
          <p:cNvSpPr/>
          <p:nvPr/>
        </p:nvSpPr>
        <p:spPr>
          <a:xfrm>
            <a:off x="7434163" y="1953091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EA7FCB1-92CE-3530-19A2-25AEB39292F8}"/>
              </a:ext>
            </a:extLst>
          </p:cNvPr>
          <p:cNvSpPr/>
          <p:nvPr/>
        </p:nvSpPr>
        <p:spPr>
          <a:xfrm>
            <a:off x="7428265" y="1863800"/>
            <a:ext cx="123444" cy="123444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3D5902-A3F4-186E-6D32-226E18A01902}"/>
              </a:ext>
            </a:extLst>
          </p:cNvPr>
          <p:cNvSpPr txBox="1"/>
          <p:nvPr/>
        </p:nvSpPr>
        <p:spPr>
          <a:xfrm>
            <a:off x="8078724" y="1833442"/>
            <a:ext cx="300618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cs-CZ" sz="1200" dirty="0">
                <a:solidFill>
                  <a:srgbClr val="1A2A31"/>
                </a:solidFill>
                <a:latin typeface="Segoe UI"/>
              </a:rPr>
              <a:t>Protein se složí správně a funguje</a:t>
            </a:r>
            <a:endParaRPr sz="1200" b="0" dirty="0">
              <a:solidFill>
                <a:srgbClr val="1A2A31"/>
              </a:solidFill>
              <a:latin typeface="Segoe UI"/>
            </a:endParaRPr>
          </a:p>
        </p:txBody>
      </p:sp>
      <p:sp>
        <p:nvSpPr>
          <p:cNvPr id="28" name="Rounded Rectangle 33">
            <a:extLst>
              <a:ext uri="{FF2B5EF4-FFF2-40B4-BE49-F238E27FC236}">
                <a16:creationId xmlns:a16="http://schemas.microsoft.com/office/drawing/2014/main" id="{AAE204C7-8DFE-BEA6-6E28-BAC6A4D1B6C5}"/>
              </a:ext>
            </a:extLst>
          </p:cNvPr>
          <p:cNvSpPr/>
          <p:nvPr/>
        </p:nvSpPr>
        <p:spPr>
          <a:xfrm>
            <a:off x="566928" y="2359152"/>
            <a:ext cx="3596640" cy="38039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7FCC925-773C-459A-1E7F-6255B4555097}"/>
              </a:ext>
            </a:extLst>
          </p:cNvPr>
          <p:cNvSpPr/>
          <p:nvPr/>
        </p:nvSpPr>
        <p:spPr>
          <a:xfrm>
            <a:off x="804672" y="2523744"/>
            <a:ext cx="274320" cy="274320"/>
          </a:xfrm>
          <a:prstGeom prst="ellipse">
            <a:avLst/>
          </a:prstGeom>
          <a:solidFill>
            <a:srgbClr val="15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DE03BE-4F6C-E84E-F90C-216C45855206}"/>
              </a:ext>
            </a:extLst>
          </p:cNvPr>
          <p:cNvSpPr txBox="1"/>
          <p:nvPr/>
        </p:nvSpPr>
        <p:spPr>
          <a:xfrm>
            <a:off x="804672" y="25786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B8B136-A2D6-6F95-F52F-C1302EA570A5}"/>
              </a:ext>
            </a:extLst>
          </p:cNvPr>
          <p:cNvSpPr txBox="1"/>
          <p:nvPr/>
        </p:nvSpPr>
        <p:spPr>
          <a:xfrm>
            <a:off x="801623" y="2816352"/>
            <a:ext cx="2267712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750" b="0" spc="90" dirty="0">
                <a:solidFill>
                  <a:srgbClr val="8A9BA1"/>
                </a:solidFill>
                <a:latin typeface="Consolas"/>
              </a:rPr>
              <a:t>ZACHOVÁNO</a:t>
            </a:r>
            <a:endParaRPr sz="750" b="0" spc="90" dirty="0">
              <a:solidFill>
                <a:srgbClr val="8A9BA1"/>
              </a:solidFill>
              <a:latin typeface="Consola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5B3D0B-D46D-96D2-A850-CFA124922058}"/>
              </a:ext>
            </a:extLst>
          </p:cNvPr>
          <p:cNvSpPr txBox="1"/>
          <p:nvPr/>
        </p:nvSpPr>
        <p:spPr>
          <a:xfrm>
            <a:off x="2987040" y="2816352"/>
            <a:ext cx="1261872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750" b="0" spc="90" dirty="0">
                <a:solidFill>
                  <a:srgbClr val="8A9BA1"/>
                </a:solidFill>
                <a:latin typeface="Consolas"/>
              </a:rPr>
              <a:t>VYSTŘIŽENO</a:t>
            </a:r>
            <a:endParaRPr sz="750" b="0" spc="90" dirty="0">
              <a:solidFill>
                <a:srgbClr val="8A9BA1"/>
              </a:solidFill>
              <a:latin typeface="Consolas"/>
            </a:endParaRPr>
          </a:p>
        </p:txBody>
      </p:sp>
      <p:sp>
        <p:nvSpPr>
          <p:cNvPr id="33" name="Rounded Rectangle 38">
            <a:extLst>
              <a:ext uri="{FF2B5EF4-FFF2-40B4-BE49-F238E27FC236}">
                <a16:creationId xmlns:a16="http://schemas.microsoft.com/office/drawing/2014/main" id="{80200FDA-BFD0-0EC2-284B-3555539DAA30}"/>
              </a:ext>
            </a:extLst>
          </p:cNvPr>
          <p:cNvSpPr/>
          <p:nvPr/>
        </p:nvSpPr>
        <p:spPr>
          <a:xfrm>
            <a:off x="801623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2F7B79-7F19-F186-5601-49A5ADBDD0B0}"/>
              </a:ext>
            </a:extLst>
          </p:cNvPr>
          <p:cNvSpPr txBox="1"/>
          <p:nvPr/>
        </p:nvSpPr>
        <p:spPr>
          <a:xfrm>
            <a:off x="801623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A</a:t>
            </a:r>
          </a:p>
        </p:txBody>
      </p:sp>
      <p:sp>
        <p:nvSpPr>
          <p:cNvPr id="35" name="Rounded Rectangle 40">
            <a:extLst>
              <a:ext uri="{FF2B5EF4-FFF2-40B4-BE49-F238E27FC236}">
                <a16:creationId xmlns:a16="http://schemas.microsoft.com/office/drawing/2014/main" id="{7EEE7C6F-F5C9-9671-14C2-0E3CB57654AB}"/>
              </a:ext>
            </a:extLst>
          </p:cNvPr>
          <p:cNvSpPr/>
          <p:nvPr/>
        </p:nvSpPr>
        <p:spPr>
          <a:xfrm>
            <a:off x="1130807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AF5E6"/>
          </a:solidFill>
          <a:ln w="22225">
            <a:solidFill>
              <a:srgbClr val="B9A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267D4C-A2C1-60AC-9473-EC77D220778A}"/>
              </a:ext>
            </a:extLst>
          </p:cNvPr>
          <p:cNvSpPr txBox="1"/>
          <p:nvPr/>
        </p:nvSpPr>
        <p:spPr>
          <a:xfrm>
            <a:off x="1130807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A7A3C"/>
                </a:solidFill>
                <a:latin typeface="Consolas"/>
              </a:rPr>
              <a:t>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06BB35-D476-E3C1-290B-D7BA226FD500}"/>
              </a:ext>
            </a:extLst>
          </p:cNvPr>
          <p:cNvSpPr txBox="1"/>
          <p:nvPr/>
        </p:nvSpPr>
        <p:spPr>
          <a:xfrm>
            <a:off x="856487" y="3438144"/>
            <a:ext cx="8412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A7A3C"/>
                </a:solidFill>
                <a:latin typeface="Consolas"/>
              </a:rPr>
              <a:t>T → G</a:t>
            </a:r>
          </a:p>
        </p:txBody>
      </p:sp>
      <p:sp>
        <p:nvSpPr>
          <p:cNvPr id="38" name="Rounded Rectangle 43">
            <a:extLst>
              <a:ext uri="{FF2B5EF4-FFF2-40B4-BE49-F238E27FC236}">
                <a16:creationId xmlns:a16="http://schemas.microsoft.com/office/drawing/2014/main" id="{B08302DE-440D-F8B4-72BE-6DE9D043107F}"/>
              </a:ext>
            </a:extLst>
          </p:cNvPr>
          <p:cNvSpPr/>
          <p:nvPr/>
        </p:nvSpPr>
        <p:spPr>
          <a:xfrm>
            <a:off x="1459991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CD6951-788E-D7A5-E9AC-52CE10753A15}"/>
              </a:ext>
            </a:extLst>
          </p:cNvPr>
          <p:cNvSpPr txBox="1"/>
          <p:nvPr/>
        </p:nvSpPr>
        <p:spPr>
          <a:xfrm>
            <a:off x="1459991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C</a:t>
            </a:r>
          </a:p>
        </p:txBody>
      </p:sp>
      <p:sp>
        <p:nvSpPr>
          <p:cNvPr id="40" name="Rounded Rectangle 45">
            <a:extLst>
              <a:ext uri="{FF2B5EF4-FFF2-40B4-BE49-F238E27FC236}">
                <a16:creationId xmlns:a16="http://schemas.microsoft.com/office/drawing/2014/main" id="{4D1450C1-4701-43B4-9F91-253D15BE57B8}"/>
              </a:ext>
            </a:extLst>
          </p:cNvPr>
          <p:cNvSpPr/>
          <p:nvPr/>
        </p:nvSpPr>
        <p:spPr>
          <a:xfrm>
            <a:off x="1789176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E3AFF4-981B-F7FE-D7E2-E8BEECDF3B4B}"/>
              </a:ext>
            </a:extLst>
          </p:cNvPr>
          <p:cNvSpPr txBox="1"/>
          <p:nvPr/>
        </p:nvSpPr>
        <p:spPr>
          <a:xfrm>
            <a:off x="1789176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G</a:t>
            </a:r>
          </a:p>
        </p:txBody>
      </p:sp>
      <p:sp>
        <p:nvSpPr>
          <p:cNvPr id="42" name="Rounded Rectangle 47">
            <a:extLst>
              <a:ext uri="{FF2B5EF4-FFF2-40B4-BE49-F238E27FC236}">
                <a16:creationId xmlns:a16="http://schemas.microsoft.com/office/drawing/2014/main" id="{ADFEEA54-08D8-9F21-8710-1AD8DE1DB285}"/>
              </a:ext>
            </a:extLst>
          </p:cNvPr>
          <p:cNvSpPr/>
          <p:nvPr/>
        </p:nvSpPr>
        <p:spPr>
          <a:xfrm>
            <a:off x="2118360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AFC85E-F263-B558-617D-980E7BD6F582}"/>
              </a:ext>
            </a:extLst>
          </p:cNvPr>
          <p:cNvSpPr txBox="1"/>
          <p:nvPr/>
        </p:nvSpPr>
        <p:spPr>
          <a:xfrm>
            <a:off x="2118360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C</a:t>
            </a:r>
          </a:p>
        </p:txBody>
      </p:sp>
      <p:sp>
        <p:nvSpPr>
          <p:cNvPr id="44" name="Rounded Rectangle 49">
            <a:extLst>
              <a:ext uri="{FF2B5EF4-FFF2-40B4-BE49-F238E27FC236}">
                <a16:creationId xmlns:a16="http://schemas.microsoft.com/office/drawing/2014/main" id="{46573C94-4A1A-9F05-50CE-1265B608AABC}"/>
              </a:ext>
            </a:extLst>
          </p:cNvPr>
          <p:cNvSpPr/>
          <p:nvPr/>
        </p:nvSpPr>
        <p:spPr>
          <a:xfrm>
            <a:off x="2447543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9F3634-A287-5617-BEFE-92F8D9EE1FB1}"/>
              </a:ext>
            </a:extLst>
          </p:cNvPr>
          <p:cNvSpPr txBox="1"/>
          <p:nvPr/>
        </p:nvSpPr>
        <p:spPr>
          <a:xfrm>
            <a:off x="2447543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A</a:t>
            </a:r>
          </a:p>
        </p:txBody>
      </p:sp>
      <p:sp>
        <p:nvSpPr>
          <p:cNvPr id="46" name="Rounded Rectangle 51">
            <a:extLst>
              <a:ext uri="{FF2B5EF4-FFF2-40B4-BE49-F238E27FC236}">
                <a16:creationId xmlns:a16="http://schemas.microsoft.com/office/drawing/2014/main" id="{8498EF85-942F-8F75-8A59-AFE9DF0E44E1}"/>
              </a:ext>
            </a:extLst>
          </p:cNvPr>
          <p:cNvSpPr/>
          <p:nvPr/>
        </p:nvSpPr>
        <p:spPr>
          <a:xfrm>
            <a:off x="2776728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B668B8-8D8F-AB6F-6AFE-89ABED2E3C04}"/>
              </a:ext>
            </a:extLst>
          </p:cNvPr>
          <p:cNvSpPr txBox="1"/>
          <p:nvPr/>
        </p:nvSpPr>
        <p:spPr>
          <a:xfrm>
            <a:off x="2776728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G</a:t>
            </a:r>
          </a:p>
        </p:txBody>
      </p:sp>
      <p:sp>
        <p:nvSpPr>
          <p:cNvPr id="48" name="Rounded Rectangle 53">
            <a:extLst>
              <a:ext uri="{FF2B5EF4-FFF2-40B4-BE49-F238E27FC236}">
                <a16:creationId xmlns:a16="http://schemas.microsoft.com/office/drawing/2014/main" id="{78163EC8-4987-55A1-B145-65B2B8E836B1}"/>
              </a:ext>
            </a:extLst>
          </p:cNvPr>
          <p:cNvSpPr/>
          <p:nvPr/>
        </p:nvSpPr>
        <p:spPr>
          <a:xfrm>
            <a:off x="3307080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7F9F9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C9468E-5953-645B-E73B-9548F79E6402}"/>
              </a:ext>
            </a:extLst>
          </p:cNvPr>
          <p:cNvSpPr txBox="1"/>
          <p:nvPr/>
        </p:nvSpPr>
        <p:spPr>
          <a:xfrm>
            <a:off x="3307080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4C0C4"/>
                </a:solidFill>
                <a:latin typeface="Consolas"/>
              </a:rPr>
              <a:t>G</a:t>
            </a:r>
          </a:p>
        </p:txBody>
      </p:sp>
      <p:sp>
        <p:nvSpPr>
          <p:cNvPr id="52" name="Rounded Rectangle 55">
            <a:extLst>
              <a:ext uri="{FF2B5EF4-FFF2-40B4-BE49-F238E27FC236}">
                <a16:creationId xmlns:a16="http://schemas.microsoft.com/office/drawing/2014/main" id="{0C3F8CAD-A911-9087-36BE-52C00A971550}"/>
              </a:ext>
            </a:extLst>
          </p:cNvPr>
          <p:cNvSpPr/>
          <p:nvPr/>
        </p:nvSpPr>
        <p:spPr>
          <a:xfrm>
            <a:off x="3636264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7F9F9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D1B9BE-FA6E-CB14-AB32-7A3E502729AA}"/>
              </a:ext>
            </a:extLst>
          </p:cNvPr>
          <p:cNvSpPr txBox="1"/>
          <p:nvPr/>
        </p:nvSpPr>
        <p:spPr>
          <a:xfrm>
            <a:off x="3636264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4C0C4"/>
                </a:solidFill>
                <a:latin typeface="Consolas"/>
              </a:rPr>
              <a:t>T</a:t>
            </a:r>
          </a:p>
        </p:txBody>
      </p:sp>
      <p:cxnSp>
        <p:nvCxnSpPr>
          <p:cNvPr id="56" name="Connector 57">
            <a:extLst>
              <a:ext uri="{FF2B5EF4-FFF2-40B4-BE49-F238E27FC236}">
                <a16:creationId xmlns:a16="http://schemas.microsoft.com/office/drawing/2014/main" id="{2BF48F0C-A575-BFF4-93EA-0868CF7E5810}"/>
              </a:ext>
            </a:extLst>
          </p:cNvPr>
          <p:cNvCxnSpPr/>
          <p:nvPr/>
        </p:nvCxnSpPr>
        <p:spPr>
          <a:xfrm>
            <a:off x="3188208" y="2953512"/>
            <a:ext cx="0" cy="530352"/>
          </a:xfrm>
          <a:prstGeom prst="line">
            <a:avLst/>
          </a:prstGeom>
          <a:ln w="19050">
            <a:solidFill>
              <a:srgbClr val="B0554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0E456D6-7EC8-E8AE-B7B2-C362CE1EC820}"/>
              </a:ext>
            </a:extLst>
          </p:cNvPr>
          <p:cNvSpPr txBox="1"/>
          <p:nvPr/>
        </p:nvSpPr>
        <p:spPr>
          <a:xfrm>
            <a:off x="2776728" y="3438144"/>
            <a:ext cx="822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50" b="0" dirty="0">
                <a:solidFill>
                  <a:srgbClr val="B0554A"/>
                </a:solidFill>
                <a:latin typeface="Consolas"/>
              </a:rPr>
              <a:t>střih</a:t>
            </a:r>
            <a:endParaRPr sz="850" b="0" dirty="0">
              <a:solidFill>
                <a:srgbClr val="B0554A"/>
              </a:solidFill>
              <a:latin typeface="Consolas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601BD372-63D5-FAF8-C76F-10E0C34FA5A6}"/>
              </a:ext>
            </a:extLst>
          </p:cNvPr>
          <p:cNvSpPr/>
          <p:nvPr/>
        </p:nvSpPr>
        <p:spPr>
          <a:xfrm>
            <a:off x="755903" y="3657600"/>
            <a:ext cx="3218689" cy="914400"/>
          </a:xfrm>
          <a:custGeom>
            <a:avLst/>
            <a:gdLst/>
            <a:ahLst/>
            <a:cxnLst/>
            <a:rect l="l" t="t" r="r" b="b"/>
            <a:pathLst>
              <a:path w="3218689" h="914400">
                <a:moveTo>
                  <a:pt x="0" y="0"/>
                </a:moveTo>
                <a:lnTo>
                  <a:pt x="3218689" y="0"/>
                </a:lnTo>
                <a:lnTo>
                  <a:pt x="2523745" y="914400"/>
                </a:lnTo>
                <a:lnTo>
                  <a:pt x="694944" y="914400"/>
                </a:lnTo>
                <a:close/>
              </a:path>
            </a:pathLst>
          </a:custGeom>
          <a:solidFill>
            <a:srgbClr val="E8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29E995-23D6-5DC2-12F1-C2200AB13439}"/>
              </a:ext>
            </a:extLst>
          </p:cNvPr>
          <p:cNvSpPr txBox="1"/>
          <p:nvPr/>
        </p:nvSpPr>
        <p:spPr>
          <a:xfrm>
            <a:off x="880993" y="3767328"/>
            <a:ext cx="296850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00" b="0" spc="70" dirty="0">
                <a:solidFill>
                  <a:srgbClr val="5B6E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SE OPÍŠE</a:t>
            </a:r>
            <a:endParaRPr sz="800" b="0" spc="70" dirty="0">
              <a:solidFill>
                <a:srgbClr val="5B6E7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B7C60F-AF18-B52C-9EE4-68FC0073D75C}"/>
              </a:ext>
            </a:extLst>
          </p:cNvPr>
          <p:cNvSpPr txBox="1"/>
          <p:nvPr/>
        </p:nvSpPr>
        <p:spPr>
          <a:xfrm>
            <a:off x="2090928" y="3899915"/>
            <a:ext cx="5486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8A9BA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▾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96F5751-42D5-FBAE-97E7-A31B0F1B38BC}"/>
              </a:ext>
            </a:extLst>
          </p:cNvPr>
          <p:cNvSpPr txBox="1"/>
          <p:nvPr/>
        </p:nvSpPr>
        <p:spPr>
          <a:xfrm>
            <a:off x="1079052" y="4027932"/>
            <a:ext cx="257239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00" spc="70" dirty="0">
                <a:solidFill>
                  <a:srgbClr val="5B6E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VYSTŘIHNE A SLEPÍ</a:t>
            </a:r>
            <a:endParaRPr sz="800" b="0" spc="70" dirty="0">
              <a:solidFill>
                <a:srgbClr val="5B6E7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E300149-C53F-1ECE-D047-8DEA183941BE}"/>
              </a:ext>
            </a:extLst>
          </p:cNvPr>
          <p:cNvSpPr txBox="1"/>
          <p:nvPr/>
        </p:nvSpPr>
        <p:spPr>
          <a:xfrm>
            <a:off x="2090928" y="4160520"/>
            <a:ext cx="5486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8A9BA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▾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0318F4-FC49-0773-4A87-4E6567FF4ADA}"/>
              </a:ext>
            </a:extLst>
          </p:cNvPr>
          <p:cNvSpPr txBox="1"/>
          <p:nvPr/>
        </p:nvSpPr>
        <p:spPr>
          <a:xfrm>
            <a:off x="1277112" y="4288536"/>
            <a:ext cx="2176271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00" spc="70" dirty="0">
                <a:solidFill>
                  <a:srgbClr val="5B6E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SESTAVÍ SE PROTEIN</a:t>
            </a:r>
            <a:endParaRPr sz="800" b="0" spc="70" dirty="0">
              <a:solidFill>
                <a:srgbClr val="5B6E7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Connector 65">
            <a:extLst>
              <a:ext uri="{FF2B5EF4-FFF2-40B4-BE49-F238E27FC236}">
                <a16:creationId xmlns:a16="http://schemas.microsoft.com/office/drawing/2014/main" id="{3B3CB8A5-C414-52FC-4E6B-86897767C5DC}"/>
              </a:ext>
            </a:extLst>
          </p:cNvPr>
          <p:cNvCxnSpPr/>
          <p:nvPr/>
        </p:nvCxnSpPr>
        <p:spPr>
          <a:xfrm flipH="1" flipV="1">
            <a:off x="1942520" y="5005197"/>
            <a:ext cx="55139" cy="131445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66">
            <a:extLst>
              <a:ext uri="{FF2B5EF4-FFF2-40B4-BE49-F238E27FC236}">
                <a16:creationId xmlns:a16="http://schemas.microsoft.com/office/drawing/2014/main" id="{29B7BE70-6E3D-E6DC-77FD-5131DDCA7DCC}"/>
              </a:ext>
            </a:extLst>
          </p:cNvPr>
          <p:cNvCxnSpPr/>
          <p:nvPr/>
        </p:nvCxnSpPr>
        <p:spPr>
          <a:xfrm flipV="1">
            <a:off x="1942520" y="4868037"/>
            <a:ext cx="64328" cy="137160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67">
            <a:extLst>
              <a:ext uri="{FF2B5EF4-FFF2-40B4-BE49-F238E27FC236}">
                <a16:creationId xmlns:a16="http://schemas.microsoft.com/office/drawing/2014/main" id="{F8D14FB0-227A-84A4-1EC7-9B37575173D1}"/>
              </a:ext>
            </a:extLst>
          </p:cNvPr>
          <p:cNvCxnSpPr/>
          <p:nvPr/>
        </p:nvCxnSpPr>
        <p:spPr>
          <a:xfrm flipV="1">
            <a:off x="2006848" y="4776597"/>
            <a:ext cx="147036" cy="91440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68">
            <a:extLst>
              <a:ext uri="{FF2B5EF4-FFF2-40B4-BE49-F238E27FC236}">
                <a16:creationId xmlns:a16="http://schemas.microsoft.com/office/drawing/2014/main" id="{C415A00E-A6E3-00FF-684B-44733CBE96FF}"/>
              </a:ext>
            </a:extLst>
          </p:cNvPr>
          <p:cNvCxnSpPr/>
          <p:nvPr/>
        </p:nvCxnSpPr>
        <p:spPr>
          <a:xfrm flipV="1">
            <a:off x="2153884" y="4742306"/>
            <a:ext cx="202174" cy="34291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69">
            <a:extLst>
              <a:ext uri="{FF2B5EF4-FFF2-40B4-BE49-F238E27FC236}">
                <a16:creationId xmlns:a16="http://schemas.microsoft.com/office/drawing/2014/main" id="{8E5E53FC-9E34-2E2C-FF2E-4D2AC65C62F6}"/>
              </a:ext>
            </a:extLst>
          </p:cNvPr>
          <p:cNvCxnSpPr/>
          <p:nvPr/>
        </p:nvCxnSpPr>
        <p:spPr>
          <a:xfrm>
            <a:off x="2356058" y="4742306"/>
            <a:ext cx="192984" cy="34291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70">
            <a:extLst>
              <a:ext uri="{FF2B5EF4-FFF2-40B4-BE49-F238E27FC236}">
                <a16:creationId xmlns:a16="http://schemas.microsoft.com/office/drawing/2014/main" id="{797EEA2F-49E4-5C26-F325-64608D99A39E}"/>
              </a:ext>
            </a:extLst>
          </p:cNvPr>
          <p:cNvCxnSpPr/>
          <p:nvPr/>
        </p:nvCxnSpPr>
        <p:spPr>
          <a:xfrm>
            <a:off x="2549042" y="4776597"/>
            <a:ext cx="128656" cy="91440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71">
            <a:extLst>
              <a:ext uri="{FF2B5EF4-FFF2-40B4-BE49-F238E27FC236}">
                <a16:creationId xmlns:a16="http://schemas.microsoft.com/office/drawing/2014/main" id="{FAAFCD16-63D7-F606-10B5-B29888FEDAF6}"/>
              </a:ext>
            </a:extLst>
          </p:cNvPr>
          <p:cNvCxnSpPr/>
          <p:nvPr/>
        </p:nvCxnSpPr>
        <p:spPr>
          <a:xfrm>
            <a:off x="2677698" y="4868037"/>
            <a:ext cx="27569" cy="131444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72">
            <a:extLst>
              <a:ext uri="{FF2B5EF4-FFF2-40B4-BE49-F238E27FC236}">
                <a16:creationId xmlns:a16="http://schemas.microsoft.com/office/drawing/2014/main" id="{C77FD1EF-FF55-8D87-D454-A383AFB0E322}"/>
              </a:ext>
            </a:extLst>
          </p:cNvPr>
          <p:cNvCxnSpPr/>
          <p:nvPr/>
        </p:nvCxnSpPr>
        <p:spPr>
          <a:xfrm flipH="1">
            <a:off x="2594990" y="4999481"/>
            <a:ext cx="110277" cy="97156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73">
            <a:extLst>
              <a:ext uri="{FF2B5EF4-FFF2-40B4-BE49-F238E27FC236}">
                <a16:creationId xmlns:a16="http://schemas.microsoft.com/office/drawing/2014/main" id="{EC569D3E-E3C6-0F2E-1AEE-14DDBD4A9A64}"/>
              </a:ext>
            </a:extLst>
          </p:cNvPr>
          <p:cNvCxnSpPr/>
          <p:nvPr/>
        </p:nvCxnSpPr>
        <p:spPr>
          <a:xfrm flipH="1">
            <a:off x="2411196" y="5096637"/>
            <a:ext cx="183794" cy="34290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74">
            <a:extLst>
              <a:ext uri="{FF2B5EF4-FFF2-40B4-BE49-F238E27FC236}">
                <a16:creationId xmlns:a16="http://schemas.microsoft.com/office/drawing/2014/main" id="{8EFA0193-8667-9147-6C26-2513CEE7B632}"/>
              </a:ext>
            </a:extLst>
          </p:cNvPr>
          <p:cNvCxnSpPr/>
          <p:nvPr/>
        </p:nvCxnSpPr>
        <p:spPr>
          <a:xfrm flipH="1" flipV="1">
            <a:off x="2254971" y="5073777"/>
            <a:ext cx="156225" cy="57150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75">
            <a:extLst>
              <a:ext uri="{FF2B5EF4-FFF2-40B4-BE49-F238E27FC236}">
                <a16:creationId xmlns:a16="http://schemas.microsoft.com/office/drawing/2014/main" id="{09C5141B-B0A2-0669-3E71-9A32D7D72076}"/>
              </a:ext>
            </a:extLst>
          </p:cNvPr>
          <p:cNvCxnSpPr/>
          <p:nvPr/>
        </p:nvCxnSpPr>
        <p:spPr>
          <a:xfrm flipH="1" flipV="1">
            <a:off x="2245781" y="4953762"/>
            <a:ext cx="9190" cy="120015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7BADDB2D-1CCA-B819-AB05-89B4FA5B9449}"/>
              </a:ext>
            </a:extLst>
          </p:cNvPr>
          <p:cNvSpPr/>
          <p:nvPr/>
        </p:nvSpPr>
        <p:spPr>
          <a:xfrm>
            <a:off x="1926793" y="5065776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2D218AA-CBCD-1062-EC00-8AA45EEF2174}"/>
              </a:ext>
            </a:extLst>
          </p:cNvPr>
          <p:cNvSpPr/>
          <p:nvPr/>
        </p:nvSpPr>
        <p:spPr>
          <a:xfrm>
            <a:off x="1871654" y="493433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A4FE4F0-2222-7A12-6D1D-58C87FE93C41}"/>
              </a:ext>
            </a:extLst>
          </p:cNvPr>
          <p:cNvSpPr/>
          <p:nvPr/>
        </p:nvSpPr>
        <p:spPr>
          <a:xfrm>
            <a:off x="1935982" y="479717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FED05FA-6D09-1AE0-99FE-FAA684C11C24}"/>
              </a:ext>
            </a:extLst>
          </p:cNvPr>
          <p:cNvSpPr/>
          <p:nvPr/>
        </p:nvSpPr>
        <p:spPr>
          <a:xfrm>
            <a:off x="2083018" y="470573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B05DF66-6B19-4D57-6790-F7DDC44C6490}"/>
              </a:ext>
            </a:extLst>
          </p:cNvPr>
          <p:cNvSpPr/>
          <p:nvPr/>
        </p:nvSpPr>
        <p:spPr>
          <a:xfrm>
            <a:off x="2285192" y="467144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DCF252CB-EF6F-7BFD-476C-E919933FABD6}"/>
              </a:ext>
            </a:extLst>
          </p:cNvPr>
          <p:cNvSpPr/>
          <p:nvPr/>
        </p:nvSpPr>
        <p:spPr>
          <a:xfrm>
            <a:off x="2478176" y="4705731"/>
            <a:ext cx="141732" cy="141732"/>
          </a:xfrm>
          <a:prstGeom prst="ellipse">
            <a:avLst/>
          </a:prstGeom>
          <a:solidFill>
            <a:srgbClr val="E3D8A6"/>
          </a:solidFill>
          <a:ln w="19050">
            <a:solidFill>
              <a:srgbClr val="B9A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5E3F7C0A-9575-64A1-C63E-2B269CB3D26D}"/>
              </a:ext>
            </a:extLst>
          </p:cNvPr>
          <p:cNvSpPr/>
          <p:nvPr/>
        </p:nvSpPr>
        <p:spPr>
          <a:xfrm>
            <a:off x="2606832" y="479717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B2B8A07-DB83-9844-12D7-05B26407DD83}"/>
              </a:ext>
            </a:extLst>
          </p:cNvPr>
          <p:cNvSpPr/>
          <p:nvPr/>
        </p:nvSpPr>
        <p:spPr>
          <a:xfrm>
            <a:off x="2634401" y="4928616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A50CE4D-EFD9-A929-A485-7764AC47B8AC}"/>
              </a:ext>
            </a:extLst>
          </p:cNvPr>
          <p:cNvSpPr/>
          <p:nvPr/>
        </p:nvSpPr>
        <p:spPr>
          <a:xfrm>
            <a:off x="2524124" y="502577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85EE8A93-B3E9-6F0C-B257-8B0687DD7219}"/>
              </a:ext>
            </a:extLst>
          </p:cNvPr>
          <p:cNvSpPr/>
          <p:nvPr/>
        </p:nvSpPr>
        <p:spPr>
          <a:xfrm>
            <a:off x="2340330" y="506006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3BA92796-E710-CAB9-2C60-9F0F402E7A98}"/>
              </a:ext>
            </a:extLst>
          </p:cNvPr>
          <p:cNvSpPr/>
          <p:nvPr/>
        </p:nvSpPr>
        <p:spPr>
          <a:xfrm>
            <a:off x="2184105" y="500291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9F7BE8F-80F3-A3A7-EE3D-8A2AAD471C0E}"/>
              </a:ext>
            </a:extLst>
          </p:cNvPr>
          <p:cNvSpPr/>
          <p:nvPr/>
        </p:nvSpPr>
        <p:spPr>
          <a:xfrm>
            <a:off x="2174915" y="4882896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5554E4E-AD4D-9240-978A-1C9C0BB8330A}"/>
              </a:ext>
            </a:extLst>
          </p:cNvPr>
          <p:cNvSpPr txBox="1"/>
          <p:nvPr/>
        </p:nvSpPr>
        <p:spPr>
          <a:xfrm>
            <a:off x="768096" y="5358383"/>
            <a:ext cx="3194304" cy="240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en-US" sz="1500" b="1" dirty="0" err="1">
                <a:solidFill>
                  <a:srgbClr val="1A2A31"/>
                </a:solidFill>
                <a:latin typeface="Segoe UI"/>
              </a:rPr>
              <a:t>Jedna</a:t>
            </a:r>
            <a:r>
              <a:rPr lang="en-US" sz="1500" b="1" dirty="0">
                <a:solidFill>
                  <a:srgbClr val="1A2A31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1A2A31"/>
                </a:solidFill>
                <a:latin typeface="Segoe UI"/>
              </a:rPr>
              <a:t>část</a:t>
            </a:r>
            <a:r>
              <a:rPr lang="en-US" sz="1500" b="1" dirty="0">
                <a:solidFill>
                  <a:srgbClr val="1A2A31"/>
                </a:solidFill>
                <a:latin typeface="Segoe UI"/>
              </a:rPr>
              <a:t> je </a:t>
            </a:r>
            <a:r>
              <a:rPr lang="en-US" sz="1500" b="1" dirty="0" err="1">
                <a:solidFill>
                  <a:srgbClr val="1A2A31"/>
                </a:solidFill>
                <a:latin typeface="Segoe UI"/>
              </a:rPr>
              <a:t>jiná</a:t>
            </a:r>
            <a:endParaRPr sz="1500" b="1" dirty="0">
              <a:solidFill>
                <a:srgbClr val="1A2A31"/>
              </a:solidFill>
              <a:latin typeface="Segoe UI"/>
            </a:endParaRPr>
          </a:p>
        </p:txBody>
      </p:sp>
      <p:cxnSp>
        <p:nvCxnSpPr>
          <p:cNvPr id="120" name="Connector 89">
            <a:extLst>
              <a:ext uri="{FF2B5EF4-FFF2-40B4-BE49-F238E27FC236}">
                <a16:creationId xmlns:a16="http://schemas.microsoft.com/office/drawing/2014/main" id="{885087AD-864B-186E-29B4-DE4A79B408D0}"/>
              </a:ext>
            </a:extLst>
          </p:cNvPr>
          <p:cNvCxnSpPr/>
          <p:nvPr/>
        </p:nvCxnSpPr>
        <p:spPr>
          <a:xfrm>
            <a:off x="1069848" y="5870448"/>
            <a:ext cx="2590799" cy="0"/>
          </a:xfrm>
          <a:prstGeom prst="line">
            <a:avLst/>
          </a:prstGeom>
          <a:ln w="9525">
            <a:solidFill>
              <a:srgbClr val="DC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DF3CD1B4-E6ED-F27E-B726-CC7F979B84AB}"/>
              </a:ext>
            </a:extLst>
          </p:cNvPr>
          <p:cNvSpPr txBox="1"/>
          <p:nvPr/>
        </p:nvSpPr>
        <p:spPr>
          <a:xfrm>
            <a:off x="768096" y="5925312"/>
            <a:ext cx="3194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A9BA1"/>
                </a:solidFill>
                <a:latin typeface="Consolas"/>
              </a:rPr>
              <a:t>BRCA1  c.181T&gt;G</a:t>
            </a:r>
          </a:p>
        </p:txBody>
      </p:sp>
      <p:sp>
        <p:nvSpPr>
          <p:cNvPr id="124" name="Rounded Rectangle 91">
            <a:extLst>
              <a:ext uri="{FF2B5EF4-FFF2-40B4-BE49-F238E27FC236}">
                <a16:creationId xmlns:a16="http://schemas.microsoft.com/office/drawing/2014/main" id="{AEEBC061-45F1-EE32-CC9E-AF3AB817BE30}"/>
              </a:ext>
            </a:extLst>
          </p:cNvPr>
          <p:cNvSpPr/>
          <p:nvPr/>
        </p:nvSpPr>
        <p:spPr>
          <a:xfrm>
            <a:off x="4305300" y="2359152"/>
            <a:ext cx="3596640" cy="38039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64C45EB8-C4C8-56E2-4FB4-0EEB41BEBD05}"/>
              </a:ext>
            </a:extLst>
          </p:cNvPr>
          <p:cNvSpPr/>
          <p:nvPr/>
        </p:nvSpPr>
        <p:spPr>
          <a:xfrm>
            <a:off x="4543044" y="2523744"/>
            <a:ext cx="274320" cy="274320"/>
          </a:xfrm>
          <a:prstGeom prst="ellipse">
            <a:avLst/>
          </a:prstGeom>
          <a:solidFill>
            <a:srgbClr val="15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913ED96-2228-8156-36D9-158C8BA75DD5}"/>
              </a:ext>
            </a:extLst>
          </p:cNvPr>
          <p:cNvSpPr txBox="1"/>
          <p:nvPr/>
        </p:nvSpPr>
        <p:spPr>
          <a:xfrm>
            <a:off x="4543044" y="25786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4863CB7-4DEA-7E97-7982-4053EFD5D72F}"/>
              </a:ext>
            </a:extLst>
          </p:cNvPr>
          <p:cNvSpPr txBox="1"/>
          <p:nvPr/>
        </p:nvSpPr>
        <p:spPr>
          <a:xfrm>
            <a:off x="4539996" y="2816352"/>
            <a:ext cx="226771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cs-CZ" sz="750" spc="90" dirty="0">
                <a:solidFill>
                  <a:srgbClr val="8A9BA1"/>
                </a:solidFill>
                <a:latin typeface="Consolas"/>
              </a:rPr>
              <a:t>ZACHOVÁNO</a:t>
            </a:r>
          </a:p>
          <a:p>
            <a:pPr algn="ctr">
              <a:spcAft>
                <a:spcPts val="0"/>
              </a:spcAft>
            </a:pPr>
            <a:endParaRPr sz="750" b="0" spc="90" dirty="0">
              <a:solidFill>
                <a:srgbClr val="8A9BA1"/>
              </a:solidFill>
              <a:latin typeface="Consola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32FA976-0052-81E9-6C19-99AD8DEF83AE}"/>
              </a:ext>
            </a:extLst>
          </p:cNvPr>
          <p:cNvSpPr txBox="1"/>
          <p:nvPr/>
        </p:nvSpPr>
        <p:spPr>
          <a:xfrm>
            <a:off x="6725412" y="2816352"/>
            <a:ext cx="126187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750" spc="90" dirty="0">
                <a:solidFill>
                  <a:srgbClr val="8A9BA1"/>
                </a:solidFill>
                <a:latin typeface="Consolas"/>
              </a:rPr>
              <a:t>VYSTŘIŽENO</a:t>
            </a:r>
          </a:p>
          <a:p>
            <a:pPr algn="ctr">
              <a:spcAft>
                <a:spcPts val="0"/>
              </a:spcAft>
            </a:pPr>
            <a:endParaRPr sz="750" b="0" spc="90" dirty="0">
              <a:solidFill>
                <a:srgbClr val="8A9BA1"/>
              </a:solidFill>
              <a:latin typeface="Consolas"/>
            </a:endParaRPr>
          </a:p>
        </p:txBody>
      </p:sp>
      <p:sp>
        <p:nvSpPr>
          <p:cNvPr id="134" name="Rounded Rectangle 96">
            <a:extLst>
              <a:ext uri="{FF2B5EF4-FFF2-40B4-BE49-F238E27FC236}">
                <a16:creationId xmlns:a16="http://schemas.microsoft.com/office/drawing/2014/main" id="{374FAA0F-E848-92EA-FC88-5BEC9FBD3B08}"/>
              </a:ext>
            </a:extLst>
          </p:cNvPr>
          <p:cNvSpPr/>
          <p:nvPr/>
        </p:nvSpPr>
        <p:spPr>
          <a:xfrm>
            <a:off x="4539996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5A47176-2400-39DD-FC79-B2BD6BBEA8A3}"/>
              </a:ext>
            </a:extLst>
          </p:cNvPr>
          <p:cNvSpPr txBox="1"/>
          <p:nvPr/>
        </p:nvSpPr>
        <p:spPr>
          <a:xfrm>
            <a:off x="4539996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A</a:t>
            </a:r>
          </a:p>
        </p:txBody>
      </p:sp>
      <p:sp>
        <p:nvSpPr>
          <p:cNvPr id="138" name="Rounded Rectangle 98">
            <a:extLst>
              <a:ext uri="{FF2B5EF4-FFF2-40B4-BE49-F238E27FC236}">
                <a16:creationId xmlns:a16="http://schemas.microsoft.com/office/drawing/2014/main" id="{811AB4AE-63AC-DC84-12DC-8E62BFC5E8F4}"/>
              </a:ext>
            </a:extLst>
          </p:cNvPr>
          <p:cNvSpPr/>
          <p:nvPr/>
        </p:nvSpPr>
        <p:spPr>
          <a:xfrm>
            <a:off x="4869180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373C9F8-34CE-08B4-3F9C-DC1174E50DA6}"/>
              </a:ext>
            </a:extLst>
          </p:cNvPr>
          <p:cNvSpPr txBox="1"/>
          <p:nvPr/>
        </p:nvSpPr>
        <p:spPr>
          <a:xfrm>
            <a:off x="4869180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T</a:t>
            </a:r>
          </a:p>
        </p:txBody>
      </p:sp>
      <p:sp>
        <p:nvSpPr>
          <p:cNvPr id="141" name="Rounded Rectangle 100">
            <a:extLst>
              <a:ext uri="{FF2B5EF4-FFF2-40B4-BE49-F238E27FC236}">
                <a16:creationId xmlns:a16="http://schemas.microsoft.com/office/drawing/2014/main" id="{607F23F6-12DC-01DD-65FD-60DC879E3E00}"/>
              </a:ext>
            </a:extLst>
          </p:cNvPr>
          <p:cNvSpPr/>
          <p:nvPr/>
        </p:nvSpPr>
        <p:spPr>
          <a:xfrm>
            <a:off x="5198364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422C0BA-7F88-0F2C-AB2E-DCB39553211E}"/>
              </a:ext>
            </a:extLst>
          </p:cNvPr>
          <p:cNvSpPr txBox="1"/>
          <p:nvPr/>
        </p:nvSpPr>
        <p:spPr>
          <a:xfrm>
            <a:off x="5198364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C</a:t>
            </a:r>
          </a:p>
        </p:txBody>
      </p:sp>
      <p:sp>
        <p:nvSpPr>
          <p:cNvPr id="143" name="Rounded Rectangle 102">
            <a:extLst>
              <a:ext uri="{FF2B5EF4-FFF2-40B4-BE49-F238E27FC236}">
                <a16:creationId xmlns:a16="http://schemas.microsoft.com/office/drawing/2014/main" id="{2D9C5DCA-5059-5B35-17C5-F08772D191B5}"/>
              </a:ext>
            </a:extLst>
          </p:cNvPr>
          <p:cNvSpPr/>
          <p:nvPr/>
        </p:nvSpPr>
        <p:spPr>
          <a:xfrm>
            <a:off x="5527548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FB142A9-7E66-F56A-69DB-1EF4F5703E95}"/>
              </a:ext>
            </a:extLst>
          </p:cNvPr>
          <p:cNvSpPr txBox="1"/>
          <p:nvPr/>
        </p:nvSpPr>
        <p:spPr>
          <a:xfrm>
            <a:off x="5527548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G</a:t>
            </a:r>
          </a:p>
        </p:txBody>
      </p:sp>
      <p:sp>
        <p:nvSpPr>
          <p:cNvPr id="145" name="Rounded Rectangle 104">
            <a:extLst>
              <a:ext uri="{FF2B5EF4-FFF2-40B4-BE49-F238E27FC236}">
                <a16:creationId xmlns:a16="http://schemas.microsoft.com/office/drawing/2014/main" id="{F456A3B1-D54D-5F67-3FDA-8E23E7CFE7E9}"/>
              </a:ext>
            </a:extLst>
          </p:cNvPr>
          <p:cNvSpPr/>
          <p:nvPr/>
        </p:nvSpPr>
        <p:spPr>
          <a:xfrm>
            <a:off x="5856731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CB346C6-814B-0EB2-49E3-F1BEBA0EE826}"/>
              </a:ext>
            </a:extLst>
          </p:cNvPr>
          <p:cNvSpPr txBox="1"/>
          <p:nvPr/>
        </p:nvSpPr>
        <p:spPr>
          <a:xfrm>
            <a:off x="5856731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C</a:t>
            </a:r>
          </a:p>
        </p:txBody>
      </p:sp>
      <p:sp>
        <p:nvSpPr>
          <p:cNvPr id="147" name="Rounded Rectangle 106">
            <a:extLst>
              <a:ext uri="{FF2B5EF4-FFF2-40B4-BE49-F238E27FC236}">
                <a16:creationId xmlns:a16="http://schemas.microsoft.com/office/drawing/2014/main" id="{7FF0CB77-5895-FD28-5A52-B07108FF9AB7}"/>
              </a:ext>
            </a:extLst>
          </p:cNvPr>
          <p:cNvSpPr/>
          <p:nvPr/>
        </p:nvSpPr>
        <p:spPr>
          <a:xfrm>
            <a:off x="6185916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200A2D5-8809-D315-14DE-9E0CB6F916B4}"/>
              </a:ext>
            </a:extLst>
          </p:cNvPr>
          <p:cNvSpPr txBox="1"/>
          <p:nvPr/>
        </p:nvSpPr>
        <p:spPr>
          <a:xfrm>
            <a:off x="6185916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A</a:t>
            </a:r>
          </a:p>
        </p:txBody>
      </p:sp>
      <p:sp>
        <p:nvSpPr>
          <p:cNvPr id="149" name="Rounded Rectangle 108">
            <a:extLst>
              <a:ext uri="{FF2B5EF4-FFF2-40B4-BE49-F238E27FC236}">
                <a16:creationId xmlns:a16="http://schemas.microsoft.com/office/drawing/2014/main" id="{BA149124-B655-7B27-12B2-7F75604CF5E3}"/>
              </a:ext>
            </a:extLst>
          </p:cNvPr>
          <p:cNvSpPr/>
          <p:nvPr/>
        </p:nvSpPr>
        <p:spPr>
          <a:xfrm>
            <a:off x="6515100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914C9A4-C3D3-17A9-0844-E8D803B286E9}"/>
              </a:ext>
            </a:extLst>
          </p:cNvPr>
          <p:cNvSpPr txBox="1"/>
          <p:nvPr/>
        </p:nvSpPr>
        <p:spPr>
          <a:xfrm>
            <a:off x="6515100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G</a:t>
            </a:r>
          </a:p>
        </p:txBody>
      </p:sp>
      <p:sp>
        <p:nvSpPr>
          <p:cNvPr id="151" name="Rounded Rectangle 110">
            <a:extLst>
              <a:ext uri="{FF2B5EF4-FFF2-40B4-BE49-F238E27FC236}">
                <a16:creationId xmlns:a16="http://schemas.microsoft.com/office/drawing/2014/main" id="{25BC3784-B25B-50DC-9F3F-0BE3B6025C7E}"/>
              </a:ext>
            </a:extLst>
          </p:cNvPr>
          <p:cNvSpPr/>
          <p:nvPr/>
        </p:nvSpPr>
        <p:spPr>
          <a:xfrm>
            <a:off x="7045452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AF5E6"/>
          </a:solidFill>
          <a:ln w="22225">
            <a:solidFill>
              <a:srgbClr val="B9A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BBF4A24-BBC7-517D-22AC-9856B7EDEA04}"/>
              </a:ext>
            </a:extLst>
          </p:cNvPr>
          <p:cNvSpPr txBox="1"/>
          <p:nvPr/>
        </p:nvSpPr>
        <p:spPr>
          <a:xfrm>
            <a:off x="7045452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A7A3C"/>
                </a:solidFill>
                <a:latin typeface="Consolas"/>
              </a:rPr>
              <a:t>A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2AD6886-5E6B-9431-CA08-46413F18BF66}"/>
              </a:ext>
            </a:extLst>
          </p:cNvPr>
          <p:cNvSpPr txBox="1"/>
          <p:nvPr/>
        </p:nvSpPr>
        <p:spPr>
          <a:xfrm>
            <a:off x="6771132" y="3438144"/>
            <a:ext cx="8412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A7A3C"/>
                </a:solidFill>
                <a:latin typeface="Consolas"/>
              </a:rPr>
              <a:t>G → A</a:t>
            </a:r>
          </a:p>
        </p:txBody>
      </p:sp>
      <p:sp>
        <p:nvSpPr>
          <p:cNvPr id="154" name="Rounded Rectangle 113">
            <a:extLst>
              <a:ext uri="{FF2B5EF4-FFF2-40B4-BE49-F238E27FC236}">
                <a16:creationId xmlns:a16="http://schemas.microsoft.com/office/drawing/2014/main" id="{A8314AFA-5001-51F6-A9CE-8B5BB3A5A8B8}"/>
              </a:ext>
            </a:extLst>
          </p:cNvPr>
          <p:cNvSpPr/>
          <p:nvPr/>
        </p:nvSpPr>
        <p:spPr>
          <a:xfrm>
            <a:off x="7374636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7F9F9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CE08DBB-9702-4972-096F-88F75DC556BC}"/>
              </a:ext>
            </a:extLst>
          </p:cNvPr>
          <p:cNvSpPr txBox="1"/>
          <p:nvPr/>
        </p:nvSpPr>
        <p:spPr>
          <a:xfrm>
            <a:off x="7374636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4C0C4"/>
                </a:solidFill>
                <a:latin typeface="Consolas"/>
              </a:rPr>
              <a:t>T</a:t>
            </a:r>
          </a:p>
        </p:txBody>
      </p:sp>
      <p:cxnSp>
        <p:nvCxnSpPr>
          <p:cNvPr id="156" name="Connector 115">
            <a:extLst>
              <a:ext uri="{FF2B5EF4-FFF2-40B4-BE49-F238E27FC236}">
                <a16:creationId xmlns:a16="http://schemas.microsoft.com/office/drawing/2014/main" id="{3E686242-A385-F799-F32B-F2DEBDF9365C}"/>
              </a:ext>
            </a:extLst>
          </p:cNvPr>
          <p:cNvCxnSpPr/>
          <p:nvPr/>
        </p:nvCxnSpPr>
        <p:spPr>
          <a:xfrm>
            <a:off x="6926580" y="2953512"/>
            <a:ext cx="0" cy="530352"/>
          </a:xfrm>
          <a:prstGeom prst="line">
            <a:avLst/>
          </a:prstGeom>
          <a:ln w="19050">
            <a:solidFill>
              <a:srgbClr val="B0554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A3C7B0EC-1F79-D61E-6140-8D96F95E7F39}"/>
              </a:ext>
            </a:extLst>
          </p:cNvPr>
          <p:cNvSpPr txBox="1"/>
          <p:nvPr/>
        </p:nvSpPr>
        <p:spPr>
          <a:xfrm>
            <a:off x="5966460" y="343814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cs-CZ" sz="850" b="0" dirty="0">
                <a:solidFill>
                  <a:srgbClr val="B0554A"/>
                </a:solidFill>
                <a:latin typeface="Consolas"/>
              </a:rPr>
              <a:t>střih</a:t>
            </a:r>
            <a:endParaRPr sz="850" b="0" dirty="0">
              <a:solidFill>
                <a:srgbClr val="B0554A"/>
              </a:solidFill>
              <a:latin typeface="Consolas"/>
            </a:endParaRPr>
          </a:p>
        </p:txBody>
      </p:sp>
      <p:cxnSp>
        <p:nvCxnSpPr>
          <p:cNvPr id="164" name="Connector 123">
            <a:extLst>
              <a:ext uri="{FF2B5EF4-FFF2-40B4-BE49-F238E27FC236}">
                <a16:creationId xmlns:a16="http://schemas.microsoft.com/office/drawing/2014/main" id="{08D933BA-AD35-F34D-A0F7-996CA52E7DDF}"/>
              </a:ext>
            </a:extLst>
          </p:cNvPr>
          <p:cNvCxnSpPr/>
          <p:nvPr/>
        </p:nvCxnSpPr>
        <p:spPr>
          <a:xfrm flipH="1" flipV="1">
            <a:off x="5680892" y="5005197"/>
            <a:ext cx="55139" cy="131445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24">
            <a:extLst>
              <a:ext uri="{FF2B5EF4-FFF2-40B4-BE49-F238E27FC236}">
                <a16:creationId xmlns:a16="http://schemas.microsoft.com/office/drawing/2014/main" id="{C834F9B0-2B88-841D-3038-721DA7394E10}"/>
              </a:ext>
            </a:extLst>
          </p:cNvPr>
          <p:cNvCxnSpPr/>
          <p:nvPr/>
        </p:nvCxnSpPr>
        <p:spPr>
          <a:xfrm flipV="1">
            <a:off x="5680892" y="4868037"/>
            <a:ext cx="64328" cy="137160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25">
            <a:extLst>
              <a:ext uri="{FF2B5EF4-FFF2-40B4-BE49-F238E27FC236}">
                <a16:creationId xmlns:a16="http://schemas.microsoft.com/office/drawing/2014/main" id="{22E1392E-500F-F99A-ADDC-D1A0C06983B1}"/>
              </a:ext>
            </a:extLst>
          </p:cNvPr>
          <p:cNvCxnSpPr/>
          <p:nvPr/>
        </p:nvCxnSpPr>
        <p:spPr>
          <a:xfrm flipV="1">
            <a:off x="5745220" y="4776597"/>
            <a:ext cx="147036" cy="91440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26">
            <a:extLst>
              <a:ext uri="{FF2B5EF4-FFF2-40B4-BE49-F238E27FC236}">
                <a16:creationId xmlns:a16="http://schemas.microsoft.com/office/drawing/2014/main" id="{E1A1F8E4-FD9F-3F6F-67D4-19A7B4E41429}"/>
              </a:ext>
            </a:extLst>
          </p:cNvPr>
          <p:cNvCxnSpPr/>
          <p:nvPr/>
        </p:nvCxnSpPr>
        <p:spPr>
          <a:xfrm flipV="1">
            <a:off x="5892256" y="4742306"/>
            <a:ext cx="202174" cy="34291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27">
            <a:extLst>
              <a:ext uri="{FF2B5EF4-FFF2-40B4-BE49-F238E27FC236}">
                <a16:creationId xmlns:a16="http://schemas.microsoft.com/office/drawing/2014/main" id="{CFC0FF63-7806-0AE2-BA2B-49DDE6BF2918}"/>
              </a:ext>
            </a:extLst>
          </p:cNvPr>
          <p:cNvCxnSpPr/>
          <p:nvPr/>
        </p:nvCxnSpPr>
        <p:spPr>
          <a:xfrm>
            <a:off x="6094430" y="4742306"/>
            <a:ext cx="192984" cy="34291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28">
            <a:extLst>
              <a:ext uri="{FF2B5EF4-FFF2-40B4-BE49-F238E27FC236}">
                <a16:creationId xmlns:a16="http://schemas.microsoft.com/office/drawing/2014/main" id="{84726128-61F6-9916-E7FE-A8F24B2B0D6A}"/>
              </a:ext>
            </a:extLst>
          </p:cNvPr>
          <p:cNvCxnSpPr/>
          <p:nvPr/>
        </p:nvCxnSpPr>
        <p:spPr>
          <a:xfrm>
            <a:off x="6434449" y="4908042"/>
            <a:ext cx="101087" cy="114300"/>
          </a:xfrm>
          <a:prstGeom prst="line">
            <a:avLst/>
          </a:prstGeom>
          <a:ln w="19050">
            <a:solidFill>
              <a:srgbClr val="B05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29">
            <a:extLst>
              <a:ext uri="{FF2B5EF4-FFF2-40B4-BE49-F238E27FC236}">
                <a16:creationId xmlns:a16="http://schemas.microsoft.com/office/drawing/2014/main" id="{BCD88819-8AE0-2C0A-5B06-A0CFA55A907F}"/>
              </a:ext>
            </a:extLst>
          </p:cNvPr>
          <p:cNvCxnSpPr/>
          <p:nvPr/>
        </p:nvCxnSpPr>
        <p:spPr>
          <a:xfrm flipH="1">
            <a:off x="6517157" y="5022342"/>
            <a:ext cx="18379" cy="142875"/>
          </a:xfrm>
          <a:prstGeom prst="line">
            <a:avLst/>
          </a:prstGeom>
          <a:ln w="19050">
            <a:solidFill>
              <a:srgbClr val="B05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30">
            <a:extLst>
              <a:ext uri="{FF2B5EF4-FFF2-40B4-BE49-F238E27FC236}">
                <a16:creationId xmlns:a16="http://schemas.microsoft.com/office/drawing/2014/main" id="{437553B8-F1F0-D7DA-EF29-87EC59C33B3B}"/>
              </a:ext>
            </a:extLst>
          </p:cNvPr>
          <p:cNvCxnSpPr/>
          <p:nvPr/>
        </p:nvCxnSpPr>
        <p:spPr>
          <a:xfrm flipH="1" flipV="1">
            <a:off x="6149568" y="5130927"/>
            <a:ext cx="367589" cy="34290"/>
          </a:xfrm>
          <a:prstGeom prst="line">
            <a:avLst/>
          </a:prstGeom>
          <a:ln w="12700">
            <a:solidFill>
              <a:srgbClr val="DCE4E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31">
            <a:extLst>
              <a:ext uri="{FF2B5EF4-FFF2-40B4-BE49-F238E27FC236}">
                <a16:creationId xmlns:a16="http://schemas.microsoft.com/office/drawing/2014/main" id="{F1A01EFA-F466-3A4A-9771-D68DE76218F0}"/>
              </a:ext>
            </a:extLst>
          </p:cNvPr>
          <p:cNvCxnSpPr/>
          <p:nvPr/>
        </p:nvCxnSpPr>
        <p:spPr>
          <a:xfrm flipH="1" flipV="1">
            <a:off x="5993343" y="5073777"/>
            <a:ext cx="156225" cy="57150"/>
          </a:xfrm>
          <a:prstGeom prst="line">
            <a:avLst/>
          </a:prstGeom>
          <a:ln w="12700">
            <a:solidFill>
              <a:srgbClr val="DCE4E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32">
            <a:extLst>
              <a:ext uri="{FF2B5EF4-FFF2-40B4-BE49-F238E27FC236}">
                <a16:creationId xmlns:a16="http://schemas.microsoft.com/office/drawing/2014/main" id="{B73620EE-74F6-9356-0393-86C87B8AEDC3}"/>
              </a:ext>
            </a:extLst>
          </p:cNvPr>
          <p:cNvCxnSpPr/>
          <p:nvPr/>
        </p:nvCxnSpPr>
        <p:spPr>
          <a:xfrm flipH="1" flipV="1">
            <a:off x="5984153" y="4953762"/>
            <a:ext cx="9190" cy="120015"/>
          </a:xfrm>
          <a:prstGeom prst="line">
            <a:avLst/>
          </a:prstGeom>
          <a:ln w="12700">
            <a:solidFill>
              <a:srgbClr val="DCE4E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67C5487F-927D-0EE8-58F4-5584CEB7729A}"/>
              </a:ext>
            </a:extLst>
          </p:cNvPr>
          <p:cNvSpPr/>
          <p:nvPr/>
        </p:nvSpPr>
        <p:spPr>
          <a:xfrm>
            <a:off x="5665165" y="5065776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B0AEBC0-B925-B7E0-9B57-A5358DB3AC93}"/>
              </a:ext>
            </a:extLst>
          </p:cNvPr>
          <p:cNvSpPr/>
          <p:nvPr/>
        </p:nvSpPr>
        <p:spPr>
          <a:xfrm>
            <a:off x="5610026" y="493433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B1777996-CC66-60E5-206F-141F5DC71C18}"/>
              </a:ext>
            </a:extLst>
          </p:cNvPr>
          <p:cNvSpPr/>
          <p:nvPr/>
        </p:nvSpPr>
        <p:spPr>
          <a:xfrm>
            <a:off x="5674354" y="479717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0327EAE6-A645-1E54-8E9D-252FE2B7A491}"/>
              </a:ext>
            </a:extLst>
          </p:cNvPr>
          <p:cNvSpPr/>
          <p:nvPr/>
        </p:nvSpPr>
        <p:spPr>
          <a:xfrm>
            <a:off x="5821390" y="470573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28C62846-0E79-4942-31DB-C06D1F9C082F}"/>
              </a:ext>
            </a:extLst>
          </p:cNvPr>
          <p:cNvSpPr/>
          <p:nvPr/>
        </p:nvSpPr>
        <p:spPr>
          <a:xfrm>
            <a:off x="6023564" y="467144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57890819-DE69-3C7E-BBF1-2E539786282A}"/>
              </a:ext>
            </a:extLst>
          </p:cNvPr>
          <p:cNvSpPr/>
          <p:nvPr/>
        </p:nvSpPr>
        <p:spPr>
          <a:xfrm>
            <a:off x="6216548" y="470573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6FAE53CD-0E84-BDCE-3DC0-D1235107FE72}"/>
              </a:ext>
            </a:extLst>
          </p:cNvPr>
          <p:cNvSpPr/>
          <p:nvPr/>
        </p:nvSpPr>
        <p:spPr>
          <a:xfrm>
            <a:off x="6363583" y="4837176"/>
            <a:ext cx="141732" cy="141732"/>
          </a:xfrm>
          <a:prstGeom prst="ellipse">
            <a:avLst/>
          </a:prstGeom>
          <a:solidFill>
            <a:srgbClr val="D8A8A0"/>
          </a:solidFill>
          <a:ln w="19050">
            <a:solidFill>
              <a:srgbClr val="B05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C2077909-F5E2-26C0-D9CF-E4A676712653}"/>
              </a:ext>
            </a:extLst>
          </p:cNvPr>
          <p:cNvSpPr/>
          <p:nvPr/>
        </p:nvSpPr>
        <p:spPr>
          <a:xfrm>
            <a:off x="6464670" y="4951476"/>
            <a:ext cx="141732" cy="141732"/>
          </a:xfrm>
          <a:prstGeom prst="ellipse">
            <a:avLst/>
          </a:prstGeom>
          <a:solidFill>
            <a:srgbClr val="D8A8A0"/>
          </a:solidFill>
          <a:ln w="19050">
            <a:solidFill>
              <a:srgbClr val="B05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703C2C32-3B16-CC97-10E1-99429EA6AA5E}"/>
              </a:ext>
            </a:extLst>
          </p:cNvPr>
          <p:cNvSpPr/>
          <p:nvPr/>
        </p:nvSpPr>
        <p:spPr>
          <a:xfrm>
            <a:off x="6446291" y="5094351"/>
            <a:ext cx="141732" cy="141732"/>
          </a:xfrm>
          <a:prstGeom prst="ellipse">
            <a:avLst/>
          </a:prstGeom>
          <a:solidFill>
            <a:srgbClr val="D8A8A0"/>
          </a:solidFill>
          <a:ln w="19050">
            <a:solidFill>
              <a:srgbClr val="B05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DB2DC60-0798-1EF0-97F7-7668D0EB65D0}"/>
              </a:ext>
            </a:extLst>
          </p:cNvPr>
          <p:cNvSpPr/>
          <p:nvPr/>
        </p:nvSpPr>
        <p:spPr>
          <a:xfrm>
            <a:off x="6078702" y="5060061"/>
            <a:ext cx="141732" cy="1417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F50207DD-1196-4D37-24EA-A93DCB27C2BA}"/>
              </a:ext>
            </a:extLst>
          </p:cNvPr>
          <p:cNvSpPr/>
          <p:nvPr/>
        </p:nvSpPr>
        <p:spPr>
          <a:xfrm>
            <a:off x="5922477" y="5002911"/>
            <a:ext cx="141732" cy="1417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527AC742-D1CB-7560-A5A9-F71D97F9C9A9}"/>
              </a:ext>
            </a:extLst>
          </p:cNvPr>
          <p:cNvSpPr/>
          <p:nvPr/>
        </p:nvSpPr>
        <p:spPr>
          <a:xfrm>
            <a:off x="5913287" y="4882896"/>
            <a:ext cx="141732" cy="1417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6" name="Connector 145">
            <a:extLst>
              <a:ext uri="{FF2B5EF4-FFF2-40B4-BE49-F238E27FC236}">
                <a16:creationId xmlns:a16="http://schemas.microsoft.com/office/drawing/2014/main" id="{3C21EC1A-7D76-5C8C-5425-9FC98680BEDE}"/>
              </a:ext>
            </a:extLst>
          </p:cNvPr>
          <p:cNvCxnSpPr/>
          <p:nvPr/>
        </p:nvCxnSpPr>
        <p:spPr>
          <a:xfrm>
            <a:off x="6278636" y="4750879"/>
            <a:ext cx="164592" cy="182880"/>
          </a:xfrm>
          <a:prstGeom prst="line">
            <a:avLst/>
          </a:prstGeom>
          <a:ln w="25400">
            <a:solidFill>
              <a:srgbClr val="B05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46">
            <a:extLst>
              <a:ext uri="{FF2B5EF4-FFF2-40B4-BE49-F238E27FC236}">
                <a16:creationId xmlns:a16="http://schemas.microsoft.com/office/drawing/2014/main" id="{337672E4-69F9-36E5-7FCA-C238EA1A72F7}"/>
              </a:ext>
            </a:extLst>
          </p:cNvPr>
          <p:cNvCxnSpPr/>
          <p:nvPr/>
        </p:nvCxnSpPr>
        <p:spPr>
          <a:xfrm flipV="1">
            <a:off x="6278636" y="4750879"/>
            <a:ext cx="164592" cy="182880"/>
          </a:xfrm>
          <a:prstGeom prst="line">
            <a:avLst/>
          </a:prstGeom>
          <a:ln w="25400">
            <a:solidFill>
              <a:srgbClr val="B05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6BC203F0-ED68-C39A-7036-66B3C52BC2C6}"/>
              </a:ext>
            </a:extLst>
          </p:cNvPr>
          <p:cNvSpPr txBox="1"/>
          <p:nvPr/>
        </p:nvSpPr>
        <p:spPr>
          <a:xfrm>
            <a:off x="4506467" y="5358383"/>
            <a:ext cx="3194304" cy="240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en-US" sz="1500" b="1" dirty="0" err="1">
                <a:solidFill>
                  <a:srgbClr val="1A2A31"/>
                </a:solidFill>
                <a:latin typeface="Segoe UI"/>
              </a:rPr>
              <a:t>Slepeno</a:t>
            </a:r>
            <a:r>
              <a:rPr lang="en-US" sz="1500" b="1" dirty="0">
                <a:solidFill>
                  <a:srgbClr val="1A2A31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1A2A31"/>
                </a:solidFill>
                <a:latin typeface="Segoe UI"/>
              </a:rPr>
              <a:t>na</a:t>
            </a:r>
            <a:r>
              <a:rPr lang="en-US" sz="1500" b="1" dirty="0">
                <a:solidFill>
                  <a:srgbClr val="1A2A31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1A2A31"/>
                </a:solidFill>
                <a:latin typeface="Segoe UI"/>
              </a:rPr>
              <a:t>špatném</a:t>
            </a:r>
            <a:r>
              <a:rPr lang="en-US" sz="1500" b="1" dirty="0">
                <a:solidFill>
                  <a:srgbClr val="1A2A31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1A2A31"/>
                </a:solidFill>
                <a:latin typeface="Segoe UI"/>
              </a:rPr>
              <a:t>místě</a:t>
            </a:r>
            <a:endParaRPr sz="1500" b="1" dirty="0">
              <a:solidFill>
                <a:srgbClr val="1A2A31"/>
              </a:solidFill>
              <a:latin typeface="Segoe UI"/>
            </a:endParaRPr>
          </a:p>
        </p:txBody>
      </p:sp>
      <p:cxnSp>
        <p:nvCxnSpPr>
          <p:cNvPr id="189" name="Connector 148">
            <a:extLst>
              <a:ext uri="{FF2B5EF4-FFF2-40B4-BE49-F238E27FC236}">
                <a16:creationId xmlns:a16="http://schemas.microsoft.com/office/drawing/2014/main" id="{ECF10135-4738-DA51-57F8-EB9608FBE47A}"/>
              </a:ext>
            </a:extLst>
          </p:cNvPr>
          <p:cNvCxnSpPr/>
          <p:nvPr/>
        </p:nvCxnSpPr>
        <p:spPr>
          <a:xfrm>
            <a:off x="4808220" y="5870448"/>
            <a:ext cx="2590799" cy="0"/>
          </a:xfrm>
          <a:prstGeom prst="line">
            <a:avLst/>
          </a:prstGeom>
          <a:ln w="9525">
            <a:solidFill>
              <a:srgbClr val="DC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B2977B86-67AD-860A-7D67-7993CAAC8494}"/>
              </a:ext>
            </a:extLst>
          </p:cNvPr>
          <p:cNvSpPr txBox="1"/>
          <p:nvPr/>
        </p:nvSpPr>
        <p:spPr>
          <a:xfrm>
            <a:off x="4506467" y="5925312"/>
            <a:ext cx="3194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A9BA1"/>
                </a:solidFill>
                <a:latin typeface="Consolas"/>
              </a:rPr>
              <a:t>BRCA1  c.212+1G&gt;A</a:t>
            </a:r>
          </a:p>
        </p:txBody>
      </p:sp>
      <p:sp>
        <p:nvSpPr>
          <p:cNvPr id="191" name="Rounded Rectangle 150">
            <a:extLst>
              <a:ext uri="{FF2B5EF4-FFF2-40B4-BE49-F238E27FC236}">
                <a16:creationId xmlns:a16="http://schemas.microsoft.com/office/drawing/2014/main" id="{B3461BC6-2437-6B61-137D-07E297AF463C}"/>
              </a:ext>
            </a:extLst>
          </p:cNvPr>
          <p:cNvSpPr/>
          <p:nvPr/>
        </p:nvSpPr>
        <p:spPr>
          <a:xfrm>
            <a:off x="8043671" y="2359152"/>
            <a:ext cx="3596640" cy="38039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356CCFBE-6A74-79C1-698B-49DFDD027DAF}"/>
              </a:ext>
            </a:extLst>
          </p:cNvPr>
          <p:cNvSpPr/>
          <p:nvPr/>
        </p:nvSpPr>
        <p:spPr>
          <a:xfrm>
            <a:off x="8281415" y="2523744"/>
            <a:ext cx="274320" cy="274320"/>
          </a:xfrm>
          <a:prstGeom prst="ellipse">
            <a:avLst/>
          </a:prstGeom>
          <a:solidFill>
            <a:srgbClr val="15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2A3B6A8-5EA1-A087-2FF0-2442076EEC9B}"/>
              </a:ext>
            </a:extLst>
          </p:cNvPr>
          <p:cNvSpPr txBox="1"/>
          <p:nvPr/>
        </p:nvSpPr>
        <p:spPr>
          <a:xfrm>
            <a:off x="8281415" y="25786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B614969-B4A2-C5D5-9C68-E0EA0A262B53}"/>
              </a:ext>
            </a:extLst>
          </p:cNvPr>
          <p:cNvSpPr txBox="1"/>
          <p:nvPr/>
        </p:nvSpPr>
        <p:spPr>
          <a:xfrm>
            <a:off x="8278367" y="2816352"/>
            <a:ext cx="226771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cs-CZ" sz="750" spc="90" dirty="0">
                <a:solidFill>
                  <a:srgbClr val="8A9BA1"/>
                </a:solidFill>
                <a:latin typeface="Consolas"/>
              </a:rPr>
              <a:t>ZACHOVÁNO</a:t>
            </a:r>
          </a:p>
          <a:p>
            <a:pPr algn="ctr">
              <a:spcAft>
                <a:spcPts val="0"/>
              </a:spcAft>
            </a:pPr>
            <a:endParaRPr sz="750" b="0" spc="90" dirty="0">
              <a:solidFill>
                <a:srgbClr val="8A9BA1"/>
              </a:solidFill>
              <a:latin typeface="Consola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A0134B2-C94D-3B99-DCC0-61BAE90CF9CE}"/>
              </a:ext>
            </a:extLst>
          </p:cNvPr>
          <p:cNvSpPr txBox="1"/>
          <p:nvPr/>
        </p:nvSpPr>
        <p:spPr>
          <a:xfrm>
            <a:off x="10463783" y="2816352"/>
            <a:ext cx="126187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750" spc="90" dirty="0">
                <a:solidFill>
                  <a:srgbClr val="8A9BA1"/>
                </a:solidFill>
                <a:latin typeface="Consolas"/>
              </a:rPr>
              <a:t>VYSTŘIŽENO</a:t>
            </a:r>
          </a:p>
          <a:p>
            <a:pPr algn="ctr">
              <a:spcAft>
                <a:spcPts val="0"/>
              </a:spcAft>
            </a:pPr>
            <a:endParaRPr sz="750" b="0" spc="90" dirty="0">
              <a:solidFill>
                <a:srgbClr val="8A9BA1"/>
              </a:solidFill>
              <a:latin typeface="Consolas"/>
            </a:endParaRPr>
          </a:p>
        </p:txBody>
      </p:sp>
      <p:sp>
        <p:nvSpPr>
          <p:cNvPr id="196" name="Rounded Rectangle 155">
            <a:extLst>
              <a:ext uri="{FF2B5EF4-FFF2-40B4-BE49-F238E27FC236}">
                <a16:creationId xmlns:a16="http://schemas.microsoft.com/office/drawing/2014/main" id="{ABF3B4C1-3459-F80C-E55A-A69298F3EFD4}"/>
              </a:ext>
            </a:extLst>
          </p:cNvPr>
          <p:cNvSpPr/>
          <p:nvPr/>
        </p:nvSpPr>
        <p:spPr>
          <a:xfrm>
            <a:off x="8278367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59BC20F-1437-359E-1851-57ECEDC8C4FC}"/>
              </a:ext>
            </a:extLst>
          </p:cNvPr>
          <p:cNvSpPr txBox="1"/>
          <p:nvPr/>
        </p:nvSpPr>
        <p:spPr>
          <a:xfrm>
            <a:off x="8278367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A</a:t>
            </a:r>
          </a:p>
        </p:txBody>
      </p:sp>
      <p:sp>
        <p:nvSpPr>
          <p:cNvPr id="198" name="Rounded Rectangle 157">
            <a:extLst>
              <a:ext uri="{FF2B5EF4-FFF2-40B4-BE49-F238E27FC236}">
                <a16:creationId xmlns:a16="http://schemas.microsoft.com/office/drawing/2014/main" id="{51614628-7677-9553-3C5B-C705EC5BDDBB}"/>
              </a:ext>
            </a:extLst>
          </p:cNvPr>
          <p:cNvSpPr/>
          <p:nvPr/>
        </p:nvSpPr>
        <p:spPr>
          <a:xfrm>
            <a:off x="8607551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0825DDF-CC5B-08A6-67F1-4FAC62AB1EC4}"/>
              </a:ext>
            </a:extLst>
          </p:cNvPr>
          <p:cNvSpPr txBox="1"/>
          <p:nvPr/>
        </p:nvSpPr>
        <p:spPr>
          <a:xfrm>
            <a:off x="8607551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T</a:t>
            </a:r>
          </a:p>
        </p:txBody>
      </p:sp>
      <p:sp>
        <p:nvSpPr>
          <p:cNvPr id="200" name="Rounded Rectangle 159">
            <a:extLst>
              <a:ext uri="{FF2B5EF4-FFF2-40B4-BE49-F238E27FC236}">
                <a16:creationId xmlns:a16="http://schemas.microsoft.com/office/drawing/2014/main" id="{B93AA087-A128-CD86-108E-CA82F639F72C}"/>
              </a:ext>
            </a:extLst>
          </p:cNvPr>
          <p:cNvSpPr/>
          <p:nvPr/>
        </p:nvSpPr>
        <p:spPr>
          <a:xfrm>
            <a:off x="8936735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CD3A79D-DA09-65B7-F2F6-B80C6B70310F}"/>
              </a:ext>
            </a:extLst>
          </p:cNvPr>
          <p:cNvSpPr txBox="1"/>
          <p:nvPr/>
        </p:nvSpPr>
        <p:spPr>
          <a:xfrm>
            <a:off x="8936735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C</a:t>
            </a:r>
          </a:p>
        </p:txBody>
      </p:sp>
      <p:sp>
        <p:nvSpPr>
          <p:cNvPr id="202" name="Rounded Rectangle 161">
            <a:extLst>
              <a:ext uri="{FF2B5EF4-FFF2-40B4-BE49-F238E27FC236}">
                <a16:creationId xmlns:a16="http://schemas.microsoft.com/office/drawing/2014/main" id="{14F268A1-23A7-86E5-A0E3-26CC758D3C6E}"/>
              </a:ext>
            </a:extLst>
          </p:cNvPr>
          <p:cNvSpPr/>
          <p:nvPr/>
        </p:nvSpPr>
        <p:spPr>
          <a:xfrm>
            <a:off x="9265919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4D64C32-F7F7-74A8-DDFA-E983E9B9D2B6}"/>
              </a:ext>
            </a:extLst>
          </p:cNvPr>
          <p:cNvSpPr txBox="1"/>
          <p:nvPr/>
        </p:nvSpPr>
        <p:spPr>
          <a:xfrm>
            <a:off x="9265919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G</a:t>
            </a:r>
          </a:p>
        </p:txBody>
      </p:sp>
      <p:sp>
        <p:nvSpPr>
          <p:cNvPr id="204" name="Rounded Rectangle 163">
            <a:extLst>
              <a:ext uri="{FF2B5EF4-FFF2-40B4-BE49-F238E27FC236}">
                <a16:creationId xmlns:a16="http://schemas.microsoft.com/office/drawing/2014/main" id="{745EE658-1A14-1D97-16AF-39AF27E2EB40}"/>
              </a:ext>
            </a:extLst>
          </p:cNvPr>
          <p:cNvSpPr/>
          <p:nvPr/>
        </p:nvSpPr>
        <p:spPr>
          <a:xfrm>
            <a:off x="9595103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AF5E6"/>
          </a:solidFill>
          <a:ln w="22225">
            <a:solidFill>
              <a:srgbClr val="B9A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EAA10A-E05E-A35B-0A8A-B02D79419D49}"/>
              </a:ext>
            </a:extLst>
          </p:cNvPr>
          <p:cNvSpPr txBox="1"/>
          <p:nvPr/>
        </p:nvSpPr>
        <p:spPr>
          <a:xfrm>
            <a:off x="9595103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A7A3C"/>
                </a:solidFill>
                <a:latin typeface="Consolas"/>
              </a:rPr>
              <a:t>T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06D6EAC-C907-A17E-3B47-E8C45810C13C}"/>
              </a:ext>
            </a:extLst>
          </p:cNvPr>
          <p:cNvSpPr txBox="1"/>
          <p:nvPr/>
        </p:nvSpPr>
        <p:spPr>
          <a:xfrm>
            <a:off x="9320783" y="3438144"/>
            <a:ext cx="8412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A7A3C"/>
                </a:solidFill>
                <a:latin typeface="Consolas"/>
              </a:rPr>
              <a:t>C → T</a:t>
            </a:r>
          </a:p>
        </p:txBody>
      </p:sp>
      <p:sp>
        <p:nvSpPr>
          <p:cNvPr id="207" name="Rounded Rectangle 166">
            <a:extLst>
              <a:ext uri="{FF2B5EF4-FFF2-40B4-BE49-F238E27FC236}">
                <a16:creationId xmlns:a16="http://schemas.microsoft.com/office/drawing/2014/main" id="{E9C86F3B-8F39-051E-6C17-531606472A37}"/>
              </a:ext>
            </a:extLst>
          </p:cNvPr>
          <p:cNvSpPr/>
          <p:nvPr/>
        </p:nvSpPr>
        <p:spPr>
          <a:xfrm>
            <a:off x="9924287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81DFA3A-7F5C-914E-8C1F-1D3E82871A6E}"/>
              </a:ext>
            </a:extLst>
          </p:cNvPr>
          <p:cNvSpPr txBox="1"/>
          <p:nvPr/>
        </p:nvSpPr>
        <p:spPr>
          <a:xfrm>
            <a:off x="9924287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A</a:t>
            </a:r>
          </a:p>
        </p:txBody>
      </p:sp>
      <p:sp>
        <p:nvSpPr>
          <p:cNvPr id="209" name="Rounded Rectangle 168">
            <a:extLst>
              <a:ext uri="{FF2B5EF4-FFF2-40B4-BE49-F238E27FC236}">
                <a16:creationId xmlns:a16="http://schemas.microsoft.com/office/drawing/2014/main" id="{A52FDA29-D054-A057-B426-796C66624C3F}"/>
              </a:ext>
            </a:extLst>
          </p:cNvPr>
          <p:cNvSpPr/>
          <p:nvPr/>
        </p:nvSpPr>
        <p:spPr>
          <a:xfrm>
            <a:off x="10253471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A260C038-572B-714A-AFB4-11E39218649F}"/>
              </a:ext>
            </a:extLst>
          </p:cNvPr>
          <p:cNvSpPr txBox="1"/>
          <p:nvPr/>
        </p:nvSpPr>
        <p:spPr>
          <a:xfrm>
            <a:off x="10253471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G</a:t>
            </a:r>
          </a:p>
        </p:txBody>
      </p:sp>
      <p:sp>
        <p:nvSpPr>
          <p:cNvPr id="211" name="Rounded Rectangle 170">
            <a:extLst>
              <a:ext uri="{FF2B5EF4-FFF2-40B4-BE49-F238E27FC236}">
                <a16:creationId xmlns:a16="http://schemas.microsoft.com/office/drawing/2014/main" id="{1A118CC5-8C2C-7762-A90A-F3E20C74E8A6}"/>
              </a:ext>
            </a:extLst>
          </p:cNvPr>
          <p:cNvSpPr/>
          <p:nvPr/>
        </p:nvSpPr>
        <p:spPr>
          <a:xfrm>
            <a:off x="10783823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7F9F9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3D8F25B2-A3B8-C9D9-2C1E-FD6E3D3FF8E0}"/>
              </a:ext>
            </a:extLst>
          </p:cNvPr>
          <p:cNvSpPr txBox="1"/>
          <p:nvPr/>
        </p:nvSpPr>
        <p:spPr>
          <a:xfrm>
            <a:off x="10783823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4C0C4"/>
                </a:solidFill>
                <a:latin typeface="Consolas"/>
              </a:rPr>
              <a:t>G</a:t>
            </a:r>
          </a:p>
        </p:txBody>
      </p:sp>
      <p:sp>
        <p:nvSpPr>
          <p:cNvPr id="213" name="Rounded Rectangle 172">
            <a:extLst>
              <a:ext uri="{FF2B5EF4-FFF2-40B4-BE49-F238E27FC236}">
                <a16:creationId xmlns:a16="http://schemas.microsoft.com/office/drawing/2014/main" id="{1F3EF5AC-5744-AEFC-33DE-53692404EAFC}"/>
              </a:ext>
            </a:extLst>
          </p:cNvPr>
          <p:cNvSpPr/>
          <p:nvPr/>
        </p:nvSpPr>
        <p:spPr>
          <a:xfrm>
            <a:off x="11113007" y="3035808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7F9F9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2C6B43C-1E5B-4D57-9F4E-7C6531A36D5A}"/>
              </a:ext>
            </a:extLst>
          </p:cNvPr>
          <p:cNvSpPr txBox="1"/>
          <p:nvPr/>
        </p:nvSpPr>
        <p:spPr>
          <a:xfrm>
            <a:off x="11113007" y="312724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4C0C4"/>
                </a:solidFill>
                <a:latin typeface="Consolas"/>
              </a:rPr>
              <a:t>T</a:t>
            </a:r>
          </a:p>
        </p:txBody>
      </p:sp>
      <p:cxnSp>
        <p:nvCxnSpPr>
          <p:cNvPr id="215" name="Connector 174">
            <a:extLst>
              <a:ext uri="{FF2B5EF4-FFF2-40B4-BE49-F238E27FC236}">
                <a16:creationId xmlns:a16="http://schemas.microsoft.com/office/drawing/2014/main" id="{3C465706-7F94-B973-DE81-6930668225DE}"/>
              </a:ext>
            </a:extLst>
          </p:cNvPr>
          <p:cNvCxnSpPr/>
          <p:nvPr/>
        </p:nvCxnSpPr>
        <p:spPr>
          <a:xfrm>
            <a:off x="10664951" y="2953512"/>
            <a:ext cx="0" cy="530352"/>
          </a:xfrm>
          <a:prstGeom prst="line">
            <a:avLst/>
          </a:prstGeom>
          <a:ln w="19050">
            <a:solidFill>
              <a:srgbClr val="B0554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AC4C933D-87D4-4410-F8E4-8486077300A9}"/>
              </a:ext>
            </a:extLst>
          </p:cNvPr>
          <p:cNvSpPr txBox="1"/>
          <p:nvPr/>
        </p:nvSpPr>
        <p:spPr>
          <a:xfrm>
            <a:off x="10253472" y="3438144"/>
            <a:ext cx="822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50" b="0" dirty="0">
                <a:solidFill>
                  <a:srgbClr val="B0554A"/>
                </a:solidFill>
                <a:latin typeface="Consolas"/>
              </a:rPr>
              <a:t>střih</a:t>
            </a:r>
            <a:endParaRPr sz="850" b="0" dirty="0">
              <a:solidFill>
                <a:srgbClr val="B0554A"/>
              </a:solidFill>
              <a:latin typeface="Consolas"/>
            </a:endParaRPr>
          </a:p>
        </p:txBody>
      </p:sp>
      <p:cxnSp>
        <p:nvCxnSpPr>
          <p:cNvPr id="223" name="Connector 182">
            <a:extLst>
              <a:ext uri="{FF2B5EF4-FFF2-40B4-BE49-F238E27FC236}">
                <a16:creationId xmlns:a16="http://schemas.microsoft.com/office/drawing/2014/main" id="{7E9D74D8-8853-DB20-E3AF-7E827C6A7FD8}"/>
              </a:ext>
            </a:extLst>
          </p:cNvPr>
          <p:cNvCxnSpPr/>
          <p:nvPr/>
        </p:nvCxnSpPr>
        <p:spPr>
          <a:xfrm flipH="1" flipV="1">
            <a:off x="9419264" y="5005197"/>
            <a:ext cx="55139" cy="131445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183">
            <a:extLst>
              <a:ext uri="{FF2B5EF4-FFF2-40B4-BE49-F238E27FC236}">
                <a16:creationId xmlns:a16="http://schemas.microsoft.com/office/drawing/2014/main" id="{743145B1-B04F-B212-53AC-83708D1F60A0}"/>
              </a:ext>
            </a:extLst>
          </p:cNvPr>
          <p:cNvCxnSpPr/>
          <p:nvPr/>
        </p:nvCxnSpPr>
        <p:spPr>
          <a:xfrm flipV="1">
            <a:off x="9419264" y="4868037"/>
            <a:ext cx="64328" cy="137160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184">
            <a:extLst>
              <a:ext uri="{FF2B5EF4-FFF2-40B4-BE49-F238E27FC236}">
                <a16:creationId xmlns:a16="http://schemas.microsoft.com/office/drawing/2014/main" id="{96F988A9-1300-9EF3-D22E-D7E647CB6A7C}"/>
              </a:ext>
            </a:extLst>
          </p:cNvPr>
          <p:cNvCxnSpPr/>
          <p:nvPr/>
        </p:nvCxnSpPr>
        <p:spPr>
          <a:xfrm flipV="1">
            <a:off x="9483592" y="4776597"/>
            <a:ext cx="147036" cy="91440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185">
            <a:extLst>
              <a:ext uri="{FF2B5EF4-FFF2-40B4-BE49-F238E27FC236}">
                <a16:creationId xmlns:a16="http://schemas.microsoft.com/office/drawing/2014/main" id="{FD533C85-44C7-4750-A309-E354DAC76F50}"/>
              </a:ext>
            </a:extLst>
          </p:cNvPr>
          <p:cNvCxnSpPr/>
          <p:nvPr/>
        </p:nvCxnSpPr>
        <p:spPr>
          <a:xfrm flipV="1">
            <a:off x="9630628" y="4742306"/>
            <a:ext cx="202174" cy="34291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186">
            <a:extLst>
              <a:ext uri="{FF2B5EF4-FFF2-40B4-BE49-F238E27FC236}">
                <a16:creationId xmlns:a16="http://schemas.microsoft.com/office/drawing/2014/main" id="{E616B735-7BF3-6F10-D157-12F3FC0203A1}"/>
              </a:ext>
            </a:extLst>
          </p:cNvPr>
          <p:cNvCxnSpPr/>
          <p:nvPr/>
        </p:nvCxnSpPr>
        <p:spPr>
          <a:xfrm>
            <a:off x="9832802" y="4742306"/>
            <a:ext cx="192984" cy="34291"/>
          </a:xfrm>
          <a:prstGeom prst="line">
            <a:avLst/>
          </a:prstGeom>
          <a:ln w="19050">
            <a:solidFill>
              <a:srgbClr val="4E8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187">
            <a:extLst>
              <a:ext uri="{FF2B5EF4-FFF2-40B4-BE49-F238E27FC236}">
                <a16:creationId xmlns:a16="http://schemas.microsoft.com/office/drawing/2014/main" id="{FDEA64AB-2406-6B66-9A88-DDBA36805D8B}"/>
              </a:ext>
            </a:extLst>
          </p:cNvPr>
          <p:cNvCxnSpPr/>
          <p:nvPr/>
        </p:nvCxnSpPr>
        <p:spPr>
          <a:xfrm>
            <a:off x="10154442" y="4868037"/>
            <a:ext cx="27569" cy="131444"/>
          </a:xfrm>
          <a:prstGeom prst="line">
            <a:avLst/>
          </a:prstGeom>
          <a:ln w="12700">
            <a:solidFill>
              <a:srgbClr val="DCE4E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188">
            <a:extLst>
              <a:ext uri="{FF2B5EF4-FFF2-40B4-BE49-F238E27FC236}">
                <a16:creationId xmlns:a16="http://schemas.microsoft.com/office/drawing/2014/main" id="{F03C6054-E011-4CAB-5345-9F2D5D2638C3}"/>
              </a:ext>
            </a:extLst>
          </p:cNvPr>
          <p:cNvCxnSpPr/>
          <p:nvPr/>
        </p:nvCxnSpPr>
        <p:spPr>
          <a:xfrm flipH="1">
            <a:off x="10071735" y="4999481"/>
            <a:ext cx="110276" cy="97156"/>
          </a:xfrm>
          <a:prstGeom prst="line">
            <a:avLst/>
          </a:prstGeom>
          <a:ln w="12700">
            <a:solidFill>
              <a:srgbClr val="DCE4E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189">
            <a:extLst>
              <a:ext uri="{FF2B5EF4-FFF2-40B4-BE49-F238E27FC236}">
                <a16:creationId xmlns:a16="http://schemas.microsoft.com/office/drawing/2014/main" id="{A270ECD6-75DA-68E5-3F48-1CA682988456}"/>
              </a:ext>
            </a:extLst>
          </p:cNvPr>
          <p:cNvCxnSpPr/>
          <p:nvPr/>
        </p:nvCxnSpPr>
        <p:spPr>
          <a:xfrm flipH="1">
            <a:off x="9887940" y="5096637"/>
            <a:ext cx="183795" cy="34290"/>
          </a:xfrm>
          <a:prstGeom prst="line">
            <a:avLst/>
          </a:prstGeom>
          <a:ln w="12700">
            <a:solidFill>
              <a:srgbClr val="DCE4E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190">
            <a:extLst>
              <a:ext uri="{FF2B5EF4-FFF2-40B4-BE49-F238E27FC236}">
                <a16:creationId xmlns:a16="http://schemas.microsoft.com/office/drawing/2014/main" id="{B477BB4B-FD62-6F02-1CA0-69961FB469BA}"/>
              </a:ext>
            </a:extLst>
          </p:cNvPr>
          <p:cNvCxnSpPr/>
          <p:nvPr/>
        </p:nvCxnSpPr>
        <p:spPr>
          <a:xfrm flipH="1" flipV="1">
            <a:off x="9731715" y="5073777"/>
            <a:ext cx="156225" cy="57150"/>
          </a:xfrm>
          <a:prstGeom prst="line">
            <a:avLst/>
          </a:prstGeom>
          <a:ln w="12700">
            <a:solidFill>
              <a:srgbClr val="DCE4E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191">
            <a:extLst>
              <a:ext uri="{FF2B5EF4-FFF2-40B4-BE49-F238E27FC236}">
                <a16:creationId xmlns:a16="http://schemas.microsoft.com/office/drawing/2014/main" id="{5B00EF76-F4D7-45EB-52CF-ABAD3F3A214D}"/>
              </a:ext>
            </a:extLst>
          </p:cNvPr>
          <p:cNvCxnSpPr/>
          <p:nvPr/>
        </p:nvCxnSpPr>
        <p:spPr>
          <a:xfrm flipH="1" flipV="1">
            <a:off x="9722525" y="4953762"/>
            <a:ext cx="9190" cy="120015"/>
          </a:xfrm>
          <a:prstGeom prst="line">
            <a:avLst/>
          </a:prstGeom>
          <a:ln w="12700">
            <a:solidFill>
              <a:srgbClr val="DCE4E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B0A0165F-31F6-2DF6-65DE-62448609CB75}"/>
              </a:ext>
            </a:extLst>
          </p:cNvPr>
          <p:cNvSpPr/>
          <p:nvPr/>
        </p:nvSpPr>
        <p:spPr>
          <a:xfrm>
            <a:off x="9403537" y="5065776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8D41AC41-712E-4F56-BBF4-2FE54A8CDA42}"/>
              </a:ext>
            </a:extLst>
          </p:cNvPr>
          <p:cNvSpPr/>
          <p:nvPr/>
        </p:nvSpPr>
        <p:spPr>
          <a:xfrm>
            <a:off x="9348398" y="493433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B8748A22-A184-EEC5-D2BA-B02549AA5656}"/>
              </a:ext>
            </a:extLst>
          </p:cNvPr>
          <p:cNvSpPr/>
          <p:nvPr/>
        </p:nvSpPr>
        <p:spPr>
          <a:xfrm>
            <a:off x="9412726" y="479717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1436C4F8-1F29-CD7A-0961-B9ACE2B307D8}"/>
              </a:ext>
            </a:extLst>
          </p:cNvPr>
          <p:cNvSpPr/>
          <p:nvPr/>
        </p:nvSpPr>
        <p:spPr>
          <a:xfrm>
            <a:off x="9559762" y="470573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624DB182-53D3-8ED7-57EA-FD936197CAB9}"/>
              </a:ext>
            </a:extLst>
          </p:cNvPr>
          <p:cNvSpPr/>
          <p:nvPr/>
        </p:nvSpPr>
        <p:spPr>
          <a:xfrm>
            <a:off x="9761936" y="467144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FC9767A6-F302-2222-41AC-CF19C75BE337}"/>
              </a:ext>
            </a:extLst>
          </p:cNvPr>
          <p:cNvSpPr/>
          <p:nvPr/>
        </p:nvSpPr>
        <p:spPr>
          <a:xfrm>
            <a:off x="9954920" y="4705731"/>
            <a:ext cx="141732" cy="141732"/>
          </a:xfrm>
          <a:prstGeom prst="ellipse">
            <a:avLst/>
          </a:prstGeom>
          <a:solidFill>
            <a:srgbClr val="8FB49E"/>
          </a:solidFill>
          <a:ln w="19050">
            <a:solidFill>
              <a:srgbClr val="4E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6AC74696-73BD-C5AB-53B6-D4317A85210C}"/>
              </a:ext>
            </a:extLst>
          </p:cNvPr>
          <p:cNvSpPr/>
          <p:nvPr/>
        </p:nvSpPr>
        <p:spPr>
          <a:xfrm>
            <a:off x="10083576" y="4797171"/>
            <a:ext cx="141732" cy="1417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1F916B18-64E5-A28B-041C-3FA5ED35B6CC}"/>
              </a:ext>
            </a:extLst>
          </p:cNvPr>
          <p:cNvSpPr/>
          <p:nvPr/>
        </p:nvSpPr>
        <p:spPr>
          <a:xfrm>
            <a:off x="10111145" y="4928616"/>
            <a:ext cx="141732" cy="1417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D994ABEB-06AE-4AF7-FE10-255E926F6C5E}"/>
              </a:ext>
            </a:extLst>
          </p:cNvPr>
          <p:cNvSpPr/>
          <p:nvPr/>
        </p:nvSpPr>
        <p:spPr>
          <a:xfrm>
            <a:off x="10000868" y="5025771"/>
            <a:ext cx="141732" cy="1417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1A8709AC-2003-BA62-28E0-7CEE108E97EF}"/>
              </a:ext>
            </a:extLst>
          </p:cNvPr>
          <p:cNvSpPr/>
          <p:nvPr/>
        </p:nvSpPr>
        <p:spPr>
          <a:xfrm>
            <a:off x="9817074" y="5060061"/>
            <a:ext cx="141732" cy="1417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2E90E40D-2254-94AE-7690-4A787CA2FD01}"/>
              </a:ext>
            </a:extLst>
          </p:cNvPr>
          <p:cNvSpPr/>
          <p:nvPr/>
        </p:nvSpPr>
        <p:spPr>
          <a:xfrm>
            <a:off x="9660849" y="5002911"/>
            <a:ext cx="141732" cy="1417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D77C9317-EF9C-7FB3-3249-A900FC9B2675}"/>
              </a:ext>
            </a:extLst>
          </p:cNvPr>
          <p:cNvSpPr/>
          <p:nvPr/>
        </p:nvSpPr>
        <p:spPr>
          <a:xfrm>
            <a:off x="9651659" y="4882896"/>
            <a:ext cx="141732" cy="1417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Octagon 244">
            <a:extLst>
              <a:ext uri="{FF2B5EF4-FFF2-40B4-BE49-F238E27FC236}">
                <a16:creationId xmlns:a16="http://schemas.microsoft.com/office/drawing/2014/main" id="{A2F17304-CA60-AFB5-52F5-423E7E10F918}"/>
              </a:ext>
            </a:extLst>
          </p:cNvPr>
          <p:cNvSpPr/>
          <p:nvPr/>
        </p:nvSpPr>
        <p:spPr>
          <a:xfrm>
            <a:off x="10008618" y="4740821"/>
            <a:ext cx="162991" cy="162991"/>
          </a:xfrm>
          <a:prstGeom prst="octagon">
            <a:avLst/>
          </a:prstGeom>
          <a:solidFill>
            <a:srgbClr val="B0554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03575E31-4F0B-DCEC-5247-0658E09F2013}"/>
              </a:ext>
            </a:extLst>
          </p:cNvPr>
          <p:cNvSpPr txBox="1"/>
          <p:nvPr/>
        </p:nvSpPr>
        <p:spPr>
          <a:xfrm>
            <a:off x="8244839" y="5358383"/>
            <a:ext cx="3194304" cy="240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en-US" sz="1500" b="1" dirty="0">
                <a:solidFill>
                  <a:srgbClr val="1A2A31"/>
                </a:solidFill>
                <a:latin typeface="Segoe UI"/>
              </a:rPr>
              <a:t>Protein </a:t>
            </a:r>
            <a:r>
              <a:rPr lang="en-US" sz="1500" b="1" dirty="0" err="1">
                <a:solidFill>
                  <a:srgbClr val="1A2A31"/>
                </a:solidFill>
                <a:latin typeface="Segoe UI"/>
              </a:rPr>
              <a:t>není</a:t>
            </a:r>
            <a:r>
              <a:rPr lang="en-US" sz="1500" b="1" dirty="0">
                <a:solidFill>
                  <a:srgbClr val="1A2A31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1A2A31"/>
                </a:solidFill>
                <a:latin typeface="Segoe UI"/>
              </a:rPr>
              <a:t>dokončen</a:t>
            </a:r>
            <a:endParaRPr sz="1500" b="1" dirty="0">
              <a:solidFill>
                <a:srgbClr val="1A2A31"/>
              </a:solidFill>
              <a:latin typeface="Segoe UI"/>
            </a:endParaRPr>
          </a:p>
        </p:txBody>
      </p:sp>
      <p:cxnSp>
        <p:nvCxnSpPr>
          <p:cNvPr id="247" name="Connector 206">
            <a:extLst>
              <a:ext uri="{FF2B5EF4-FFF2-40B4-BE49-F238E27FC236}">
                <a16:creationId xmlns:a16="http://schemas.microsoft.com/office/drawing/2014/main" id="{5F025CDE-B386-B035-9194-3B81D5C88247}"/>
              </a:ext>
            </a:extLst>
          </p:cNvPr>
          <p:cNvCxnSpPr/>
          <p:nvPr/>
        </p:nvCxnSpPr>
        <p:spPr>
          <a:xfrm>
            <a:off x="8546592" y="5870448"/>
            <a:ext cx="2590799" cy="0"/>
          </a:xfrm>
          <a:prstGeom prst="line">
            <a:avLst/>
          </a:prstGeom>
          <a:ln w="9525">
            <a:solidFill>
              <a:srgbClr val="DC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32ADBDCF-6FEE-F131-D208-5A48BD461284}"/>
              </a:ext>
            </a:extLst>
          </p:cNvPr>
          <p:cNvSpPr txBox="1"/>
          <p:nvPr/>
        </p:nvSpPr>
        <p:spPr>
          <a:xfrm>
            <a:off x="8244839" y="5925312"/>
            <a:ext cx="3194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dirty="0">
                <a:solidFill>
                  <a:srgbClr val="8A9BA1"/>
                </a:solidFill>
                <a:latin typeface="Consolas"/>
              </a:rPr>
              <a:t>BRCA1  c.1687C&gt;T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276CE0EE-A753-2AED-99C4-D8307767ABBD}"/>
              </a:ext>
            </a:extLst>
          </p:cNvPr>
          <p:cNvSpPr txBox="1"/>
          <p:nvPr/>
        </p:nvSpPr>
        <p:spPr>
          <a:xfrm>
            <a:off x="566928" y="6272784"/>
            <a:ext cx="1107338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300" b="1" dirty="0" err="1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Najít</a:t>
            </a:r>
            <a:r>
              <a:rPr lang="en-US" sz="1300" b="1" dirty="0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dirty="0" err="1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změnu</a:t>
            </a:r>
            <a:r>
              <a:rPr lang="en-US" sz="1300" b="1" dirty="0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sz="1300" b="1" dirty="0" err="1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snadné</a:t>
            </a:r>
            <a:r>
              <a:rPr lang="en-US" sz="1300" b="1" dirty="0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300" b="1" dirty="0" err="1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Rozhodnout</a:t>
            </a:r>
            <a:r>
              <a:rPr lang="en-US" sz="1300" b="1" dirty="0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 </a:t>
            </a:r>
            <a:r>
              <a:rPr lang="en-US" sz="1300" b="1" dirty="0" err="1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znamená</a:t>
            </a:r>
            <a:r>
              <a:rPr lang="en-US" sz="1300" b="1" dirty="0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00" b="1" dirty="0" err="1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už</a:t>
            </a:r>
            <a:r>
              <a:rPr lang="en-US" sz="1300" b="1" dirty="0">
                <a:solidFill>
                  <a:srgbClr val="1A2A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ne.</a:t>
            </a:r>
            <a:endParaRPr sz="1300" b="1" dirty="0">
              <a:solidFill>
                <a:srgbClr val="1A2A31"/>
              </a:solidFill>
              <a:latin typeface="Segoe UI"/>
            </a:endParaRPr>
          </a:p>
        </p:txBody>
      </p:sp>
      <p:sp>
        <p:nvSpPr>
          <p:cNvPr id="251" name="Rounded Rectangle 38">
            <a:extLst>
              <a:ext uri="{FF2B5EF4-FFF2-40B4-BE49-F238E27FC236}">
                <a16:creationId xmlns:a16="http://schemas.microsoft.com/office/drawing/2014/main" id="{3F15C213-D2A2-85FF-6439-AC87C2BC94A2}"/>
              </a:ext>
            </a:extLst>
          </p:cNvPr>
          <p:cNvSpPr/>
          <p:nvPr/>
        </p:nvSpPr>
        <p:spPr>
          <a:xfrm>
            <a:off x="2089022" y="1737360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0B49DF30-D2AE-A64B-1796-A70B9D060CAD}"/>
              </a:ext>
            </a:extLst>
          </p:cNvPr>
          <p:cNvSpPr txBox="1"/>
          <p:nvPr/>
        </p:nvSpPr>
        <p:spPr>
          <a:xfrm>
            <a:off x="2089022" y="182880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A</a:t>
            </a:r>
          </a:p>
        </p:txBody>
      </p:sp>
      <p:sp>
        <p:nvSpPr>
          <p:cNvPr id="256" name="Rounded Rectangle 43">
            <a:extLst>
              <a:ext uri="{FF2B5EF4-FFF2-40B4-BE49-F238E27FC236}">
                <a16:creationId xmlns:a16="http://schemas.microsoft.com/office/drawing/2014/main" id="{B6E7313C-56CA-CAEA-5054-D28A961EBBFE}"/>
              </a:ext>
            </a:extLst>
          </p:cNvPr>
          <p:cNvSpPr/>
          <p:nvPr/>
        </p:nvSpPr>
        <p:spPr>
          <a:xfrm>
            <a:off x="2747390" y="1737360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A831205E-6E02-23E3-C1BD-050A0ECB41BA}"/>
              </a:ext>
            </a:extLst>
          </p:cNvPr>
          <p:cNvSpPr txBox="1"/>
          <p:nvPr/>
        </p:nvSpPr>
        <p:spPr>
          <a:xfrm>
            <a:off x="2747390" y="182880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C</a:t>
            </a:r>
          </a:p>
        </p:txBody>
      </p:sp>
      <p:sp>
        <p:nvSpPr>
          <p:cNvPr id="258" name="Rounded Rectangle 45">
            <a:extLst>
              <a:ext uri="{FF2B5EF4-FFF2-40B4-BE49-F238E27FC236}">
                <a16:creationId xmlns:a16="http://schemas.microsoft.com/office/drawing/2014/main" id="{674BFD73-13E5-A8AA-EE13-A5FEF9B9E2D4}"/>
              </a:ext>
            </a:extLst>
          </p:cNvPr>
          <p:cNvSpPr/>
          <p:nvPr/>
        </p:nvSpPr>
        <p:spPr>
          <a:xfrm>
            <a:off x="3076575" y="1737360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9BFB4DE0-6883-55C8-B667-BD8052516B81}"/>
              </a:ext>
            </a:extLst>
          </p:cNvPr>
          <p:cNvSpPr txBox="1"/>
          <p:nvPr/>
        </p:nvSpPr>
        <p:spPr>
          <a:xfrm>
            <a:off x="3076575" y="182880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G</a:t>
            </a:r>
          </a:p>
        </p:txBody>
      </p:sp>
      <p:sp>
        <p:nvSpPr>
          <p:cNvPr id="260" name="Rounded Rectangle 47">
            <a:extLst>
              <a:ext uri="{FF2B5EF4-FFF2-40B4-BE49-F238E27FC236}">
                <a16:creationId xmlns:a16="http://schemas.microsoft.com/office/drawing/2014/main" id="{862E055B-51DE-F141-D090-0FF8AEB55C68}"/>
              </a:ext>
            </a:extLst>
          </p:cNvPr>
          <p:cNvSpPr/>
          <p:nvPr/>
        </p:nvSpPr>
        <p:spPr>
          <a:xfrm>
            <a:off x="3405759" y="1737360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876644B-DC1F-0149-D5B5-D76D11B9D1BC}"/>
              </a:ext>
            </a:extLst>
          </p:cNvPr>
          <p:cNvSpPr txBox="1"/>
          <p:nvPr/>
        </p:nvSpPr>
        <p:spPr>
          <a:xfrm>
            <a:off x="3405759" y="182880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C</a:t>
            </a:r>
          </a:p>
        </p:txBody>
      </p:sp>
      <p:sp>
        <p:nvSpPr>
          <p:cNvPr id="262" name="Rounded Rectangle 49">
            <a:extLst>
              <a:ext uri="{FF2B5EF4-FFF2-40B4-BE49-F238E27FC236}">
                <a16:creationId xmlns:a16="http://schemas.microsoft.com/office/drawing/2014/main" id="{FCC91EC2-374A-5F31-7113-BC0F02AE3636}"/>
              </a:ext>
            </a:extLst>
          </p:cNvPr>
          <p:cNvSpPr/>
          <p:nvPr/>
        </p:nvSpPr>
        <p:spPr>
          <a:xfrm>
            <a:off x="3734942" y="1737360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5DA27EE1-013B-16B7-920B-8852E12AD90E}"/>
              </a:ext>
            </a:extLst>
          </p:cNvPr>
          <p:cNvSpPr txBox="1"/>
          <p:nvPr/>
        </p:nvSpPr>
        <p:spPr>
          <a:xfrm>
            <a:off x="3734942" y="182880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A</a:t>
            </a:r>
          </a:p>
        </p:txBody>
      </p:sp>
      <p:sp>
        <p:nvSpPr>
          <p:cNvPr id="264" name="Rounded Rectangle 51">
            <a:extLst>
              <a:ext uri="{FF2B5EF4-FFF2-40B4-BE49-F238E27FC236}">
                <a16:creationId xmlns:a16="http://schemas.microsoft.com/office/drawing/2014/main" id="{047B41B6-091C-6C21-C734-377CBC79AFF9}"/>
              </a:ext>
            </a:extLst>
          </p:cNvPr>
          <p:cNvSpPr/>
          <p:nvPr/>
        </p:nvSpPr>
        <p:spPr>
          <a:xfrm>
            <a:off x="4064127" y="1737360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4E286A4-EDD6-0FE6-8098-6A1F5F585698}"/>
              </a:ext>
            </a:extLst>
          </p:cNvPr>
          <p:cNvSpPr txBox="1"/>
          <p:nvPr/>
        </p:nvSpPr>
        <p:spPr>
          <a:xfrm>
            <a:off x="4064127" y="182880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B6E76"/>
                </a:solidFill>
                <a:latin typeface="Consolas"/>
              </a:rPr>
              <a:t>G</a:t>
            </a:r>
          </a:p>
        </p:txBody>
      </p:sp>
      <p:sp>
        <p:nvSpPr>
          <p:cNvPr id="266" name="Rounded Rectangle 53">
            <a:extLst>
              <a:ext uri="{FF2B5EF4-FFF2-40B4-BE49-F238E27FC236}">
                <a16:creationId xmlns:a16="http://schemas.microsoft.com/office/drawing/2014/main" id="{65D2B64D-E5C0-937C-D46D-528B83A48E0C}"/>
              </a:ext>
            </a:extLst>
          </p:cNvPr>
          <p:cNvSpPr/>
          <p:nvPr/>
        </p:nvSpPr>
        <p:spPr>
          <a:xfrm>
            <a:off x="4594479" y="1737360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7F9F9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6226B692-56F6-AEED-CAD4-571FE306681A}"/>
              </a:ext>
            </a:extLst>
          </p:cNvPr>
          <p:cNvSpPr txBox="1"/>
          <p:nvPr/>
        </p:nvSpPr>
        <p:spPr>
          <a:xfrm>
            <a:off x="4594479" y="182880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4C0C4"/>
                </a:solidFill>
                <a:latin typeface="Consolas"/>
              </a:rPr>
              <a:t>G</a:t>
            </a:r>
          </a:p>
        </p:txBody>
      </p:sp>
      <p:sp>
        <p:nvSpPr>
          <p:cNvPr id="268" name="Rounded Rectangle 55">
            <a:extLst>
              <a:ext uri="{FF2B5EF4-FFF2-40B4-BE49-F238E27FC236}">
                <a16:creationId xmlns:a16="http://schemas.microsoft.com/office/drawing/2014/main" id="{0A872AFC-82C5-E29F-7B57-D826EAB1E060}"/>
              </a:ext>
            </a:extLst>
          </p:cNvPr>
          <p:cNvSpPr/>
          <p:nvPr/>
        </p:nvSpPr>
        <p:spPr>
          <a:xfrm>
            <a:off x="4923663" y="1737360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7F9F9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C092B048-CA12-3B8E-E4ED-1C40C4ED7B6E}"/>
              </a:ext>
            </a:extLst>
          </p:cNvPr>
          <p:cNvSpPr txBox="1"/>
          <p:nvPr/>
        </p:nvSpPr>
        <p:spPr>
          <a:xfrm>
            <a:off x="4923663" y="182880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4C0C4"/>
                </a:solidFill>
                <a:latin typeface="Consolas"/>
              </a:rPr>
              <a:t>T</a:t>
            </a:r>
          </a:p>
        </p:txBody>
      </p:sp>
      <p:cxnSp>
        <p:nvCxnSpPr>
          <p:cNvPr id="270" name="Connector 57">
            <a:extLst>
              <a:ext uri="{FF2B5EF4-FFF2-40B4-BE49-F238E27FC236}">
                <a16:creationId xmlns:a16="http://schemas.microsoft.com/office/drawing/2014/main" id="{8A4DEE82-AAFC-15C0-7C40-DE824E5F7680}"/>
              </a:ext>
            </a:extLst>
          </p:cNvPr>
          <p:cNvCxnSpPr/>
          <p:nvPr/>
        </p:nvCxnSpPr>
        <p:spPr>
          <a:xfrm>
            <a:off x="4475607" y="1655064"/>
            <a:ext cx="0" cy="530352"/>
          </a:xfrm>
          <a:prstGeom prst="line">
            <a:avLst/>
          </a:prstGeom>
          <a:ln w="19050">
            <a:solidFill>
              <a:srgbClr val="B0554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D43F71E1-6DE4-E853-0CBE-85E43677FF78}"/>
              </a:ext>
            </a:extLst>
          </p:cNvPr>
          <p:cNvSpPr txBox="1"/>
          <p:nvPr/>
        </p:nvSpPr>
        <p:spPr>
          <a:xfrm>
            <a:off x="4064127" y="213969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B0554A"/>
                </a:solidFill>
                <a:latin typeface="Consolas"/>
              </a:rPr>
              <a:t>cut</a:t>
            </a:r>
          </a:p>
        </p:txBody>
      </p:sp>
      <p:sp>
        <p:nvSpPr>
          <p:cNvPr id="273" name="Rounded Rectangle 51">
            <a:extLst>
              <a:ext uri="{FF2B5EF4-FFF2-40B4-BE49-F238E27FC236}">
                <a16:creationId xmlns:a16="http://schemas.microsoft.com/office/drawing/2014/main" id="{551B968D-C21C-1FB2-7625-53450EC2269C}"/>
              </a:ext>
            </a:extLst>
          </p:cNvPr>
          <p:cNvSpPr/>
          <p:nvPr/>
        </p:nvSpPr>
        <p:spPr>
          <a:xfrm>
            <a:off x="2412659" y="1735600"/>
            <a:ext cx="292608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4DCAA5B5-E9A7-6FD1-FAC1-48A93B21A291}"/>
              </a:ext>
            </a:extLst>
          </p:cNvPr>
          <p:cNvSpPr txBox="1"/>
          <p:nvPr/>
        </p:nvSpPr>
        <p:spPr>
          <a:xfrm>
            <a:off x="2412659" y="1827040"/>
            <a:ext cx="29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1350" dirty="0">
                <a:solidFill>
                  <a:srgbClr val="5B6E76"/>
                </a:solidFill>
                <a:latin typeface="Consolas"/>
              </a:rPr>
              <a:t>T</a:t>
            </a:r>
            <a:endParaRPr sz="1350" b="0" dirty="0">
              <a:solidFill>
                <a:srgbClr val="5B6E76"/>
              </a:solidFill>
              <a:latin typeface="Consolas"/>
            </a:endParaRPr>
          </a:p>
        </p:txBody>
      </p:sp>
      <p:sp>
        <p:nvSpPr>
          <p:cNvPr id="87" name="Freeform 59">
            <a:extLst>
              <a:ext uri="{FF2B5EF4-FFF2-40B4-BE49-F238E27FC236}">
                <a16:creationId xmlns:a16="http://schemas.microsoft.com/office/drawing/2014/main" id="{4C2CA245-B435-92A4-F930-4B3EA9E2A8B6}"/>
              </a:ext>
            </a:extLst>
          </p:cNvPr>
          <p:cNvSpPr/>
          <p:nvPr/>
        </p:nvSpPr>
        <p:spPr>
          <a:xfrm>
            <a:off x="4465928" y="3636859"/>
            <a:ext cx="3218689" cy="914400"/>
          </a:xfrm>
          <a:custGeom>
            <a:avLst/>
            <a:gdLst/>
            <a:ahLst/>
            <a:cxnLst/>
            <a:rect l="l" t="t" r="r" b="b"/>
            <a:pathLst>
              <a:path w="3218689" h="914400">
                <a:moveTo>
                  <a:pt x="0" y="0"/>
                </a:moveTo>
                <a:lnTo>
                  <a:pt x="3218689" y="0"/>
                </a:lnTo>
                <a:lnTo>
                  <a:pt x="2523745" y="914400"/>
                </a:lnTo>
                <a:lnTo>
                  <a:pt x="694944" y="914400"/>
                </a:lnTo>
                <a:close/>
              </a:path>
            </a:pathLst>
          </a:custGeom>
          <a:solidFill>
            <a:srgbClr val="E8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87F7B80-B703-B868-326C-F3BB23BD690E}"/>
              </a:ext>
            </a:extLst>
          </p:cNvPr>
          <p:cNvSpPr txBox="1"/>
          <p:nvPr/>
        </p:nvSpPr>
        <p:spPr>
          <a:xfrm>
            <a:off x="4591018" y="3746587"/>
            <a:ext cx="296850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00" b="0" spc="70" dirty="0">
                <a:solidFill>
                  <a:srgbClr val="5B6E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SE OPÍŠE</a:t>
            </a:r>
            <a:endParaRPr sz="800" b="0" spc="70" dirty="0">
              <a:solidFill>
                <a:srgbClr val="5B6E7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4472426-7F2E-91CD-FB2A-1013EE65A9F7}"/>
              </a:ext>
            </a:extLst>
          </p:cNvPr>
          <p:cNvSpPr txBox="1"/>
          <p:nvPr/>
        </p:nvSpPr>
        <p:spPr>
          <a:xfrm>
            <a:off x="5800953" y="3879174"/>
            <a:ext cx="5486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8A9BA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▾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C079E1C-F681-A9D1-C109-9A2175526A77}"/>
              </a:ext>
            </a:extLst>
          </p:cNvPr>
          <p:cNvSpPr txBox="1"/>
          <p:nvPr/>
        </p:nvSpPr>
        <p:spPr>
          <a:xfrm>
            <a:off x="4789077" y="4007191"/>
            <a:ext cx="257239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00" spc="70" dirty="0">
                <a:solidFill>
                  <a:srgbClr val="5B6E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VYSTŘIHNE A SLEPÍ</a:t>
            </a:r>
            <a:endParaRPr sz="800" b="0" spc="70" dirty="0">
              <a:solidFill>
                <a:srgbClr val="5B6E7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6BB2234-691D-D483-4D39-3B5F599EA731}"/>
              </a:ext>
            </a:extLst>
          </p:cNvPr>
          <p:cNvSpPr txBox="1"/>
          <p:nvPr/>
        </p:nvSpPr>
        <p:spPr>
          <a:xfrm>
            <a:off x="5800953" y="4139779"/>
            <a:ext cx="5486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8A9BA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▾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C8E72FF-23FA-3563-36D5-6F86B78775AA}"/>
              </a:ext>
            </a:extLst>
          </p:cNvPr>
          <p:cNvSpPr txBox="1"/>
          <p:nvPr/>
        </p:nvSpPr>
        <p:spPr>
          <a:xfrm>
            <a:off x="4987137" y="4267795"/>
            <a:ext cx="2176271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00" spc="70" dirty="0">
                <a:solidFill>
                  <a:srgbClr val="5B6E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SESTAVÍ SE PROTEIN</a:t>
            </a:r>
            <a:endParaRPr sz="800" b="0" spc="70" dirty="0">
              <a:solidFill>
                <a:srgbClr val="5B6E7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Freeform 59">
            <a:extLst>
              <a:ext uri="{FF2B5EF4-FFF2-40B4-BE49-F238E27FC236}">
                <a16:creationId xmlns:a16="http://schemas.microsoft.com/office/drawing/2014/main" id="{1FEFC0BB-70EA-DE67-DEA6-B059D168A2C9}"/>
              </a:ext>
            </a:extLst>
          </p:cNvPr>
          <p:cNvSpPr/>
          <p:nvPr/>
        </p:nvSpPr>
        <p:spPr>
          <a:xfrm>
            <a:off x="8229600" y="3657600"/>
            <a:ext cx="3218689" cy="914400"/>
          </a:xfrm>
          <a:custGeom>
            <a:avLst/>
            <a:gdLst/>
            <a:ahLst/>
            <a:cxnLst/>
            <a:rect l="l" t="t" r="r" b="b"/>
            <a:pathLst>
              <a:path w="3218689" h="914400">
                <a:moveTo>
                  <a:pt x="0" y="0"/>
                </a:moveTo>
                <a:lnTo>
                  <a:pt x="3218689" y="0"/>
                </a:lnTo>
                <a:lnTo>
                  <a:pt x="2523745" y="914400"/>
                </a:lnTo>
                <a:lnTo>
                  <a:pt x="694944" y="914400"/>
                </a:lnTo>
                <a:close/>
              </a:path>
            </a:pathLst>
          </a:custGeom>
          <a:solidFill>
            <a:srgbClr val="E8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21713F2-A6F0-7BB3-4703-108D441A6415}"/>
              </a:ext>
            </a:extLst>
          </p:cNvPr>
          <p:cNvSpPr txBox="1"/>
          <p:nvPr/>
        </p:nvSpPr>
        <p:spPr>
          <a:xfrm>
            <a:off x="8354690" y="3767328"/>
            <a:ext cx="296850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00" b="0" spc="70" dirty="0">
                <a:solidFill>
                  <a:srgbClr val="5B6E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SE OPÍŠE</a:t>
            </a:r>
            <a:endParaRPr sz="800" b="0" spc="70" dirty="0">
              <a:solidFill>
                <a:srgbClr val="5B6E7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A66BFAB-7F95-13D5-3C43-F7A63CCDD410}"/>
              </a:ext>
            </a:extLst>
          </p:cNvPr>
          <p:cNvSpPr txBox="1"/>
          <p:nvPr/>
        </p:nvSpPr>
        <p:spPr>
          <a:xfrm>
            <a:off x="9564625" y="3899915"/>
            <a:ext cx="5486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8A9BA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▾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67440B6-73D5-D09B-7C13-CCA30D58FE62}"/>
              </a:ext>
            </a:extLst>
          </p:cNvPr>
          <p:cNvSpPr txBox="1"/>
          <p:nvPr/>
        </p:nvSpPr>
        <p:spPr>
          <a:xfrm>
            <a:off x="8552749" y="4027932"/>
            <a:ext cx="257239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00" spc="70" dirty="0">
                <a:solidFill>
                  <a:srgbClr val="5B6E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VYSTŘIHNE A SLEPÍ</a:t>
            </a:r>
            <a:endParaRPr sz="800" b="0" spc="70" dirty="0">
              <a:solidFill>
                <a:srgbClr val="5B6E7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AE33DFD-42BB-4D65-C322-FD1E4997FA34}"/>
              </a:ext>
            </a:extLst>
          </p:cNvPr>
          <p:cNvSpPr txBox="1"/>
          <p:nvPr/>
        </p:nvSpPr>
        <p:spPr>
          <a:xfrm>
            <a:off x="9564625" y="4160520"/>
            <a:ext cx="5486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8A9BA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▾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804DAAF-4C95-27A1-AEF4-C8A20204C511}"/>
              </a:ext>
            </a:extLst>
          </p:cNvPr>
          <p:cNvSpPr txBox="1"/>
          <p:nvPr/>
        </p:nvSpPr>
        <p:spPr>
          <a:xfrm>
            <a:off x="8750809" y="4288536"/>
            <a:ext cx="2176271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cs-CZ" sz="800" spc="70" dirty="0">
                <a:solidFill>
                  <a:srgbClr val="5B6E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SESTAVÍ SE PROTEIN</a:t>
            </a:r>
            <a:endParaRPr sz="800" b="0" spc="70" dirty="0">
              <a:solidFill>
                <a:srgbClr val="5B6E7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 12">
            <a:extLst>
              <a:ext uri="{FF2B5EF4-FFF2-40B4-BE49-F238E27FC236}">
                <a16:creationId xmlns:a16="http://schemas.microsoft.com/office/drawing/2014/main" id="{8DA70D8B-49E1-433F-032E-1F77C2C38F04}"/>
              </a:ext>
            </a:extLst>
          </p:cNvPr>
          <p:cNvSpPr/>
          <p:nvPr/>
        </p:nvSpPr>
        <p:spPr>
          <a:xfrm>
            <a:off x="566928" y="1252728"/>
            <a:ext cx="7936992" cy="28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Buňka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DNA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nejdříve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vystřihne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nepotřebné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zbytek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slepí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sestaví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protein.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20" dirty="0" err="1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Snímek</a:t>
            </a:r>
            <a:r>
              <a:rPr lang="en-US" sz="750" kern="0" spc="12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50" dirty="0">
                <a:solidFill>
                  <a:srgbClr val="1A2A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Klasifikace genetických variant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566928" cy="0"/>
          </a:xfrm>
          <a:prstGeom prst="line">
            <a:avLst/>
          </a:prstGeom>
          <a:noFill/>
          <a:ln w="1905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ariane_deck_author_identity/images/uochb-iocb-pragu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146" y="310896"/>
            <a:ext cx="1376132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8503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Kamila Clarová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518072" y="1051560"/>
            <a:ext cx="2140527" cy="137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Jiřího Vondráška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Genetické vyšetření nachází změny v DNA, označované jako genetické varianty. Většina z nich je neškodná, ale některé mohou ovlivnit funkci genu a zvýšit riziko onemocnění.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594360" y="2249424"/>
            <a:ext cx="5715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 interpretaci varianty se hodnotí různé typy evidence pomocí předem definovaných klasifikačních kritérií. Každé kritérium představuje určitý typ důkazu a posouvá klasifikaci směrem k benigní nebo patogenní variantě.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594360" y="315468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Rámec ACMG/AMP poskytuje obecná pravidla pro interpretaci variant. Expertní panely tato pravidla dále zpřesňují pro jednotlivé geny nebo skupiny genů.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594360" y="3895344"/>
            <a:ext cx="5715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BRCA1 a BRCA2 byla pravidla zpřesněna mezinárodním expertním panelem ClinGen ENIGMA.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594360" y="467258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70" b="1" kern="0" spc="11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používaná pro klasifikaci</a:t>
            </a:r>
            <a:endParaRPr lang="en-US" sz="770" dirty="0"/>
          </a:p>
        </p:txBody>
      </p:sp>
      <p:sp>
        <p:nvSpPr>
          <p:cNvPr id="13" name="Shape 10"/>
          <p:cNvSpPr/>
          <p:nvPr/>
        </p:nvSpPr>
        <p:spPr>
          <a:xfrm>
            <a:off x="594360" y="4919472"/>
            <a:ext cx="5715000" cy="0"/>
          </a:xfrm>
          <a:prstGeom prst="line">
            <a:avLst/>
          </a:prstGeom>
          <a:noFill/>
          <a:ln w="1270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94360" y="5184648"/>
            <a:ext cx="73152" cy="0"/>
          </a:xfrm>
          <a:prstGeom prst="line">
            <a:avLst/>
          </a:prstGeom>
          <a:noFill/>
          <a:ln w="1397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8952" y="5056632"/>
            <a:ext cx="5550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Populační frekvence</a:t>
            </a:r>
            <a:endParaRPr lang="en-US" sz="1170" dirty="0"/>
          </a:p>
        </p:txBody>
      </p:sp>
      <p:sp>
        <p:nvSpPr>
          <p:cNvPr id="16" name="Shape 13"/>
          <p:cNvSpPr/>
          <p:nvPr/>
        </p:nvSpPr>
        <p:spPr>
          <a:xfrm>
            <a:off x="594360" y="5458968"/>
            <a:ext cx="73152" cy="0"/>
          </a:xfrm>
          <a:prstGeom prst="line">
            <a:avLst/>
          </a:prstGeom>
          <a:noFill/>
          <a:ln w="1397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8952" y="5330952"/>
            <a:ext cx="5550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Předpokládaný dopad na gen nebo protein</a:t>
            </a:r>
            <a:endParaRPr lang="en-US" sz="1170" dirty="0"/>
          </a:p>
        </p:txBody>
      </p:sp>
      <p:sp>
        <p:nvSpPr>
          <p:cNvPr id="18" name="Shape 15"/>
          <p:cNvSpPr/>
          <p:nvPr/>
        </p:nvSpPr>
        <p:spPr>
          <a:xfrm>
            <a:off x="594360" y="5733288"/>
            <a:ext cx="73152" cy="0"/>
          </a:xfrm>
          <a:prstGeom prst="line">
            <a:avLst/>
          </a:prstGeom>
          <a:noFill/>
          <a:ln w="1397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8952" y="5605272"/>
            <a:ext cx="5550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 a splicingová data</a:t>
            </a:r>
            <a:endParaRPr lang="en-US" sz="1170" dirty="0"/>
          </a:p>
        </p:txBody>
      </p:sp>
      <p:sp>
        <p:nvSpPr>
          <p:cNvPr id="20" name="Shape 17"/>
          <p:cNvSpPr/>
          <p:nvPr/>
        </p:nvSpPr>
        <p:spPr>
          <a:xfrm>
            <a:off x="594360" y="6007608"/>
            <a:ext cx="73152" cy="0"/>
          </a:xfrm>
          <a:prstGeom prst="line">
            <a:avLst/>
          </a:prstGeom>
          <a:noFill/>
          <a:ln w="1397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58952" y="5879592"/>
            <a:ext cx="5550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Funkční studie</a:t>
            </a:r>
            <a:endParaRPr lang="en-US" sz="1170" dirty="0"/>
          </a:p>
        </p:txBody>
      </p:sp>
      <p:sp>
        <p:nvSpPr>
          <p:cNvPr id="22" name="Shape 19"/>
          <p:cNvSpPr/>
          <p:nvPr/>
        </p:nvSpPr>
        <p:spPr>
          <a:xfrm>
            <a:off x="594360" y="6281928"/>
            <a:ext cx="73152" cy="0"/>
          </a:xfrm>
          <a:prstGeom prst="line">
            <a:avLst/>
          </a:prstGeom>
          <a:noFill/>
          <a:ln w="1397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58952" y="6153912"/>
            <a:ext cx="5550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Klinická a rodinná data</a:t>
            </a:r>
            <a:endParaRPr lang="en-US" sz="1170" dirty="0"/>
          </a:p>
        </p:txBody>
      </p:sp>
      <p:sp>
        <p:nvSpPr>
          <p:cNvPr id="24" name="Text 21"/>
          <p:cNvSpPr/>
          <p:nvPr/>
        </p:nvSpPr>
        <p:spPr>
          <a:xfrm>
            <a:off x="6629400" y="150876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70" b="1" kern="0" spc="11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Pět kategorií</a:t>
            </a:r>
            <a:endParaRPr lang="en-US" sz="770" dirty="0"/>
          </a:p>
        </p:txBody>
      </p:sp>
      <p:sp>
        <p:nvSpPr>
          <p:cNvPr id="25" name="Shape 22"/>
          <p:cNvSpPr/>
          <p:nvPr/>
        </p:nvSpPr>
        <p:spPr>
          <a:xfrm>
            <a:off x="6629400" y="1755648"/>
            <a:ext cx="4983480" cy="0"/>
          </a:xfrm>
          <a:prstGeom prst="line">
            <a:avLst/>
          </a:prstGeom>
          <a:noFill/>
          <a:ln w="1270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629400" y="1929384"/>
            <a:ext cx="98755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Benigní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6638544" y="1938528"/>
            <a:ext cx="969264" cy="54864"/>
          </a:xfrm>
          <a:prstGeom prst="rect">
            <a:avLst/>
          </a:prstGeom>
          <a:solidFill>
            <a:srgbClr val="4E8C6E"/>
          </a:solidFill>
          <a:ln w="12700">
            <a:solidFill>
              <a:srgbClr val="4E8C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626096" y="1929384"/>
            <a:ext cx="98755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Pravděpodobně benigní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7635240" y="1938528"/>
            <a:ext cx="969264" cy="54864"/>
          </a:xfrm>
          <a:prstGeom prst="rect">
            <a:avLst/>
          </a:prstGeom>
          <a:solidFill>
            <a:srgbClr val="8FB49E"/>
          </a:solidFill>
          <a:ln w="12700">
            <a:solidFill>
              <a:srgbClr val="8FB4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22792" y="1929384"/>
            <a:ext cx="98755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Varianta nejasného významu (VUS)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8631936" y="1938528"/>
            <a:ext cx="969264" cy="54864"/>
          </a:xfrm>
          <a:prstGeom prst="rect">
            <a:avLst/>
          </a:prstGeom>
          <a:solidFill>
            <a:srgbClr val="B9AE7C"/>
          </a:solidFill>
          <a:ln w="12700">
            <a:solidFill>
              <a:srgbClr val="B9AE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619488" y="1929384"/>
            <a:ext cx="98755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Pravděpodobně patogenní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9628632" y="1938528"/>
            <a:ext cx="969264" cy="54864"/>
          </a:xfrm>
          <a:prstGeom prst="rect">
            <a:avLst/>
          </a:prstGeom>
          <a:solidFill>
            <a:srgbClr val="C79A8C"/>
          </a:solidFill>
          <a:ln w="12700">
            <a:solidFill>
              <a:srgbClr val="C79A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0616184" y="1929384"/>
            <a:ext cx="98755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Patogenní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10625328" y="1938528"/>
            <a:ext cx="969264" cy="54864"/>
          </a:xfrm>
          <a:prstGeom prst="rect">
            <a:avLst/>
          </a:prstGeom>
          <a:solidFill>
            <a:srgbClr val="B0554A"/>
          </a:solidFill>
          <a:ln w="12700">
            <a:solidFill>
              <a:srgbClr val="B055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629400" y="274320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70" b="1" kern="0" spc="11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r>
              <a:rPr lang="cs-CZ" sz="770" b="1" kern="0" spc="11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 je klasifikace náročná</a:t>
            </a:r>
            <a:endParaRPr lang="en-US" sz="770" dirty="0"/>
          </a:p>
        </p:txBody>
      </p:sp>
      <p:sp>
        <p:nvSpPr>
          <p:cNvPr id="37" name="Shape 34"/>
          <p:cNvSpPr/>
          <p:nvPr/>
        </p:nvSpPr>
        <p:spPr>
          <a:xfrm>
            <a:off x="6629400" y="2990088"/>
            <a:ext cx="4983480" cy="0"/>
          </a:xfrm>
          <a:prstGeom prst="line">
            <a:avLst/>
          </a:prstGeom>
          <a:noFill/>
          <a:ln w="1270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629400" y="3145536"/>
            <a:ext cx="4983480" cy="1014984"/>
          </a:xfrm>
          <a:prstGeom prst="rect">
            <a:avLst/>
          </a:prstGeom>
          <a:solidFill>
            <a:srgbClr val="F5F8F8"/>
          </a:solidFill>
          <a:ln w="9525">
            <a:solidFill>
              <a:srgbClr val="DC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/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Klasifikace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variant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může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být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časově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náročná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a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vyžaduje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značnou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odbornou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znalost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.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Relevantní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důkazy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jsou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rozptýlené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v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databázích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predikčních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nástrojích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a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odborných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publikacích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a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jednotlivá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kritéria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je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nutné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aplikovat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podle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komplexních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často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genově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specifických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pravidel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.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Některá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kritéria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lze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vyhodnotit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výpočetně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jiná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stále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vyžadují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manuální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odborné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20" dirty="0" err="1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posouzení</a:t>
            </a:r>
            <a:r>
              <a:rPr lang="en-US" sz="1120" dirty="0">
                <a:solidFill>
                  <a:srgbClr val="5B6E76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39" name="Text 36"/>
          <p:cNvSpPr/>
          <p:nvPr/>
        </p:nvSpPr>
        <p:spPr>
          <a:xfrm>
            <a:off x="6629400" y="452628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70" b="1" kern="0" spc="11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Základní princip</a:t>
            </a:r>
            <a:endParaRPr lang="en-US" sz="770" dirty="0"/>
          </a:p>
        </p:txBody>
      </p:sp>
      <p:sp>
        <p:nvSpPr>
          <p:cNvPr id="40" name="Shape 37"/>
          <p:cNvSpPr/>
          <p:nvPr/>
        </p:nvSpPr>
        <p:spPr>
          <a:xfrm>
            <a:off x="6629400" y="4773168"/>
            <a:ext cx="4983480" cy="0"/>
          </a:xfrm>
          <a:prstGeom prst="line">
            <a:avLst/>
          </a:prstGeom>
          <a:noFill/>
          <a:ln w="1270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629400" y="4983480"/>
            <a:ext cx="1074420" cy="384048"/>
          </a:xfrm>
          <a:prstGeom prst="rect">
            <a:avLst/>
          </a:prstGeom>
          <a:solidFill>
            <a:srgbClr val="F5F8F8"/>
          </a:solidFill>
          <a:ln w="8890">
            <a:solidFill>
              <a:srgbClr val="DCE4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Varianta</a:t>
            </a:r>
            <a:endParaRPr lang="en-US" sz="960" dirty="0"/>
          </a:p>
        </p:txBody>
      </p:sp>
      <p:sp>
        <p:nvSpPr>
          <p:cNvPr id="42" name="Text 39"/>
          <p:cNvSpPr/>
          <p:nvPr/>
        </p:nvSpPr>
        <p:spPr>
          <a:xfrm>
            <a:off x="7740396" y="508406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932420" y="4983480"/>
            <a:ext cx="1074420" cy="384048"/>
          </a:xfrm>
          <a:prstGeom prst="rect">
            <a:avLst/>
          </a:prstGeom>
          <a:solidFill>
            <a:srgbClr val="F5F8F8"/>
          </a:solidFill>
          <a:ln w="8890">
            <a:solidFill>
              <a:srgbClr val="DCE4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60" dirty="0"/>
          </a:p>
        </p:txBody>
      </p:sp>
      <p:sp>
        <p:nvSpPr>
          <p:cNvPr id="44" name="Text 41"/>
          <p:cNvSpPr/>
          <p:nvPr/>
        </p:nvSpPr>
        <p:spPr>
          <a:xfrm>
            <a:off x="9043416" y="508406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235440" y="4983480"/>
            <a:ext cx="1074420" cy="384048"/>
          </a:xfrm>
          <a:prstGeom prst="rect">
            <a:avLst/>
          </a:prstGeom>
          <a:solidFill>
            <a:srgbClr val="F5F8F8"/>
          </a:solidFill>
          <a:ln w="8890">
            <a:solidFill>
              <a:srgbClr val="DCE4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Kritéria</a:t>
            </a:r>
            <a:endParaRPr lang="en-US" sz="960" dirty="0"/>
          </a:p>
        </p:txBody>
      </p:sp>
      <p:sp>
        <p:nvSpPr>
          <p:cNvPr id="46" name="Text 43"/>
          <p:cNvSpPr/>
          <p:nvPr/>
        </p:nvSpPr>
        <p:spPr>
          <a:xfrm>
            <a:off x="10346436" y="508406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538460" y="4983480"/>
            <a:ext cx="1074420" cy="384048"/>
          </a:xfrm>
          <a:prstGeom prst="rect">
            <a:avLst/>
          </a:prstGeom>
          <a:solidFill>
            <a:srgbClr val="15697A"/>
          </a:solidFill>
          <a:ln w="8890">
            <a:solidFill>
              <a:srgbClr val="15697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Klasifikace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20" dirty="0" err="1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Snímek</a:t>
            </a:r>
            <a:r>
              <a:rPr lang="en-US" sz="750" kern="0" spc="12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50" dirty="0">
                <a:solidFill>
                  <a:srgbClr val="1A2A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ARIANE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566928" cy="0"/>
          </a:xfrm>
          <a:prstGeom prst="line">
            <a:avLst/>
          </a:prstGeom>
          <a:noFill/>
          <a:ln w="1905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ariane_deck_author_identity/images/uochb-iocb-pragu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146" y="310896"/>
            <a:ext cx="1376132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8503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Kamila Clarová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1051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Jiřího Vondráška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Webová</a:t>
            </a:r>
            <a:r>
              <a:rPr lang="en-US" sz="10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80" dirty="0" err="1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aplikace</a:t>
            </a:r>
            <a:r>
              <a:rPr lang="en-US" sz="10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ARIANE automatizuje části interpretace genetických variant podle zavedených klasifikačních kritérií.</a:t>
            </a:r>
            <a:endParaRPr lang="en-US" sz="1080" dirty="0"/>
          </a:p>
          <a:p>
            <a:pPr marL="0" indent="0" algn="l">
              <a:buNone/>
            </a:pP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Vývoj začal geny BRCA1 a BRCA2, protože patří mezi nejlépe popsané geny spojené s dědičnou nádorovou predispozicí a mají detailní expertní pravidla pro interpretaci variant.</a:t>
            </a:r>
            <a:endParaRPr lang="en-US" sz="1080" dirty="0"/>
          </a:p>
          <a:p>
            <a:pPr marL="0" indent="0" algn="l">
              <a:buNone/>
            </a:pP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Současná verze je funkční webová aplikace. Automaticky vyhodnocuje kritéria, která lze odvodit z dostupných anotací a referenčních dat. Kritéria vyžadující odborné posouzení zůstávají jasně označená.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94360" y="34290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70" b="1" kern="0" spc="11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každou variantu ARIANE poskytuje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594360" y="3675888"/>
            <a:ext cx="4023360" cy="0"/>
          </a:xfrm>
          <a:prstGeom prst="line">
            <a:avLst/>
          </a:prstGeom>
          <a:noFill/>
          <a:ln w="1270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3941064"/>
            <a:ext cx="73152" cy="0"/>
          </a:xfrm>
          <a:prstGeom prst="line">
            <a:avLst/>
          </a:prstGeom>
          <a:noFill/>
          <a:ln w="1397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8952" y="381304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Vyhodnocená a aplikovaná kritéria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594360" y="4215384"/>
            <a:ext cx="73152" cy="0"/>
          </a:xfrm>
          <a:prstGeom prst="line">
            <a:avLst/>
          </a:prstGeom>
          <a:noFill/>
          <a:ln w="1397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58952" y="408736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 podporující jednotlivá rozhodnutí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594360" y="4489704"/>
            <a:ext cx="73152" cy="0"/>
          </a:xfrm>
          <a:prstGeom prst="line">
            <a:avLst/>
          </a:prstGeom>
          <a:noFill/>
          <a:ln w="1397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8952" y="436168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Navrženou klasifikaci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594360" y="4764024"/>
            <a:ext cx="73152" cy="0"/>
          </a:xfrm>
          <a:prstGeom prst="line">
            <a:avLst/>
          </a:prstGeom>
          <a:noFill/>
          <a:ln w="1397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58952" y="463600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Varování a položky vyžadující manuální revizi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594360" y="5074920"/>
            <a:ext cx="4023360" cy="0"/>
          </a:xfrm>
          <a:prstGeom prst="line">
            <a:avLst/>
          </a:prstGeom>
          <a:noFill/>
          <a:ln w="889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360" y="5138928"/>
            <a:ext cx="4023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Současná implementace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94360" y="5294376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BRCA1 a BRCA2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94360" y="5422392"/>
            <a:ext cx="4023360" cy="0"/>
          </a:xfrm>
          <a:prstGeom prst="line">
            <a:avLst/>
          </a:prstGeom>
          <a:noFill/>
          <a:ln w="889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94360" y="5486400"/>
            <a:ext cx="4023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Webová aplikace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94360" y="564184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ariane-app.duckdns.org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594360" y="5769864"/>
            <a:ext cx="4023360" cy="0"/>
          </a:xfrm>
          <a:prstGeom prst="line">
            <a:avLst/>
          </a:prstGeom>
          <a:noFill/>
          <a:ln w="889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94360" y="5833872"/>
            <a:ext cx="4023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Spolupráce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94360" y="5989320"/>
            <a:ext cx="4023360" cy="619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MUDr. Zdeněk Kleibl, Ph.D.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RNDr. Jana Soukupová, Ph.D.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Ústav biochemie a experimentální onkologie, 1. lékařská fakulta Univerzity Karlovy</a:t>
            </a:r>
            <a:endParaRPr lang="en-US" sz="880" dirty="0"/>
          </a:p>
        </p:txBody>
      </p:sp>
      <p:pic>
        <p:nvPicPr>
          <p:cNvPr id="29" name="Image 1" descr="/mnt/data/ariane_deck_author_identity/images/ariane-result.png"/>
          <p:cNvPicPr>
            <a:picLocks noChangeAspect="1"/>
          </p:cNvPicPr>
          <p:nvPr/>
        </p:nvPicPr>
        <p:blipFill>
          <a:blip r:embed="rId4"/>
          <a:srcRect r="1303" b="34000"/>
          <a:stretch/>
        </p:blipFill>
        <p:spPr>
          <a:xfrm>
            <a:off x="4800600" y="1417320"/>
            <a:ext cx="6812280" cy="443484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800600" y="1417320"/>
            <a:ext cx="681228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CE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800600" y="5971032"/>
            <a:ext cx="34061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Současná implementace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BRCA1 / BRCA2</a:t>
            </a:r>
            <a:endParaRPr lang="en-US" sz="940" dirty="0"/>
          </a:p>
        </p:txBody>
      </p:sp>
      <p:sp>
        <p:nvSpPr>
          <p:cNvPr id="32" name="Text 28"/>
          <p:cNvSpPr/>
          <p:nvPr/>
        </p:nvSpPr>
        <p:spPr>
          <a:xfrm>
            <a:off x="8206740" y="5971032"/>
            <a:ext cx="34061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Navrženo pro rozšíření na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další geny a genově specifická pravidla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20" dirty="0" err="1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Snímek</a:t>
            </a:r>
            <a:r>
              <a:rPr lang="en-US" sz="750" kern="0" spc="12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50" dirty="0">
                <a:solidFill>
                  <a:srgbClr val="1A2A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Další fáze: evidence z vědecké literatury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566928" cy="0"/>
          </a:xfrm>
          <a:prstGeom prst="line">
            <a:avLst/>
          </a:prstGeom>
          <a:noFill/>
          <a:ln w="19050">
            <a:solidFill>
              <a:srgbClr val="156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ariane_deck_author_identity/images/uochb-iocb-pragu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146" y="310896"/>
            <a:ext cx="1376132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8503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Kamila Clarová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1051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Jiřího Vondráška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všechna evidence potřebná pro interpretaci variant je dostupná ve strukturovaných databázích.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Funkční studie, RNA experimenty a další relevantní výsledky jsou často popsány pouze v jednotlivých publikacích, tabulkách nebo suplementárních datech a dnes vyžadují manuální kuraci literatury.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Jazykové modely budou použity jako nástroj pro podporu vyhledávání literatury a extrakce strukturované evidence. Vytěžená evidence zůstane propojená s původní publikací a bude předkládána k odborné revizi.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4360" y="37033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70" b="1" kern="0" spc="11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První rozsah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594360" y="3950208"/>
            <a:ext cx="5120640" cy="0"/>
          </a:xfrm>
          <a:prstGeom prst="line">
            <a:avLst/>
          </a:prstGeom>
          <a:noFill/>
          <a:ln w="1270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4105656"/>
            <a:ext cx="5120640" cy="0"/>
          </a:xfrm>
          <a:prstGeom prst="line">
            <a:avLst/>
          </a:prstGeom>
          <a:noFill/>
          <a:ln w="889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4169664"/>
            <a:ext cx="5120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Geny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94360" y="43251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BRCA1 a BRCA2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594360" y="4599432"/>
            <a:ext cx="5120640" cy="0"/>
          </a:xfrm>
          <a:prstGeom prst="line">
            <a:avLst/>
          </a:prstGeom>
          <a:noFill/>
          <a:ln w="889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4663440"/>
            <a:ext cx="5120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94360" y="48188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Funkční a RNA / splicingové studie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594360" y="5093208"/>
            <a:ext cx="5120640" cy="0"/>
          </a:xfrm>
          <a:prstGeom prst="line">
            <a:avLst/>
          </a:prstGeom>
          <a:noFill/>
          <a:ln w="889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5157216"/>
            <a:ext cx="5120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9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Proč nejdřív BRCA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94360" y="531266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Existuje velké množství zkurátorované literatury vhodné pro vývoj a hodnocení systému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594360" y="5586984"/>
            <a:ext cx="5120640" cy="0"/>
          </a:xfrm>
          <a:prstGeom prst="line">
            <a:avLst/>
          </a:prstGeom>
          <a:noFill/>
          <a:ln w="889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72200" y="150876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70" b="1" kern="0" spc="11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Plánovaný workflow</a:t>
            </a:r>
            <a:endParaRPr lang="en-US" sz="770" dirty="0"/>
          </a:p>
        </p:txBody>
      </p:sp>
      <p:sp>
        <p:nvSpPr>
          <p:cNvPr id="22" name="Shape 19"/>
          <p:cNvSpPr/>
          <p:nvPr/>
        </p:nvSpPr>
        <p:spPr>
          <a:xfrm>
            <a:off x="6172200" y="1755648"/>
            <a:ext cx="5440680" cy="0"/>
          </a:xfrm>
          <a:prstGeom prst="line">
            <a:avLst/>
          </a:prstGeom>
          <a:noFill/>
          <a:ln w="1270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172200" y="1901952"/>
            <a:ext cx="54406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5697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Vědecká literatura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172200" y="2505456"/>
            <a:ext cx="5440680" cy="438912"/>
          </a:xfrm>
          <a:prstGeom prst="rect">
            <a:avLst/>
          </a:prstGeom>
          <a:solidFill>
            <a:srgbClr val="F5F8F8"/>
          </a:solidFill>
          <a:ln w="9525">
            <a:solidFill>
              <a:srgbClr val="DCE4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Vyhledání relevantních studií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72200" y="3108960"/>
            <a:ext cx="5440680" cy="438912"/>
          </a:xfrm>
          <a:prstGeom prst="rect">
            <a:avLst/>
          </a:prstGeom>
          <a:solidFill>
            <a:srgbClr val="F5F8F8"/>
          </a:solidFill>
          <a:ln w="9525">
            <a:solidFill>
              <a:srgbClr val="DCE4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Identifikace variant, experimentů a výsledků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172200" y="3712464"/>
            <a:ext cx="5440680" cy="438912"/>
          </a:xfrm>
          <a:prstGeom prst="rect">
            <a:avLst/>
          </a:prstGeom>
          <a:solidFill>
            <a:srgbClr val="F5F8F8"/>
          </a:solidFill>
          <a:ln w="9525">
            <a:solidFill>
              <a:srgbClr val="DCE4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Extrakce strukturované evidence propojené se zdrojem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172200" y="4315968"/>
            <a:ext cx="5440680" cy="438912"/>
          </a:xfrm>
          <a:prstGeom prst="rect">
            <a:avLst/>
          </a:prstGeom>
          <a:solidFill>
            <a:srgbClr val="15697A"/>
          </a:solidFill>
          <a:ln w="9525">
            <a:solidFill>
              <a:srgbClr val="15697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Expertní revize a využití v ARIANE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72200" y="498348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70" b="1" kern="0" spc="110" dirty="0">
                <a:solidFill>
                  <a:srgbClr val="8A9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Dlouhodobý směr</a:t>
            </a:r>
            <a:endParaRPr lang="en-US" sz="770" dirty="0"/>
          </a:p>
        </p:txBody>
      </p:sp>
      <p:sp>
        <p:nvSpPr>
          <p:cNvPr id="29" name="Shape 26"/>
          <p:cNvSpPr/>
          <p:nvPr/>
        </p:nvSpPr>
        <p:spPr>
          <a:xfrm>
            <a:off x="6172200" y="5230368"/>
            <a:ext cx="5440680" cy="0"/>
          </a:xfrm>
          <a:prstGeom prst="line">
            <a:avLst/>
          </a:prstGeom>
          <a:noFill/>
          <a:ln w="12700">
            <a:solidFill>
              <a:srgbClr val="EB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72200" y="5385816"/>
            <a:ext cx="5440680" cy="694944"/>
          </a:xfrm>
          <a:prstGeom prst="rect">
            <a:avLst/>
          </a:prstGeom>
          <a:solidFill>
            <a:srgbClr val="F5F8F8"/>
          </a:solidFill>
          <a:ln w="9525">
            <a:solidFill>
              <a:srgbClr val="DC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Stejný rámec lze rozšířit na další geny a genově specifická pravidla interpretace variant.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55448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lang="en-US" sz="850" dirty="0" err="1">
                <a:solidFill>
                  <a:srgbClr val="8A9BA1"/>
                </a:solidFill>
                <a:latin typeface="IBM Plex Mono"/>
              </a:rPr>
              <a:t>Shrnutí</a:t>
            </a:r>
            <a:endParaRPr sz="850" b="0" dirty="0">
              <a:solidFill>
                <a:srgbClr val="8A9BA1"/>
              </a:solidFill>
              <a:latin typeface="IBM Plex Mon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7498079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700" b="0">
                <a:solidFill>
                  <a:srgbClr val="1A2A31"/>
                </a:solidFill>
                <a:latin typeface="Newsreader"/>
              </a:rPr>
              <a:t>Směrem k systematičtější interpretaci variant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566928" cy="22860"/>
          </a:xfrm>
          <a:prstGeom prst="rect">
            <a:avLst/>
          </a:prstGeom>
          <a:solidFill>
            <a:srgbClr val="15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74320"/>
            <a:ext cx="1417320" cy="508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832104"/>
            <a:ext cx="33832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950" b="1">
                <a:solidFill>
                  <a:srgbClr val="1A2A31"/>
                </a:solidFill>
                <a:latin typeface="IBM Plex Sans"/>
              </a:rPr>
              <a:t>Kamila Clarová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033271"/>
            <a:ext cx="33832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900" b="0">
                <a:solidFill>
                  <a:srgbClr val="5B6E76"/>
                </a:solidFill>
                <a:latin typeface="IBM Plex Sans"/>
              </a:rPr>
              <a:t>Skupina Jiřího Vondráška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3291840" cy="4133087"/>
          </a:xfrm>
          <a:prstGeom prst="roundRect">
            <a:avLst>
              <a:gd name="adj" fmla="val 4445"/>
            </a:avLst>
          </a:prstGeom>
          <a:solidFill>
            <a:srgbClr val="F5F8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64592" rtlCol="0" anchor="t">
            <a:normAutofit/>
          </a:bodyPr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8A9BA1"/>
                </a:solidFill>
                <a:latin typeface="IBM Plex Sans"/>
              </a:rPr>
              <a:t>SOUČASNÝ PROBLÉM</a:t>
            </a:r>
          </a:p>
          <a:p>
            <a:pPr>
              <a:lnSpc>
                <a:spcPct val="108000"/>
              </a:lnSpc>
            </a:pPr>
            <a:r>
              <a:rPr sz="1230">
                <a:solidFill>
                  <a:srgbClr val="1A2A31"/>
                </a:solidFill>
                <a:latin typeface="IBM Plex Sans"/>
              </a:rPr>
              <a:t>Klasifikace variant je složitá, časově náročná a vyžaduje značnou odbornou znalost. Dostupné důkazy a genově specifická pravidla proto nejsou v rutinní praxi vždy vyhodnocovány konzistentně.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719072"/>
            <a:ext cx="3840480" cy="4133087"/>
          </a:xfrm>
          <a:prstGeom prst="roundRect">
            <a:avLst>
              <a:gd name="adj" fmla="val 5715"/>
            </a:avLst>
          </a:prstGeom>
          <a:solidFill>
            <a:srgbClr val="F5F8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64592" rtlCol="0" anchor="t">
            <a:normAutofit/>
          </a:bodyPr>
          <a:lstStyle/>
          <a:p>
            <a:pPr algn="ctr">
              <a:spcAft>
                <a:spcPts val="800"/>
              </a:spcAft>
            </a:pPr>
            <a:r>
              <a:rPr sz="1100" b="1" dirty="0">
                <a:solidFill>
                  <a:srgbClr val="8A9BA1"/>
                </a:solidFill>
                <a:latin typeface="IBM Plex Sans"/>
              </a:rPr>
              <a:t>ARIANE V LABORATORNÍ PRAXI</a:t>
            </a:r>
          </a:p>
          <a:p>
            <a:pPr>
              <a:lnSpc>
                <a:spcPct val="108000"/>
              </a:lnSpc>
            </a:pPr>
            <a:r>
              <a:rPr sz="1080" dirty="0">
                <a:solidFill>
                  <a:srgbClr val="1A2A31"/>
                </a:solidFill>
                <a:latin typeface="IBM Plex Sans"/>
              </a:rPr>
              <a:t>ARIANE je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navržena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jako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praktický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nástroj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pro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laboratoře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provádějící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klasifikaci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genetických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variant.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Při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hodnocení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konkrétní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varianty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automaticky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vyhodnocuje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použitelná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kritéria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,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dokumentuje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podkladovou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evidenci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a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provádí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uživatele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klasifikačním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procesem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.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Vývoj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probíhá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ve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spolupráci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s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členy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ENIGMA Janou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Soukupovou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a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Zdeňkem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Kleiblem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, a je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tak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úzce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propojen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s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expertní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komunitou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zabývající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se </a:t>
            </a:r>
            <a:r>
              <a:rPr sz="1080" dirty="0" err="1">
                <a:solidFill>
                  <a:srgbClr val="1A2A31"/>
                </a:solidFill>
                <a:latin typeface="IBM Plex Sans"/>
              </a:rPr>
              <a:t>interpretací</a:t>
            </a:r>
            <a:r>
              <a:rPr sz="1080" dirty="0">
                <a:solidFill>
                  <a:srgbClr val="1A2A31"/>
                </a:solidFill>
                <a:latin typeface="IBM Plex Sans"/>
              </a:rPr>
              <a:t> variant BRCA1/2.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1719072"/>
            <a:ext cx="3337560" cy="4133087"/>
          </a:xfrm>
          <a:prstGeom prst="roundRect">
            <a:avLst>
              <a:gd name="adj" fmla="val 3516"/>
            </a:avLst>
          </a:prstGeom>
          <a:solidFill>
            <a:srgbClr val="F5F8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64592" rtlCol="0" anchor="t">
            <a:normAutofit/>
          </a:bodyPr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8A9BA1"/>
                </a:solidFill>
                <a:latin typeface="IBM Plex Sans"/>
              </a:rPr>
              <a:t>DALŠÍ KROK VE VÝVOJI</a:t>
            </a:r>
          </a:p>
          <a:p>
            <a:pPr>
              <a:lnSpc>
                <a:spcPct val="108000"/>
              </a:lnSpc>
            </a:pPr>
            <a:r>
              <a:rPr sz="1230">
                <a:solidFill>
                  <a:srgbClr val="1A2A31"/>
                </a:solidFill>
                <a:latin typeface="IBM Plex Sans"/>
              </a:rPr>
              <a:t>Rozšířit tento rámec na důkazy obsažené ve vědecké literatuře, přičemž expertní revize zůstává nedílnou součástí interpretačního procesu.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36208"/>
            <a:ext cx="6400800" cy="256032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r>
              <a:rPr sz="1050" u="sng">
                <a:solidFill>
                  <a:srgbClr val="15697A"/>
                </a:solidFill>
                <a:latin typeface="IBM Plex Sans"/>
                <a:hlinkClick r:id="rId3"/>
              </a:rPr>
              <a:t>Video ukázka: ARIANE - klasifikace variant BRCA1/2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1300</Words>
  <Application>Microsoft Office PowerPoint</Application>
  <PresentationFormat>Widescreen</PresentationFormat>
  <Paragraphs>196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Courier New</vt:lpstr>
      <vt:lpstr>Georgia</vt:lpstr>
      <vt:lpstr>IBM Plex Mono</vt:lpstr>
      <vt:lpstr>IBM Plex Sans</vt:lpstr>
      <vt:lpstr>Newsreader</vt:lpstr>
      <vt:lpstr>Segoe UI</vt:lpstr>
      <vt:lpstr>Office Theme</vt:lpstr>
      <vt:lpstr>ARIANE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kamila clarova</dc:creator>
  <cp:lastModifiedBy>kamila clarova</cp:lastModifiedBy>
  <cp:revision>16</cp:revision>
  <dcterms:created xsi:type="dcterms:W3CDTF">2026-08-31T10:16:31Z</dcterms:created>
  <dcterms:modified xsi:type="dcterms:W3CDTF">2026-09-02T11:34:57Z</dcterms:modified>
</cp:coreProperties>
</file>