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9" autoAdjust="0"/>
    <p:restoredTop sz="74008" autoAdjust="0"/>
  </p:normalViewPr>
  <p:slideViewPr>
    <p:cSldViewPr snapToGrid="0">
      <p:cViewPr varScale="1">
        <p:scale>
          <a:sx n="118" d="100"/>
          <a:sy n="118" d="100"/>
        </p:scale>
        <p:origin x="407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2451253-935D-46F9-9C3E-E33D74DC1BD2}"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BFAF38C-FF42-4CB1-B9EA-0EB5B95EB83F}" type="slidenum">
              <a:rPr lang="en-US" smtClean="0"/>
              <a:t>‹#›</a:t>
            </a:fld>
            <a:endParaRPr lang="en-US"/>
          </a:p>
        </p:txBody>
      </p:sp>
    </p:spTree>
    <p:extLst>
      <p:ext uri="{BB962C8B-B14F-4D97-AF65-F5344CB8AC3E}">
        <p14:creationId xmlns:p14="http://schemas.microsoft.com/office/powerpoint/2010/main" val="11497666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Základní</a:t>
            </a:r>
            <a:r>
              <a:rPr lang="en-US" dirty="0"/>
              <a:t> </a:t>
            </a:r>
            <a:r>
              <a:rPr lang="en-US" dirty="0" err="1"/>
              <a:t>problém</a:t>
            </a:r>
            <a:r>
              <a:rPr lang="en-US" dirty="0"/>
              <a:t>: </a:t>
            </a:r>
            <a:r>
              <a:rPr lang="en-US" dirty="0" err="1"/>
              <a:t>genetický</a:t>
            </a:r>
            <a:r>
              <a:rPr lang="en-US" dirty="0"/>
              <a:t> test </a:t>
            </a:r>
            <a:r>
              <a:rPr lang="en-US" dirty="0" err="1"/>
              <a:t>najde</a:t>
            </a:r>
            <a:r>
              <a:rPr lang="en-US" dirty="0"/>
              <a:t> </a:t>
            </a:r>
            <a:r>
              <a:rPr lang="en-US" dirty="0" err="1"/>
              <a:t>variantu</a:t>
            </a:r>
            <a:r>
              <a:rPr lang="en-US" dirty="0"/>
              <a:t>, ale </a:t>
            </a:r>
            <a:r>
              <a:rPr lang="en-US" dirty="0" err="1"/>
              <a:t>samotný</a:t>
            </a:r>
            <a:r>
              <a:rPr lang="en-US" dirty="0"/>
              <a:t> </a:t>
            </a:r>
            <a:r>
              <a:rPr lang="en-US" dirty="0" err="1"/>
              <a:t>nález</a:t>
            </a:r>
            <a:r>
              <a:rPr lang="en-US" dirty="0"/>
              <a:t> </a:t>
            </a:r>
            <a:r>
              <a:rPr lang="en-US" dirty="0" err="1"/>
              <a:t>ještě</a:t>
            </a:r>
            <a:r>
              <a:rPr lang="en-US" dirty="0"/>
              <a:t> </a:t>
            </a:r>
            <a:r>
              <a:rPr lang="en-US" dirty="0" err="1"/>
              <a:t>neříká</a:t>
            </a:r>
            <a:r>
              <a:rPr lang="en-US" dirty="0"/>
              <a:t>, </a:t>
            </a:r>
            <a:r>
              <a:rPr lang="en-US" dirty="0" err="1"/>
              <a:t>zda</a:t>
            </a:r>
            <a:r>
              <a:rPr lang="en-US" dirty="0"/>
              <a:t> je </a:t>
            </a:r>
            <a:r>
              <a:rPr lang="en-US" dirty="0" err="1"/>
              <a:t>klinicky</a:t>
            </a:r>
            <a:r>
              <a:rPr lang="en-US" dirty="0"/>
              <a:t> </a:t>
            </a:r>
            <a:r>
              <a:rPr lang="en-US" dirty="0" err="1"/>
              <a:t>významná</a:t>
            </a:r>
            <a:r>
              <a:rPr lang="en-US" dirty="0"/>
              <a:t>.</a:t>
            </a:r>
          </a:p>
          <a:p>
            <a:endParaRPr lang="en-US" dirty="0"/>
          </a:p>
          <a:p>
            <a:r>
              <a:rPr lang="en-US" dirty="0"/>
              <a:t>Co je </a:t>
            </a:r>
            <a:r>
              <a:rPr lang="en-US" dirty="0" err="1"/>
              <a:t>kritérium</a:t>
            </a:r>
            <a:r>
              <a:rPr lang="en-US" dirty="0"/>
              <a:t>: </a:t>
            </a:r>
            <a:r>
              <a:rPr lang="en-US" dirty="0" err="1"/>
              <a:t>předem</a:t>
            </a:r>
            <a:r>
              <a:rPr lang="en-US" dirty="0"/>
              <a:t> </a:t>
            </a:r>
            <a:r>
              <a:rPr lang="en-US" dirty="0" err="1"/>
              <a:t>definovaný</a:t>
            </a:r>
            <a:r>
              <a:rPr lang="en-US" dirty="0"/>
              <a:t> </a:t>
            </a:r>
            <a:r>
              <a:rPr lang="en-US" dirty="0" err="1"/>
              <a:t>typ</a:t>
            </a:r>
            <a:r>
              <a:rPr lang="en-US" dirty="0"/>
              <a:t> </a:t>
            </a:r>
            <a:r>
              <a:rPr lang="en-US" dirty="0" err="1"/>
              <a:t>důkazu</a:t>
            </a:r>
            <a:r>
              <a:rPr lang="en-US" dirty="0"/>
              <a:t>, </a:t>
            </a:r>
            <a:r>
              <a:rPr lang="en-US" dirty="0" err="1"/>
              <a:t>který</a:t>
            </a:r>
            <a:r>
              <a:rPr lang="en-US" dirty="0"/>
              <a:t> </a:t>
            </a:r>
            <a:r>
              <a:rPr lang="en-US" dirty="0" err="1"/>
              <a:t>posouvá</a:t>
            </a:r>
            <a:r>
              <a:rPr lang="en-US" dirty="0"/>
              <a:t> </a:t>
            </a:r>
            <a:r>
              <a:rPr lang="en-US" dirty="0" err="1"/>
              <a:t>klasifikaci</a:t>
            </a:r>
            <a:r>
              <a:rPr lang="en-US" dirty="0"/>
              <a:t> </a:t>
            </a:r>
            <a:r>
              <a:rPr lang="en-US" dirty="0" err="1"/>
              <a:t>směrem</a:t>
            </a:r>
            <a:r>
              <a:rPr lang="en-US" dirty="0"/>
              <a:t> k </a:t>
            </a:r>
            <a:r>
              <a:rPr lang="en-US" dirty="0" err="1"/>
              <a:t>benigní</a:t>
            </a:r>
            <a:r>
              <a:rPr lang="en-US" dirty="0"/>
              <a:t> </a:t>
            </a:r>
            <a:r>
              <a:rPr lang="en-US" dirty="0" err="1"/>
              <a:t>nebo</a:t>
            </a:r>
            <a:r>
              <a:rPr lang="en-US" dirty="0"/>
              <a:t> </a:t>
            </a:r>
            <a:r>
              <a:rPr lang="en-US" dirty="0" err="1"/>
              <a:t>patogenní</a:t>
            </a:r>
            <a:r>
              <a:rPr lang="en-US" dirty="0"/>
              <a:t> </a:t>
            </a:r>
            <a:r>
              <a:rPr lang="en-US" dirty="0" err="1"/>
              <a:t>variantě</a:t>
            </a:r>
            <a:r>
              <a:rPr lang="en-US" dirty="0"/>
              <a:t>.</a:t>
            </a:r>
          </a:p>
          <a:p>
            <a:endParaRPr lang="en-US" dirty="0"/>
          </a:p>
          <a:p>
            <a:r>
              <a:rPr lang="en-US" dirty="0" err="1"/>
              <a:t>Problém</a:t>
            </a:r>
            <a:r>
              <a:rPr lang="en-US" dirty="0"/>
              <a:t> je, </a:t>
            </a:r>
            <a:r>
              <a:rPr lang="en-US" dirty="0" err="1"/>
              <a:t>že</a:t>
            </a:r>
            <a:r>
              <a:rPr lang="en-US" dirty="0"/>
              <a:t> </a:t>
            </a:r>
            <a:r>
              <a:rPr lang="en-US" dirty="0" err="1"/>
              <a:t>samotná</a:t>
            </a:r>
            <a:r>
              <a:rPr lang="en-US" dirty="0"/>
              <a:t> </a:t>
            </a:r>
            <a:r>
              <a:rPr lang="en-US" dirty="0" err="1"/>
              <a:t>kritéria</a:t>
            </a:r>
            <a:r>
              <a:rPr lang="en-US" dirty="0"/>
              <a:t> </a:t>
            </a:r>
            <a:r>
              <a:rPr lang="en-US" dirty="0" err="1"/>
              <a:t>mohou</a:t>
            </a:r>
            <a:r>
              <a:rPr lang="en-US" dirty="0"/>
              <a:t> </a:t>
            </a:r>
            <a:r>
              <a:rPr lang="en-US" dirty="0" err="1"/>
              <a:t>být</a:t>
            </a:r>
            <a:r>
              <a:rPr lang="en-US" dirty="0"/>
              <a:t> </a:t>
            </a:r>
            <a:r>
              <a:rPr lang="en-US" dirty="0" err="1"/>
              <a:t>velmi</a:t>
            </a:r>
            <a:r>
              <a:rPr lang="en-US" dirty="0"/>
              <a:t> </a:t>
            </a:r>
            <a:r>
              <a:rPr lang="en-US" dirty="0" err="1"/>
              <a:t>složitá</a:t>
            </a:r>
            <a:r>
              <a:rPr lang="en-US" dirty="0"/>
              <a:t>. Je </a:t>
            </a:r>
            <a:r>
              <a:rPr lang="en-US" dirty="0" err="1"/>
              <a:t>potřeba</a:t>
            </a:r>
            <a:r>
              <a:rPr lang="en-US" dirty="0"/>
              <a:t> </a:t>
            </a:r>
            <a:r>
              <a:rPr lang="en-US" dirty="0" err="1"/>
              <a:t>pracovat</a:t>
            </a:r>
            <a:r>
              <a:rPr lang="en-US" dirty="0"/>
              <a:t> s </a:t>
            </a:r>
            <a:r>
              <a:rPr lang="en-US" dirty="0" err="1"/>
              <a:t>tabulkami</a:t>
            </a:r>
            <a:r>
              <a:rPr lang="en-US" dirty="0"/>
              <a:t> </a:t>
            </a:r>
            <a:r>
              <a:rPr lang="en-US" dirty="0" err="1"/>
              <a:t>důkazů</a:t>
            </a:r>
            <a:r>
              <a:rPr lang="en-US" dirty="0"/>
              <a:t>, </a:t>
            </a:r>
            <a:r>
              <a:rPr lang="en-US" dirty="0" err="1"/>
              <a:t>různými</a:t>
            </a:r>
            <a:r>
              <a:rPr lang="en-US" dirty="0"/>
              <a:t> </a:t>
            </a:r>
            <a:r>
              <a:rPr lang="en-US" dirty="0" err="1"/>
              <a:t>typy</a:t>
            </a:r>
            <a:r>
              <a:rPr lang="en-US" dirty="0"/>
              <a:t> </a:t>
            </a:r>
            <a:r>
              <a:rPr lang="en-US" dirty="0" err="1"/>
              <a:t>skóre</a:t>
            </a:r>
            <a:r>
              <a:rPr lang="en-US" dirty="0"/>
              <a:t> a </a:t>
            </a:r>
            <a:r>
              <a:rPr lang="en-US" dirty="0" err="1"/>
              <a:t>nakonec</a:t>
            </a:r>
            <a:r>
              <a:rPr lang="en-US" dirty="0"/>
              <a:t> </a:t>
            </a:r>
            <a:r>
              <a:rPr lang="en-US" dirty="0" err="1"/>
              <a:t>všechno</a:t>
            </a:r>
            <a:r>
              <a:rPr lang="en-US" dirty="0"/>
              <a:t> </a:t>
            </a:r>
            <a:r>
              <a:rPr lang="en-US" dirty="0" err="1"/>
              <a:t>správně</a:t>
            </a:r>
            <a:r>
              <a:rPr lang="en-US" dirty="0"/>
              <a:t> </a:t>
            </a:r>
            <a:r>
              <a:rPr lang="en-US" dirty="0" err="1"/>
              <a:t>spojit</a:t>
            </a:r>
            <a:r>
              <a:rPr lang="en-US" dirty="0"/>
              <a:t> </a:t>
            </a:r>
            <a:r>
              <a:rPr lang="en-US" dirty="0" err="1"/>
              <a:t>pomocí</a:t>
            </a:r>
            <a:r>
              <a:rPr lang="en-US" dirty="0"/>
              <a:t> </a:t>
            </a:r>
            <a:r>
              <a:rPr lang="en-US" dirty="0" err="1"/>
              <a:t>rozhodovacích</a:t>
            </a:r>
            <a:r>
              <a:rPr lang="en-US" dirty="0"/>
              <a:t> </a:t>
            </a:r>
            <a:r>
              <a:rPr lang="en-US" dirty="0" err="1"/>
              <a:t>pravidel</a:t>
            </a:r>
            <a:r>
              <a:rPr lang="en-US" dirty="0"/>
              <a:t>. Ne </a:t>
            </a:r>
            <a:r>
              <a:rPr lang="en-US" dirty="0" err="1"/>
              <a:t>všechny</a:t>
            </a:r>
            <a:r>
              <a:rPr lang="en-US" dirty="0"/>
              <a:t> </a:t>
            </a:r>
            <a:r>
              <a:rPr lang="en-US" dirty="0" err="1"/>
              <a:t>laboratoře</a:t>
            </a:r>
            <a:r>
              <a:rPr lang="en-US" dirty="0"/>
              <a:t> </a:t>
            </a:r>
            <a:r>
              <a:rPr lang="en-US" dirty="0" err="1"/>
              <a:t>mají</a:t>
            </a:r>
            <a:r>
              <a:rPr lang="en-US" dirty="0"/>
              <a:t> </a:t>
            </a:r>
            <a:r>
              <a:rPr lang="en-US" dirty="0" err="1"/>
              <a:t>dostatek</a:t>
            </a:r>
            <a:r>
              <a:rPr lang="en-US" dirty="0"/>
              <a:t> </a:t>
            </a:r>
            <a:r>
              <a:rPr lang="en-US" dirty="0" err="1"/>
              <a:t>času</a:t>
            </a:r>
            <a:r>
              <a:rPr lang="en-US" dirty="0"/>
              <a:t> </a:t>
            </a:r>
            <a:r>
              <a:rPr lang="en-US" dirty="0" err="1"/>
              <a:t>nebo</a:t>
            </a:r>
            <a:r>
              <a:rPr lang="en-US" dirty="0"/>
              <a:t> </a:t>
            </a:r>
            <a:r>
              <a:rPr lang="en-US" dirty="0" err="1"/>
              <a:t>potřebnou</a:t>
            </a:r>
            <a:r>
              <a:rPr lang="en-US" dirty="0"/>
              <a:t> </a:t>
            </a:r>
            <a:r>
              <a:rPr lang="en-US" dirty="0" err="1"/>
              <a:t>odbornost</a:t>
            </a:r>
            <a:r>
              <a:rPr lang="en-US" dirty="0"/>
              <a:t> </a:t>
            </a:r>
            <a:r>
              <a:rPr lang="en-US" dirty="0" err="1"/>
              <a:t>na</a:t>
            </a:r>
            <a:r>
              <a:rPr lang="en-US" dirty="0"/>
              <a:t> to, aby </a:t>
            </a:r>
            <a:r>
              <a:rPr lang="en-US" dirty="0" err="1"/>
              <a:t>klasifikaci</a:t>
            </a:r>
            <a:r>
              <a:rPr lang="en-US" dirty="0"/>
              <a:t> </a:t>
            </a:r>
            <a:r>
              <a:rPr lang="en-US" dirty="0" err="1"/>
              <a:t>prováděly</a:t>
            </a:r>
            <a:r>
              <a:rPr lang="en-US" dirty="0"/>
              <a:t> v </a:t>
            </a:r>
            <a:r>
              <a:rPr lang="en-US" dirty="0" err="1"/>
              <a:t>takové</a:t>
            </a:r>
            <a:r>
              <a:rPr lang="en-US" dirty="0"/>
              <a:t> </a:t>
            </a:r>
            <a:r>
              <a:rPr lang="en-US" dirty="0" err="1"/>
              <a:t>hloubce</a:t>
            </a:r>
            <a:r>
              <a:rPr lang="en-US" dirty="0"/>
              <a:t>, jak by </a:t>
            </a:r>
            <a:r>
              <a:rPr lang="en-US" dirty="0" err="1"/>
              <a:t>bylo</a:t>
            </a:r>
            <a:r>
              <a:rPr lang="en-US" dirty="0"/>
              <a:t> </a:t>
            </a:r>
            <a:r>
              <a:rPr lang="en-US" dirty="0" err="1"/>
              <a:t>ideální</a:t>
            </a:r>
            <a:r>
              <a:rPr lang="en-US" dirty="0"/>
              <a:t>. V </a:t>
            </a:r>
            <a:r>
              <a:rPr lang="en-US" dirty="0" err="1"/>
              <a:t>praxi</a:t>
            </a:r>
            <a:r>
              <a:rPr lang="en-US" dirty="0"/>
              <a:t> se pak </a:t>
            </a:r>
            <a:r>
              <a:rPr lang="en-US" dirty="0" err="1"/>
              <a:t>někdy</a:t>
            </a:r>
            <a:r>
              <a:rPr lang="en-US" dirty="0"/>
              <a:t> </a:t>
            </a:r>
            <a:r>
              <a:rPr lang="en-US" dirty="0" err="1"/>
              <a:t>sklouzne</a:t>
            </a:r>
            <a:r>
              <a:rPr lang="en-US" dirty="0"/>
              <a:t> k </a:t>
            </a:r>
            <a:r>
              <a:rPr lang="en-US" dirty="0" err="1"/>
              <a:t>přístupu</a:t>
            </a:r>
            <a:r>
              <a:rPr lang="en-US" dirty="0"/>
              <a:t> </a:t>
            </a:r>
            <a:r>
              <a:rPr lang="en-US" dirty="0" err="1"/>
              <a:t>typu</a:t>
            </a:r>
            <a:r>
              <a:rPr lang="en-US" dirty="0"/>
              <a:t>: </a:t>
            </a:r>
            <a:r>
              <a:rPr lang="en-US" dirty="0" err="1"/>
              <a:t>podívám</a:t>
            </a:r>
            <a:r>
              <a:rPr lang="en-US" dirty="0"/>
              <a:t> se, jak </a:t>
            </a:r>
            <a:r>
              <a:rPr lang="en-US" dirty="0" err="1"/>
              <a:t>tuto</a:t>
            </a:r>
            <a:r>
              <a:rPr lang="en-US" dirty="0"/>
              <a:t> </a:t>
            </a:r>
            <a:r>
              <a:rPr lang="en-US" dirty="0" err="1"/>
              <a:t>variantu</a:t>
            </a:r>
            <a:r>
              <a:rPr lang="en-US" dirty="0"/>
              <a:t> </a:t>
            </a:r>
            <a:r>
              <a:rPr lang="en-US" dirty="0" err="1"/>
              <a:t>hodnotili</a:t>
            </a:r>
            <a:r>
              <a:rPr lang="en-US" dirty="0"/>
              <a:t> </a:t>
            </a:r>
            <a:r>
              <a:rPr lang="en-US" dirty="0" err="1"/>
              <a:t>ostatní</a:t>
            </a:r>
            <a:r>
              <a:rPr lang="en-US" dirty="0"/>
              <a:t> v </a:t>
            </a:r>
            <a:r>
              <a:rPr lang="en-US" dirty="0" err="1"/>
              <a:t>ClinVaru</a:t>
            </a:r>
            <a:r>
              <a:rPr lang="en-US" dirty="0"/>
              <a:t>. </a:t>
            </a:r>
            <a:r>
              <a:rPr lang="en-US" dirty="0" err="1"/>
              <a:t>Tím</a:t>
            </a:r>
            <a:r>
              <a:rPr lang="en-US" dirty="0"/>
              <a:t> ale </a:t>
            </a:r>
            <a:r>
              <a:rPr lang="en-US" dirty="0" err="1"/>
              <a:t>může</a:t>
            </a:r>
            <a:r>
              <a:rPr lang="en-US" dirty="0"/>
              <a:t> </a:t>
            </a:r>
            <a:r>
              <a:rPr lang="en-US" dirty="0" err="1"/>
              <a:t>vznikat</a:t>
            </a:r>
            <a:r>
              <a:rPr lang="en-US" dirty="0"/>
              <a:t> </a:t>
            </a:r>
            <a:r>
              <a:rPr lang="en-US" dirty="0" err="1"/>
              <a:t>kruhové</a:t>
            </a:r>
            <a:r>
              <a:rPr lang="en-US" dirty="0"/>
              <a:t> </a:t>
            </a:r>
            <a:r>
              <a:rPr lang="en-US" dirty="0" err="1"/>
              <a:t>hodnocení</a:t>
            </a:r>
            <a:r>
              <a:rPr lang="en-US" dirty="0"/>
              <a:t>, </a:t>
            </a:r>
            <a:r>
              <a:rPr lang="en-US" dirty="0" err="1"/>
              <a:t>kdy</a:t>
            </a:r>
            <a:r>
              <a:rPr lang="en-US" dirty="0"/>
              <a:t> se </a:t>
            </a:r>
            <a:r>
              <a:rPr lang="en-US" dirty="0" err="1"/>
              <a:t>jednotlivé</a:t>
            </a:r>
            <a:r>
              <a:rPr lang="en-US" dirty="0"/>
              <a:t> </a:t>
            </a:r>
            <a:r>
              <a:rPr lang="en-US" dirty="0" err="1"/>
              <a:t>záznamy</a:t>
            </a:r>
            <a:r>
              <a:rPr lang="en-US" dirty="0"/>
              <a:t> </a:t>
            </a:r>
            <a:r>
              <a:rPr lang="en-US" dirty="0" err="1"/>
              <a:t>opírají</a:t>
            </a:r>
            <a:r>
              <a:rPr lang="en-US" dirty="0"/>
              <a:t> </a:t>
            </a:r>
            <a:r>
              <a:rPr lang="en-US" dirty="0" err="1"/>
              <a:t>jeden</a:t>
            </a:r>
            <a:r>
              <a:rPr lang="en-US" dirty="0"/>
              <a:t> o </a:t>
            </a:r>
            <a:r>
              <a:rPr lang="en-US" dirty="0" err="1"/>
              <a:t>druhý</a:t>
            </a:r>
            <a:r>
              <a:rPr lang="en-US" dirty="0"/>
              <a:t> </a:t>
            </a:r>
            <a:r>
              <a:rPr lang="en-US" dirty="0" err="1"/>
              <a:t>místo</a:t>
            </a:r>
            <a:r>
              <a:rPr lang="en-US" dirty="0"/>
              <a:t> o </a:t>
            </a:r>
            <a:r>
              <a:rPr lang="en-US" dirty="0" err="1"/>
              <a:t>nezávislé</a:t>
            </a:r>
            <a:r>
              <a:rPr lang="en-US" dirty="0"/>
              <a:t> </a:t>
            </a:r>
            <a:r>
              <a:rPr lang="en-US" dirty="0" err="1"/>
              <a:t>vyhodnocení</a:t>
            </a:r>
            <a:r>
              <a:rPr lang="en-US" dirty="0"/>
              <a:t> </a:t>
            </a:r>
            <a:r>
              <a:rPr lang="en-US" dirty="0" err="1"/>
              <a:t>důkazů</a:t>
            </a:r>
            <a:r>
              <a:rPr lang="en-US" dirty="0"/>
              <a:t>.</a:t>
            </a:r>
          </a:p>
          <a:p>
            <a:r>
              <a:rPr lang="en-US" dirty="0" err="1"/>
              <a:t>Lze</a:t>
            </a:r>
            <a:r>
              <a:rPr lang="en-US" dirty="0"/>
              <a:t> </a:t>
            </a:r>
            <a:r>
              <a:rPr lang="en-US" dirty="0" err="1"/>
              <a:t>zmínit</a:t>
            </a:r>
            <a:r>
              <a:rPr lang="en-US" dirty="0"/>
              <a:t> VUS, </a:t>
            </a:r>
            <a:r>
              <a:rPr lang="en-US" dirty="0" err="1"/>
              <a:t>tedy</a:t>
            </a:r>
            <a:r>
              <a:rPr lang="en-US" dirty="0"/>
              <a:t> </a:t>
            </a:r>
            <a:r>
              <a:rPr lang="en-US" dirty="0" err="1"/>
              <a:t>variantu</a:t>
            </a:r>
            <a:r>
              <a:rPr lang="en-US" dirty="0"/>
              <a:t> s </a:t>
            </a:r>
            <a:r>
              <a:rPr lang="en-US" dirty="0" err="1"/>
              <a:t>nedostatečnými</a:t>
            </a:r>
            <a:r>
              <a:rPr lang="en-US" dirty="0"/>
              <a:t> </a:t>
            </a:r>
            <a:r>
              <a:rPr lang="en-US" dirty="0" err="1"/>
              <a:t>nebo</a:t>
            </a:r>
            <a:r>
              <a:rPr lang="en-US" dirty="0"/>
              <a:t> </a:t>
            </a:r>
            <a:r>
              <a:rPr lang="en-US" dirty="0" err="1"/>
              <a:t>rozpornými</a:t>
            </a:r>
            <a:r>
              <a:rPr lang="en-US" dirty="0"/>
              <a:t> </a:t>
            </a:r>
            <a:r>
              <a:rPr lang="en-US" dirty="0" err="1"/>
              <a:t>důkazy</a:t>
            </a:r>
            <a:r>
              <a:rPr lang="en-US" dirty="0"/>
              <a:t>. </a:t>
            </a:r>
            <a:r>
              <a:rPr lang="en-US" dirty="0" err="1"/>
              <a:t>Není</a:t>
            </a:r>
            <a:r>
              <a:rPr lang="en-US" dirty="0"/>
              <a:t> </a:t>
            </a:r>
            <a:r>
              <a:rPr lang="en-US" dirty="0" err="1"/>
              <a:t>nutné</a:t>
            </a:r>
            <a:r>
              <a:rPr lang="en-US" dirty="0"/>
              <a:t> </a:t>
            </a:r>
            <a:r>
              <a:rPr lang="en-US" dirty="0" err="1"/>
              <a:t>zacházet</a:t>
            </a:r>
            <a:r>
              <a:rPr lang="en-US" dirty="0"/>
              <a:t> do </a:t>
            </a:r>
            <a:r>
              <a:rPr lang="en-US" dirty="0" err="1"/>
              <a:t>kombinatoriky</a:t>
            </a:r>
            <a:r>
              <a:rPr lang="en-US" dirty="0"/>
              <a:t> ACMG. VUS </a:t>
            </a:r>
            <a:r>
              <a:rPr lang="en-US" dirty="0" err="1"/>
              <a:t>jsou</a:t>
            </a:r>
            <a:r>
              <a:rPr lang="en-US" dirty="0"/>
              <a:t> v </a:t>
            </a:r>
            <a:r>
              <a:rPr lang="en-US" dirty="0" err="1"/>
              <a:t>současnosti</a:t>
            </a:r>
            <a:r>
              <a:rPr lang="en-US" dirty="0"/>
              <a:t> </a:t>
            </a:r>
            <a:r>
              <a:rPr lang="en-US" dirty="0" err="1"/>
              <a:t>velký</a:t>
            </a:r>
            <a:r>
              <a:rPr lang="en-US" dirty="0"/>
              <a:t> </a:t>
            </a:r>
            <a:r>
              <a:rPr lang="en-US" dirty="0" err="1"/>
              <a:t>problém</a:t>
            </a:r>
            <a:r>
              <a:rPr lang="en-US" dirty="0"/>
              <a:t>, </a:t>
            </a:r>
            <a:r>
              <a:rPr lang="en-US" dirty="0" err="1"/>
              <a:t>ať</a:t>
            </a:r>
            <a:r>
              <a:rPr lang="en-US" dirty="0"/>
              <a:t> </a:t>
            </a:r>
            <a:r>
              <a:rPr lang="en-US" dirty="0" err="1"/>
              <a:t>už</a:t>
            </a:r>
            <a:r>
              <a:rPr lang="en-US" dirty="0"/>
              <a:t> </a:t>
            </a:r>
            <a:r>
              <a:rPr lang="en-US" dirty="0" err="1"/>
              <a:t>kvůli</a:t>
            </a:r>
            <a:r>
              <a:rPr lang="en-US" dirty="0"/>
              <a:t> </a:t>
            </a:r>
            <a:r>
              <a:rPr lang="en-US" dirty="0" err="1"/>
              <a:t>nedostatku</a:t>
            </a:r>
            <a:r>
              <a:rPr lang="en-US" dirty="0"/>
              <a:t> </a:t>
            </a:r>
            <a:r>
              <a:rPr lang="en-US" dirty="0" err="1"/>
              <a:t>dat</a:t>
            </a:r>
            <a:r>
              <a:rPr lang="en-US" dirty="0"/>
              <a:t>, </a:t>
            </a:r>
            <a:r>
              <a:rPr lang="en-US" dirty="0" err="1"/>
              <a:t>nebo</a:t>
            </a:r>
            <a:r>
              <a:rPr lang="en-US" dirty="0"/>
              <a:t> </a:t>
            </a:r>
            <a:r>
              <a:rPr lang="en-US" dirty="0" err="1"/>
              <a:t>kvůli</a:t>
            </a:r>
            <a:r>
              <a:rPr lang="en-US" dirty="0"/>
              <a:t> </a:t>
            </a:r>
            <a:r>
              <a:rPr lang="en-US" dirty="0" err="1"/>
              <a:t>neúplnému</a:t>
            </a:r>
            <a:r>
              <a:rPr lang="en-US" dirty="0"/>
              <a:t> </a:t>
            </a:r>
            <a:r>
              <a:rPr lang="en-US" dirty="0" err="1"/>
              <a:t>či</a:t>
            </a:r>
            <a:r>
              <a:rPr lang="en-US" dirty="0"/>
              <a:t> </a:t>
            </a:r>
            <a:r>
              <a:rPr lang="en-US" dirty="0" err="1"/>
              <a:t>nepřesnému</a:t>
            </a:r>
            <a:r>
              <a:rPr lang="en-US" dirty="0"/>
              <a:t> </a:t>
            </a:r>
            <a:r>
              <a:rPr lang="en-US" dirty="0" err="1"/>
              <a:t>vyhodnocení</a:t>
            </a:r>
            <a:r>
              <a:rPr lang="en-US" dirty="0"/>
              <a:t> </a:t>
            </a:r>
            <a:r>
              <a:rPr lang="en-US" dirty="0" err="1"/>
              <a:t>dostupných</a:t>
            </a:r>
            <a:r>
              <a:rPr lang="en-US" dirty="0"/>
              <a:t> </a:t>
            </a:r>
            <a:r>
              <a:rPr lang="en-US" dirty="0" err="1"/>
              <a:t>důkazů</a:t>
            </a:r>
            <a:r>
              <a:rPr lang="en-US" dirty="0"/>
              <a:t>. ARIANE </a:t>
            </a:r>
            <a:r>
              <a:rPr lang="en-US" dirty="0" err="1"/>
              <a:t>může</a:t>
            </a:r>
            <a:r>
              <a:rPr lang="en-US" dirty="0"/>
              <a:t> </a:t>
            </a:r>
            <a:r>
              <a:rPr lang="en-US" dirty="0" err="1"/>
              <a:t>pomoci</a:t>
            </a:r>
            <a:r>
              <a:rPr lang="en-US" dirty="0"/>
              <a:t> v </a:t>
            </a:r>
            <a:r>
              <a:rPr lang="en-US" dirty="0" err="1"/>
              <a:t>obou</a:t>
            </a:r>
            <a:r>
              <a:rPr lang="en-US" dirty="0"/>
              <a:t> </a:t>
            </a:r>
            <a:r>
              <a:rPr lang="en-US" dirty="0" err="1"/>
              <a:t>případech</a:t>
            </a:r>
            <a:r>
              <a:rPr lang="en-US" dirty="0"/>
              <a:t> </a:t>
            </a:r>
            <a:r>
              <a:rPr lang="en-US" dirty="0" err="1"/>
              <a:t>tím</a:t>
            </a:r>
            <a:r>
              <a:rPr lang="en-US" dirty="0"/>
              <a:t>, </a:t>
            </a:r>
            <a:r>
              <a:rPr lang="en-US" dirty="0" err="1"/>
              <a:t>že</a:t>
            </a:r>
            <a:r>
              <a:rPr lang="en-US" dirty="0"/>
              <a:t> </a:t>
            </a:r>
            <a:r>
              <a:rPr lang="en-US" dirty="0" err="1"/>
              <a:t>zpřístupní</a:t>
            </a:r>
            <a:r>
              <a:rPr lang="en-US" dirty="0"/>
              <a:t> </a:t>
            </a:r>
            <a:r>
              <a:rPr lang="en-US" dirty="0" err="1"/>
              <a:t>konzistentnější</a:t>
            </a:r>
            <a:r>
              <a:rPr lang="en-US" dirty="0"/>
              <a:t> a </a:t>
            </a:r>
            <a:r>
              <a:rPr lang="en-US" dirty="0" err="1"/>
              <a:t>důkladnější</a:t>
            </a:r>
            <a:r>
              <a:rPr lang="en-US" dirty="0"/>
              <a:t> </a:t>
            </a:r>
            <a:r>
              <a:rPr lang="en-US" dirty="0" err="1"/>
              <a:t>vyhodnocení</a:t>
            </a:r>
            <a:r>
              <a:rPr lang="en-US" dirty="0"/>
              <a:t> a </a:t>
            </a:r>
            <a:r>
              <a:rPr lang="en-US" dirty="0" err="1"/>
              <a:t>potenciálně</a:t>
            </a:r>
            <a:r>
              <a:rPr lang="en-US" dirty="0"/>
              <a:t> </a:t>
            </a:r>
            <a:r>
              <a:rPr lang="en-US" dirty="0" err="1"/>
              <a:t>sníží</a:t>
            </a:r>
            <a:r>
              <a:rPr lang="en-US" dirty="0"/>
              <a:t> </a:t>
            </a:r>
            <a:r>
              <a:rPr lang="en-US" dirty="0" err="1"/>
              <a:t>počet</a:t>
            </a:r>
            <a:r>
              <a:rPr lang="en-US" dirty="0"/>
              <a:t> variant, </a:t>
            </a:r>
            <a:r>
              <a:rPr lang="en-US" dirty="0" err="1"/>
              <a:t>které</a:t>
            </a:r>
            <a:r>
              <a:rPr lang="en-US" dirty="0"/>
              <a:t> </a:t>
            </a:r>
            <a:r>
              <a:rPr lang="en-US" dirty="0" err="1"/>
              <a:t>zůstávají</a:t>
            </a:r>
            <a:r>
              <a:rPr lang="en-US" dirty="0"/>
              <a:t> </a:t>
            </a:r>
            <a:r>
              <a:rPr lang="en-US" dirty="0" err="1"/>
              <a:t>klasifikované</a:t>
            </a:r>
            <a:r>
              <a:rPr lang="en-US" dirty="0"/>
              <a:t> </a:t>
            </a:r>
            <a:r>
              <a:rPr lang="en-US" dirty="0" err="1"/>
              <a:t>jako</a:t>
            </a:r>
            <a:r>
              <a:rPr lang="en-US" dirty="0"/>
              <a:t> VUS.</a:t>
            </a:r>
          </a:p>
          <a:p>
            <a:endParaRPr lang="en-US" dirty="0"/>
          </a:p>
          <a:p>
            <a:r>
              <a:rPr lang="en-US" dirty="0"/>
              <a:t>ENIGMA je </a:t>
            </a:r>
            <a:r>
              <a:rPr lang="en-US" dirty="0" err="1"/>
              <a:t>mezinárodní</a:t>
            </a:r>
            <a:r>
              <a:rPr lang="en-US" dirty="0"/>
              <a:t> </a:t>
            </a:r>
            <a:r>
              <a:rPr lang="en-US" dirty="0" err="1"/>
              <a:t>expertní</a:t>
            </a:r>
            <a:r>
              <a:rPr lang="en-US" dirty="0"/>
              <a:t> panel, </a:t>
            </a:r>
            <a:r>
              <a:rPr lang="en-US" dirty="0" err="1"/>
              <a:t>který</a:t>
            </a:r>
            <a:r>
              <a:rPr lang="en-US" dirty="0"/>
              <a:t> </a:t>
            </a:r>
            <a:r>
              <a:rPr lang="en-US" dirty="0" err="1"/>
              <a:t>pravidla</a:t>
            </a:r>
            <a:r>
              <a:rPr lang="en-US" dirty="0"/>
              <a:t> </a:t>
            </a:r>
            <a:r>
              <a:rPr lang="en-US" dirty="0" err="1"/>
              <a:t>zpřesnil</a:t>
            </a:r>
            <a:r>
              <a:rPr lang="en-US" dirty="0"/>
              <a:t> pro BRCA1 a BRCA2.</a:t>
            </a:r>
          </a:p>
          <a:p>
            <a:endParaRPr lang="en-US" dirty="0"/>
          </a:p>
          <a:p>
            <a:r>
              <a:rPr lang="en-US" dirty="0" err="1"/>
              <a:t>Poslední</a:t>
            </a:r>
            <a:r>
              <a:rPr lang="en-US" dirty="0"/>
              <a:t> box je </a:t>
            </a:r>
            <a:r>
              <a:rPr lang="en-US" dirty="0" err="1"/>
              <a:t>přechod</a:t>
            </a:r>
            <a:r>
              <a:rPr lang="en-US" dirty="0"/>
              <a:t> </a:t>
            </a:r>
            <a:r>
              <a:rPr lang="en-US" dirty="0" err="1"/>
              <a:t>na</a:t>
            </a:r>
            <a:r>
              <a:rPr lang="en-US" dirty="0"/>
              <a:t> </a:t>
            </a:r>
            <a:r>
              <a:rPr lang="en-US" dirty="0" err="1"/>
              <a:t>další</a:t>
            </a:r>
            <a:r>
              <a:rPr lang="en-US" dirty="0"/>
              <a:t> slide: </a:t>
            </a:r>
            <a:r>
              <a:rPr lang="en-US" dirty="0" err="1"/>
              <a:t>část</a:t>
            </a:r>
            <a:r>
              <a:rPr lang="en-US" dirty="0"/>
              <a:t> evidence </a:t>
            </a:r>
            <a:r>
              <a:rPr lang="en-US" dirty="0" err="1"/>
              <a:t>lze</a:t>
            </a:r>
            <a:r>
              <a:rPr lang="en-US" dirty="0"/>
              <a:t> </a:t>
            </a:r>
            <a:r>
              <a:rPr lang="en-US" dirty="0" err="1"/>
              <a:t>zpracovat</a:t>
            </a:r>
            <a:r>
              <a:rPr lang="en-US" dirty="0"/>
              <a:t> </a:t>
            </a:r>
            <a:r>
              <a:rPr lang="en-US" dirty="0" err="1"/>
              <a:t>automaticky</a:t>
            </a:r>
            <a:r>
              <a:rPr lang="en-US" dirty="0"/>
              <a:t> a </a:t>
            </a:r>
            <a:r>
              <a:rPr lang="en-US" dirty="0" err="1"/>
              <a:t>část</a:t>
            </a:r>
            <a:r>
              <a:rPr lang="en-US" dirty="0"/>
              <a:t> </a:t>
            </a:r>
            <a:r>
              <a:rPr lang="en-US" dirty="0" err="1"/>
              <a:t>stále</a:t>
            </a:r>
            <a:r>
              <a:rPr lang="en-US" dirty="0"/>
              <a:t> </a:t>
            </a:r>
            <a:r>
              <a:rPr lang="en-US" dirty="0" err="1"/>
              <a:t>vyžaduje</a:t>
            </a:r>
            <a:r>
              <a:rPr lang="en-US" dirty="0"/>
              <a:t> </a:t>
            </a:r>
            <a:r>
              <a:rPr lang="en-US" dirty="0" err="1"/>
              <a:t>ruční</a:t>
            </a:r>
            <a:r>
              <a:rPr lang="en-US" dirty="0"/>
              <a:t> </a:t>
            </a:r>
            <a:r>
              <a:rPr lang="en-US" dirty="0" err="1"/>
              <a:t>odborné</a:t>
            </a:r>
            <a:r>
              <a:rPr lang="en-US" dirty="0"/>
              <a:t> </a:t>
            </a:r>
            <a:r>
              <a:rPr lang="en-US" dirty="0" err="1"/>
              <a:t>posouzení</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Tady zdůraznit, že ARIANE už je funkční aplikace, ne návrh nebo pilot.
</a:t>
            </a:r>
            <a:r>
              <a:rPr lang="en-US"/>
              <a:t>
Aplikace</a:t>
            </a:r>
            <a:r>
              <a:rPr lang="en-US" dirty="0"/>
              <a:t> automatizuje jen ta kritéria, která lze spolehlivě vyhodnotit z dostupných dat.
BRCA1 a BRCA2 jsou </a:t>
            </a:r>
            <a:r>
              <a:rPr lang="en-US" dirty="0" err="1"/>
              <a:t>první</a:t>
            </a:r>
            <a:r>
              <a:rPr lang="en-US" dirty="0"/>
              <a:t> </a:t>
            </a:r>
            <a:r>
              <a:rPr lang="en-US" dirty="0" err="1"/>
              <a:t>implementace</a:t>
            </a:r>
            <a:r>
              <a:rPr lang="en-US" dirty="0"/>
              <a:t>. Jsou vhodné pro začátek, protože mají detailně popsaná expertní pravidla a velké množství dostupných dat.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Hlavní sdělení: první část projektu už automatizuje pravidla založená na strukturovaných datech. Další fáze míří na evidenci, která se skrývá v publikacích.
AI </a:t>
            </a:r>
            <a:r>
              <a:rPr lang="en-US" dirty="0" err="1"/>
              <a:t>není</a:t>
            </a:r>
            <a:r>
              <a:rPr lang="en-US" dirty="0"/>
              <a:t> </a:t>
            </a:r>
            <a:r>
              <a:rPr lang="en-US" dirty="0" err="1"/>
              <a:t>není</a:t>
            </a:r>
            <a:r>
              <a:rPr lang="en-US" dirty="0"/>
              <a:t> to </a:t>
            </a:r>
            <a:r>
              <a:rPr lang="en-US" dirty="0" err="1"/>
              <a:t>hlavní</a:t>
            </a:r>
            <a:r>
              <a:rPr lang="en-US" dirty="0"/>
              <a:t> I </a:t>
            </a:r>
            <a:r>
              <a:rPr lang="en-US" dirty="0" err="1"/>
              <a:t>když</a:t>
            </a:r>
            <a:r>
              <a:rPr lang="en-US" dirty="0"/>
              <a:t> je to buzzword. Jazykové modely jsou prostředek pro vyhledání a strukturování evidence, nikoli náhrada </a:t>
            </a:r>
            <a:r>
              <a:rPr lang="en-US" dirty="0" err="1"/>
              <a:t>odborného</a:t>
            </a:r>
            <a:r>
              <a:rPr lang="en-US" dirty="0"/>
              <a:t> </a:t>
            </a:r>
            <a:r>
              <a:rPr lang="en-US" dirty="0" err="1"/>
              <a:t>rozhodnutí</a:t>
            </a:r>
            <a:r>
              <a:rPr lang="en-US" dirty="0"/>
              <a:t> – </a:t>
            </a:r>
            <a:r>
              <a:rPr lang="en-US" dirty="0" err="1"/>
              <a:t>tohle</a:t>
            </a:r>
            <a:r>
              <a:rPr lang="en-US" dirty="0"/>
              <a:t> je </a:t>
            </a:r>
            <a:r>
              <a:rPr lang="en-US" dirty="0" err="1"/>
              <a:t>hrozně</a:t>
            </a:r>
            <a:r>
              <a:rPr lang="en-US" dirty="0"/>
              <a:t> </a:t>
            </a:r>
            <a:r>
              <a:rPr lang="en-US" dirty="0" err="1"/>
              <a:t>důležité</a:t>
            </a:r>
            <a:r>
              <a:rPr lang="en-US" dirty="0"/>
              <a:t> I z </a:t>
            </a:r>
            <a:r>
              <a:rPr lang="en-US" dirty="0" err="1"/>
              <a:t>etických</a:t>
            </a:r>
            <a:r>
              <a:rPr lang="en-US" dirty="0"/>
              <a:t> </a:t>
            </a:r>
            <a:r>
              <a:rPr lang="en-US" dirty="0" err="1"/>
              <a:t>důvodů</a:t>
            </a:r>
            <a:r>
              <a:rPr lang="en-US" dirty="0"/>
              <a:t>.
Zdůraznit dohledatelnost: každý vytěžený údaj má zůstat propojený s původním zdrojem a má být předložen expertovi k posouzení.
BRCA1 a BRCA2 </a:t>
            </a:r>
            <a:r>
              <a:rPr lang="en-US" dirty="0" err="1"/>
              <a:t>jsou</a:t>
            </a:r>
            <a:r>
              <a:rPr lang="en-US" dirty="0"/>
              <a:t> </a:t>
            </a:r>
            <a:r>
              <a:rPr lang="en-US" dirty="0" err="1"/>
              <a:t>vhodný</a:t>
            </a:r>
            <a:r>
              <a:rPr lang="en-US" dirty="0"/>
              <a:t> první případ, protože existuje dostatek ručně zkurátorované literatury, proti které lze systém vyvíjet a hodnotit.
Dlouhodobě má jít o obecný rámec, který lze rozšířit na další geny podle dostupnosti kvalitních genově specifických pravidel.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77635-F53D-254D-DF64-6E2B88D384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9AB681D-CB6F-0EB7-DBD9-49B27D1A8B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6887EF-2B17-1196-0543-CA934508D430}"/>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5" name="Footer Placeholder 4">
            <a:extLst>
              <a:ext uri="{FF2B5EF4-FFF2-40B4-BE49-F238E27FC236}">
                <a16:creationId xmlns:a16="http://schemas.microsoft.com/office/drawing/2014/main" id="{7D5605FC-4F2B-684E-B502-CF6CF64FC1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048A62-2F04-A103-51F3-F01A55153633}"/>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17582708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41E42-734E-5B6A-23F3-D98A36EDE3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4BCDF4-AF54-F4E3-EB9E-E367E7671E4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F07185-B8A8-7B11-2F8B-3C6653A814AF}"/>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5" name="Footer Placeholder 4">
            <a:extLst>
              <a:ext uri="{FF2B5EF4-FFF2-40B4-BE49-F238E27FC236}">
                <a16:creationId xmlns:a16="http://schemas.microsoft.com/office/drawing/2014/main" id="{AF9071C3-BE86-C8BD-180B-2C960C76F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B3DC4F-36D4-D651-508C-609377974C62}"/>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9858788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2795C-8DC8-BC8B-3D02-120D0EF7E30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D1AB956-055D-113D-A07F-C0112A6ECE2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E240A4-E289-098C-0F29-AFF5925636CF}"/>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5" name="Footer Placeholder 4">
            <a:extLst>
              <a:ext uri="{FF2B5EF4-FFF2-40B4-BE49-F238E27FC236}">
                <a16:creationId xmlns:a16="http://schemas.microsoft.com/office/drawing/2014/main" id="{9039B794-0651-5489-41D7-70A7069135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B68022-FD59-1FB9-8CD5-E4C190036815}"/>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38962268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0E961-8F74-D8AE-6A6B-796E41E563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E76044-9F29-F764-64E1-6DBE0879160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F5E954-6D37-C586-071E-2F89F2E4EC7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7EB409-72BE-2197-823A-D4DA62D939AA}"/>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6" name="Footer Placeholder 5">
            <a:extLst>
              <a:ext uri="{FF2B5EF4-FFF2-40B4-BE49-F238E27FC236}">
                <a16:creationId xmlns:a16="http://schemas.microsoft.com/office/drawing/2014/main" id="{1F56372A-031F-A125-A90F-A28FDBC5190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C19DB1-8714-50E7-01CD-1473FAE21B08}"/>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500263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75044-1BF0-9871-3303-B046259DA9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C56856D-291B-EA53-ACF8-1DB6C957AF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C54FB2A-594F-8060-66C2-E88DCB74C3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293A9E-9B5E-EAEA-4225-C56743B18AF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15BAA0-4A93-3D71-0D3F-6D4DBB2E986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86BFF1-1891-F9C5-816F-2E3845AA87F1}"/>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8" name="Footer Placeholder 7">
            <a:extLst>
              <a:ext uri="{FF2B5EF4-FFF2-40B4-BE49-F238E27FC236}">
                <a16:creationId xmlns:a16="http://schemas.microsoft.com/office/drawing/2014/main" id="{907A3515-49DE-89F6-E61E-A0F3793B21A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3ADC78-A842-F0C2-6371-6DD1C88B0EFD}"/>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1924608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4C337-7A55-1112-4399-62CD5B7B5FA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AF0002-3850-B8A7-77B5-3233D7123238}"/>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4" name="Footer Placeholder 3">
            <a:extLst>
              <a:ext uri="{FF2B5EF4-FFF2-40B4-BE49-F238E27FC236}">
                <a16:creationId xmlns:a16="http://schemas.microsoft.com/office/drawing/2014/main" id="{C1827681-5719-007E-8782-EEA9E2F3F3E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55115B-D425-7BE8-DD9B-028768475588}"/>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18100873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E47C36-5AA9-CEF8-1665-79195D4E004A}"/>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3" name="Footer Placeholder 2">
            <a:extLst>
              <a:ext uri="{FF2B5EF4-FFF2-40B4-BE49-F238E27FC236}">
                <a16:creationId xmlns:a16="http://schemas.microsoft.com/office/drawing/2014/main" id="{6BC01FB0-5380-92C0-0C95-5E49317DCB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94B1854-4AD2-1E25-EFA0-425CE32AFFC2}"/>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30255166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03128-1A3C-51AC-3A3D-34B94DDB1B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A75FDFD-9D93-29C4-775E-4E914BFD07F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0145E4F-F22B-9C72-1A3F-4DFDF4E04B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C5E7654-D0A8-8B83-8E22-2E2EBF4AB957}"/>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6" name="Footer Placeholder 5">
            <a:extLst>
              <a:ext uri="{FF2B5EF4-FFF2-40B4-BE49-F238E27FC236}">
                <a16:creationId xmlns:a16="http://schemas.microsoft.com/office/drawing/2014/main" id="{7CBD2650-9342-D342-1E2D-D2A2459909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C7C5DB-E57B-6E96-FC24-8D701A82F14D}"/>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3228005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814B1-3803-7C04-B2F0-71233CF6CB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A07591-4661-D278-D026-EA17A7F6BF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F521F19-020B-DE0E-F4E9-16975E9640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2AC0240-1E56-CD5F-691C-C1056F5DD528}"/>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6" name="Footer Placeholder 5">
            <a:extLst>
              <a:ext uri="{FF2B5EF4-FFF2-40B4-BE49-F238E27FC236}">
                <a16:creationId xmlns:a16="http://schemas.microsoft.com/office/drawing/2014/main" id="{1C648294-4BE7-3C55-4605-4B0C19A898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895A9A-0533-837F-06FB-2CEA04A31C82}"/>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2483175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33C55-4494-7EA5-ECBE-D095BCC40BA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512B577-CCEB-1C9F-302E-83266F8DBC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15AB17-B6E5-0326-738A-FCBB485C3558}"/>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5" name="Footer Placeholder 4">
            <a:extLst>
              <a:ext uri="{FF2B5EF4-FFF2-40B4-BE49-F238E27FC236}">
                <a16:creationId xmlns:a16="http://schemas.microsoft.com/office/drawing/2014/main" id="{F6917E6E-39F1-4AAB-DAD1-B504B95EFC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48E69B-98EE-0731-6AF8-1CA25517CA75}"/>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24230941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94C513-C677-EB7D-DDDA-AEAAACCBCF7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32F261-12BE-F948-AE5A-9E56C6A72C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25183B-99DB-BACF-B449-2427BE0FB0A6}"/>
              </a:ext>
            </a:extLst>
          </p:cNvPr>
          <p:cNvSpPr>
            <a:spLocks noGrp="1"/>
          </p:cNvSpPr>
          <p:nvPr>
            <p:ph type="dt" sz="half" idx="10"/>
          </p:nvPr>
        </p:nvSpPr>
        <p:spPr/>
        <p:txBody>
          <a:bodyPr/>
          <a:lstStyle/>
          <a:p>
            <a:fld id="{56C7C647-8E80-4E6F-93AF-5D50231B1C81}" type="datetimeFigureOut">
              <a:rPr lang="en-US" smtClean="0"/>
              <a:t>9/1/2026</a:t>
            </a:fld>
            <a:endParaRPr lang="en-US"/>
          </a:p>
        </p:txBody>
      </p:sp>
      <p:sp>
        <p:nvSpPr>
          <p:cNvPr id="5" name="Footer Placeholder 4">
            <a:extLst>
              <a:ext uri="{FF2B5EF4-FFF2-40B4-BE49-F238E27FC236}">
                <a16:creationId xmlns:a16="http://schemas.microsoft.com/office/drawing/2014/main" id="{53283958-26A1-B985-3587-7FD4FB3278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C66661-87EE-3C6F-C56E-3C7BB2D24675}"/>
              </a:ext>
            </a:extLst>
          </p:cNvPr>
          <p:cNvSpPr>
            <a:spLocks noGrp="1"/>
          </p:cNvSpPr>
          <p:nvPr>
            <p:ph type="sldNum" sz="quarter" idx="12"/>
          </p:nvPr>
        </p:nvSpPr>
        <p:spPr/>
        <p:txBody>
          <a:bodyPr/>
          <a:lstStyle/>
          <a:p>
            <a:fld id="{CF403D7B-CA60-4432-BAC4-2C579961A6C8}" type="slidenum">
              <a:rPr lang="en-US" smtClean="0"/>
              <a:t>‹#›</a:t>
            </a:fld>
            <a:endParaRPr lang="en-US"/>
          </a:p>
        </p:txBody>
      </p:sp>
    </p:spTree>
    <p:extLst>
      <p:ext uri="{BB962C8B-B14F-4D97-AF65-F5344CB8AC3E}">
        <p14:creationId xmlns:p14="http://schemas.microsoft.com/office/powerpoint/2010/main" val="16335968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2505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E808830-2FA1-3B4D-617C-5AF4ED24E9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D5589C-B85F-B6E6-4EFE-3F0EDFB818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D9C539-F747-494D-6823-139EB3A38C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C7C647-8E80-4E6F-93AF-5D50231B1C81}" type="datetimeFigureOut">
              <a:rPr lang="en-US" smtClean="0"/>
              <a:t>9/1/2026</a:t>
            </a:fld>
            <a:endParaRPr lang="en-US"/>
          </a:p>
        </p:txBody>
      </p:sp>
      <p:sp>
        <p:nvSpPr>
          <p:cNvPr id="5" name="Footer Placeholder 4">
            <a:extLst>
              <a:ext uri="{FF2B5EF4-FFF2-40B4-BE49-F238E27FC236}">
                <a16:creationId xmlns:a16="http://schemas.microsoft.com/office/drawing/2014/main" id="{33DC0A02-984D-6BB3-2EB0-6FE25A61EB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BD03BF0-2A3E-B638-01B5-A8642DB58B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F403D7B-CA60-4432-BAC4-2C579961A6C8}" type="slidenum">
              <a:rPr lang="en-US" smtClean="0"/>
              <a:t>‹#›</a:t>
            </a:fld>
            <a:endParaRPr lang="en-US"/>
          </a:p>
        </p:txBody>
      </p:sp>
    </p:spTree>
    <p:extLst>
      <p:ext uri="{BB962C8B-B14F-4D97-AF65-F5344CB8AC3E}">
        <p14:creationId xmlns:p14="http://schemas.microsoft.com/office/powerpoint/2010/main" val="10902139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hyperlink" Target="ARIANE%20-%20BRCA1_2%20Variant%20Classification.mp4"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26C08-F18C-D73A-2D2F-092B5C45813A}"/>
              </a:ext>
            </a:extLst>
          </p:cNvPr>
          <p:cNvSpPr>
            <a:spLocks noGrp="1"/>
          </p:cNvSpPr>
          <p:nvPr>
            <p:ph type="ctrTitle"/>
          </p:nvPr>
        </p:nvSpPr>
        <p:spPr/>
        <p:txBody>
          <a:bodyPr/>
          <a:lstStyle/>
          <a:p>
            <a:r>
              <a:rPr lang="en-US" dirty="0">
                <a:latin typeface="Georgia" panose="02040502050405020303" pitchFamily="18" charset="0"/>
              </a:rPr>
              <a:t>ARIANE</a:t>
            </a:r>
          </a:p>
        </p:txBody>
      </p:sp>
      <p:sp>
        <p:nvSpPr>
          <p:cNvPr id="3" name="Subtitle 2">
            <a:extLst>
              <a:ext uri="{FF2B5EF4-FFF2-40B4-BE49-F238E27FC236}">
                <a16:creationId xmlns:a16="http://schemas.microsoft.com/office/drawing/2014/main" id="{9B91CD63-9B5E-773B-3022-DA583D9738C7}"/>
              </a:ext>
            </a:extLst>
          </p:cNvPr>
          <p:cNvSpPr>
            <a:spLocks noGrp="1"/>
          </p:cNvSpPr>
          <p:nvPr>
            <p:ph type="subTitle" idx="1"/>
          </p:nvPr>
        </p:nvSpPr>
        <p:spPr/>
        <p:txBody>
          <a:bodyPr/>
          <a:lstStyle/>
          <a:p>
            <a:pPr>
              <a:lnSpc>
                <a:spcPct val="100000"/>
              </a:lnSpc>
            </a:pPr>
            <a:r>
              <a:rPr lang="en-US" sz="1400" dirty="0">
                <a:latin typeface="Arial" panose="020B0604020202020204" pitchFamily="34" charset="0"/>
                <a:cs typeface="Arial" panose="020B0604020202020204" pitchFamily="34" charset="0"/>
              </a:rPr>
              <a:t>Automated ACMG Rule-based Interpretation and Annotation </a:t>
            </a:r>
            <a:r>
              <a:rPr lang="en-US" sz="1400" dirty="0" err="1">
                <a:latin typeface="Arial" panose="020B0604020202020204" pitchFamily="34" charset="0"/>
                <a:cs typeface="Arial" panose="020B0604020202020204" pitchFamily="34" charset="0"/>
              </a:rPr>
              <a:t>ENgine</a:t>
            </a:r>
            <a:endParaRPr lang="en-US" sz="1400" dirty="0">
              <a:latin typeface="Arial" panose="020B0604020202020204" pitchFamily="34" charset="0"/>
              <a:cs typeface="Arial" panose="020B0604020202020204" pitchFamily="34" charset="0"/>
            </a:endParaRPr>
          </a:p>
          <a:p>
            <a:pPr>
              <a:lnSpc>
                <a:spcPct val="100000"/>
              </a:lnSpc>
            </a:pPr>
            <a:r>
              <a:rPr lang="en-US" sz="1400" dirty="0">
                <a:latin typeface="Arial" panose="020B0604020202020204" pitchFamily="34" charset="0"/>
                <a:cs typeface="Arial" panose="020B0604020202020204" pitchFamily="34" charset="0"/>
              </a:rPr>
              <a:t>BRCA1/2 variant classification following ENIGMA VCEP v1.2</a:t>
            </a:r>
          </a:p>
          <a:p>
            <a:endParaRPr lang="en-US" dirty="0"/>
          </a:p>
        </p:txBody>
      </p:sp>
      <p:pic>
        <p:nvPicPr>
          <p:cNvPr id="5" name="Image 0" descr="/mnt/data/ariane_deck_author_identity/images/uochb-iocb-prague-logo.png">
            <a:extLst>
              <a:ext uri="{FF2B5EF4-FFF2-40B4-BE49-F238E27FC236}">
                <a16:creationId xmlns:a16="http://schemas.microsoft.com/office/drawing/2014/main" id="{BA878323-8B3D-618D-0EB6-18F5FFD0CF59}"/>
              </a:ext>
            </a:extLst>
          </p:cNvPr>
          <p:cNvPicPr>
            <a:picLocks noChangeAspect="1"/>
          </p:cNvPicPr>
          <p:nvPr/>
        </p:nvPicPr>
        <p:blipFill>
          <a:blip r:embed="rId2"/>
          <a:stretch>
            <a:fillRect/>
          </a:stretch>
        </p:blipFill>
        <p:spPr>
          <a:xfrm>
            <a:off x="10609346" y="6196307"/>
            <a:ext cx="1376132" cy="493776"/>
          </a:xfrm>
          <a:prstGeom prst="rect">
            <a:avLst/>
          </a:prstGeom>
        </p:spPr>
      </p:pic>
      <p:sp>
        <p:nvSpPr>
          <p:cNvPr id="7" name="TextBox 6">
            <a:extLst>
              <a:ext uri="{FF2B5EF4-FFF2-40B4-BE49-F238E27FC236}">
                <a16:creationId xmlns:a16="http://schemas.microsoft.com/office/drawing/2014/main" id="{9181B598-259C-2921-E431-94730014A03D}"/>
              </a:ext>
            </a:extLst>
          </p:cNvPr>
          <p:cNvSpPr txBox="1"/>
          <p:nvPr/>
        </p:nvSpPr>
        <p:spPr>
          <a:xfrm>
            <a:off x="6094616" y="6196307"/>
            <a:ext cx="6097384" cy="498598"/>
          </a:xfrm>
          <a:prstGeom prst="rect">
            <a:avLst/>
          </a:prstGeom>
          <a:noFill/>
        </p:spPr>
        <p:txBody>
          <a:bodyPr wrap="square">
            <a:spAutoFit/>
          </a:bodyPr>
          <a:lstStyle/>
          <a:p>
            <a:pPr marL="0" indent="0" algn="l">
              <a:buNone/>
            </a:pPr>
            <a:r>
              <a:rPr lang="en-US" sz="880" dirty="0">
                <a:solidFill>
                  <a:srgbClr val="1A2A31"/>
                </a:solidFill>
                <a:latin typeface="Arial" pitchFamily="34" charset="0"/>
                <a:ea typeface="Arial" pitchFamily="34" charset="-122"/>
                <a:cs typeface="Arial" pitchFamily="34" charset="-120"/>
              </a:rPr>
              <a:t>prof. </a:t>
            </a:r>
            <a:r>
              <a:rPr lang="en-US" sz="880" dirty="0" err="1">
                <a:solidFill>
                  <a:srgbClr val="1A2A31"/>
                </a:solidFill>
                <a:latin typeface="Arial" pitchFamily="34" charset="0"/>
                <a:ea typeface="Arial" pitchFamily="34" charset="-122"/>
                <a:cs typeface="Arial" pitchFamily="34" charset="-120"/>
              </a:rPr>
              <a:t>MUDr</a:t>
            </a:r>
            <a:r>
              <a:rPr lang="en-US" sz="880" dirty="0">
                <a:solidFill>
                  <a:srgbClr val="1A2A31"/>
                </a:solidFill>
                <a:latin typeface="Arial" pitchFamily="34" charset="0"/>
                <a:ea typeface="Arial" pitchFamily="34" charset="-122"/>
                <a:cs typeface="Arial" pitchFamily="34" charset="-120"/>
              </a:rPr>
              <a:t>. Zdeněk </a:t>
            </a:r>
            <a:r>
              <a:rPr lang="en-US" sz="880" dirty="0" err="1">
                <a:solidFill>
                  <a:srgbClr val="1A2A31"/>
                </a:solidFill>
                <a:latin typeface="Arial" pitchFamily="34" charset="0"/>
                <a:ea typeface="Arial" pitchFamily="34" charset="-122"/>
                <a:cs typeface="Arial" pitchFamily="34" charset="-120"/>
              </a:rPr>
              <a:t>Kleibl</a:t>
            </a:r>
            <a:r>
              <a:rPr lang="en-US" sz="880" dirty="0">
                <a:solidFill>
                  <a:srgbClr val="1A2A31"/>
                </a:solidFill>
                <a:latin typeface="Arial" pitchFamily="34" charset="0"/>
                <a:ea typeface="Arial" pitchFamily="34" charset="-122"/>
                <a:cs typeface="Arial" pitchFamily="34" charset="-120"/>
              </a:rPr>
              <a:t>, Ph.D.</a:t>
            </a:r>
            <a:endParaRPr lang="en-US" sz="880" dirty="0"/>
          </a:p>
          <a:p>
            <a:pPr marL="0" indent="0" algn="l">
              <a:buNone/>
            </a:pPr>
            <a:r>
              <a:rPr lang="en-US" sz="880" dirty="0" err="1">
                <a:solidFill>
                  <a:srgbClr val="1A2A31"/>
                </a:solidFill>
                <a:latin typeface="Arial" pitchFamily="34" charset="0"/>
                <a:ea typeface="Arial" pitchFamily="34" charset="-122"/>
                <a:cs typeface="Arial" pitchFamily="34" charset="-120"/>
              </a:rPr>
              <a:t>RNDr</a:t>
            </a:r>
            <a:r>
              <a:rPr lang="en-US" sz="880" dirty="0">
                <a:solidFill>
                  <a:srgbClr val="1A2A31"/>
                </a:solidFill>
                <a:latin typeface="Arial" pitchFamily="34" charset="0"/>
                <a:ea typeface="Arial" pitchFamily="34" charset="-122"/>
                <a:cs typeface="Arial" pitchFamily="34" charset="-120"/>
              </a:rPr>
              <a:t>. Jana Soukupová, Ph.D.</a:t>
            </a:r>
            <a:endParaRPr lang="en-US" sz="880" dirty="0"/>
          </a:p>
          <a:p>
            <a:pPr marL="0" indent="0" algn="l">
              <a:buNone/>
            </a:pPr>
            <a:r>
              <a:rPr lang="en-US" sz="880" dirty="0" err="1">
                <a:solidFill>
                  <a:srgbClr val="1A2A31"/>
                </a:solidFill>
                <a:latin typeface="Arial" pitchFamily="34" charset="0"/>
                <a:ea typeface="Arial" pitchFamily="34" charset="-122"/>
                <a:cs typeface="Arial" pitchFamily="34" charset="-120"/>
              </a:rPr>
              <a:t>Ústav</a:t>
            </a:r>
            <a:r>
              <a:rPr lang="en-US" sz="880" dirty="0">
                <a:solidFill>
                  <a:srgbClr val="1A2A31"/>
                </a:solidFill>
                <a:latin typeface="Arial" pitchFamily="34" charset="0"/>
                <a:ea typeface="Arial" pitchFamily="34" charset="-122"/>
                <a:cs typeface="Arial" pitchFamily="34" charset="-120"/>
              </a:rPr>
              <a:t> </a:t>
            </a:r>
            <a:r>
              <a:rPr lang="en-US" sz="880" dirty="0" err="1">
                <a:solidFill>
                  <a:srgbClr val="1A2A31"/>
                </a:solidFill>
                <a:latin typeface="Arial" pitchFamily="34" charset="0"/>
                <a:ea typeface="Arial" pitchFamily="34" charset="-122"/>
                <a:cs typeface="Arial" pitchFamily="34" charset="-120"/>
              </a:rPr>
              <a:t>biochemie</a:t>
            </a:r>
            <a:r>
              <a:rPr lang="en-US" sz="880" dirty="0">
                <a:solidFill>
                  <a:srgbClr val="1A2A31"/>
                </a:solidFill>
                <a:latin typeface="Arial" pitchFamily="34" charset="0"/>
                <a:ea typeface="Arial" pitchFamily="34" charset="-122"/>
                <a:cs typeface="Arial" pitchFamily="34" charset="-120"/>
              </a:rPr>
              <a:t> a </a:t>
            </a:r>
            <a:r>
              <a:rPr lang="en-US" sz="880" dirty="0" err="1">
                <a:solidFill>
                  <a:srgbClr val="1A2A31"/>
                </a:solidFill>
                <a:latin typeface="Arial" pitchFamily="34" charset="0"/>
                <a:ea typeface="Arial" pitchFamily="34" charset="-122"/>
                <a:cs typeface="Arial" pitchFamily="34" charset="-120"/>
              </a:rPr>
              <a:t>experimentální</a:t>
            </a:r>
            <a:r>
              <a:rPr lang="en-US" sz="880" dirty="0">
                <a:solidFill>
                  <a:srgbClr val="1A2A31"/>
                </a:solidFill>
                <a:latin typeface="Arial" pitchFamily="34" charset="0"/>
                <a:ea typeface="Arial" pitchFamily="34" charset="-122"/>
                <a:cs typeface="Arial" pitchFamily="34" charset="-120"/>
              </a:rPr>
              <a:t> </a:t>
            </a:r>
            <a:r>
              <a:rPr lang="en-US" sz="880" dirty="0" err="1">
                <a:solidFill>
                  <a:srgbClr val="1A2A31"/>
                </a:solidFill>
                <a:latin typeface="Arial" pitchFamily="34" charset="0"/>
                <a:ea typeface="Arial" pitchFamily="34" charset="-122"/>
                <a:cs typeface="Arial" pitchFamily="34" charset="-120"/>
              </a:rPr>
              <a:t>onkologie</a:t>
            </a:r>
            <a:r>
              <a:rPr lang="en-US" sz="880" dirty="0">
                <a:solidFill>
                  <a:srgbClr val="1A2A31"/>
                </a:solidFill>
                <a:latin typeface="Arial" pitchFamily="34" charset="0"/>
                <a:ea typeface="Arial" pitchFamily="34" charset="-122"/>
                <a:cs typeface="Arial" pitchFamily="34" charset="-120"/>
              </a:rPr>
              <a:t>, 1. </a:t>
            </a:r>
            <a:r>
              <a:rPr lang="en-US" sz="880" dirty="0" err="1">
                <a:solidFill>
                  <a:srgbClr val="1A2A31"/>
                </a:solidFill>
                <a:latin typeface="Arial" pitchFamily="34" charset="0"/>
                <a:ea typeface="Arial" pitchFamily="34" charset="-122"/>
                <a:cs typeface="Arial" pitchFamily="34" charset="-120"/>
              </a:rPr>
              <a:t>lékařská</a:t>
            </a:r>
            <a:r>
              <a:rPr lang="en-US" sz="880" dirty="0">
                <a:solidFill>
                  <a:srgbClr val="1A2A31"/>
                </a:solidFill>
                <a:latin typeface="Arial" pitchFamily="34" charset="0"/>
                <a:ea typeface="Arial" pitchFamily="34" charset="-122"/>
                <a:cs typeface="Arial" pitchFamily="34" charset="-120"/>
              </a:rPr>
              <a:t> </a:t>
            </a:r>
            <a:r>
              <a:rPr lang="en-US" sz="880" dirty="0" err="1">
                <a:solidFill>
                  <a:srgbClr val="1A2A31"/>
                </a:solidFill>
                <a:latin typeface="Arial" pitchFamily="34" charset="0"/>
                <a:ea typeface="Arial" pitchFamily="34" charset="-122"/>
                <a:cs typeface="Arial" pitchFamily="34" charset="-120"/>
              </a:rPr>
              <a:t>fakulta</a:t>
            </a:r>
            <a:r>
              <a:rPr lang="en-US" sz="880" dirty="0">
                <a:solidFill>
                  <a:srgbClr val="1A2A31"/>
                </a:solidFill>
                <a:latin typeface="Arial" pitchFamily="34" charset="0"/>
                <a:ea typeface="Arial" pitchFamily="34" charset="-122"/>
                <a:cs typeface="Arial" pitchFamily="34" charset="-120"/>
              </a:rPr>
              <a:t> </a:t>
            </a:r>
            <a:r>
              <a:rPr lang="en-US" sz="880" dirty="0" err="1">
                <a:solidFill>
                  <a:srgbClr val="1A2A31"/>
                </a:solidFill>
                <a:latin typeface="Arial" pitchFamily="34" charset="0"/>
                <a:ea typeface="Arial" pitchFamily="34" charset="-122"/>
                <a:cs typeface="Arial" pitchFamily="34" charset="-120"/>
              </a:rPr>
              <a:t>Univerzity</a:t>
            </a:r>
            <a:r>
              <a:rPr lang="en-US" sz="880" dirty="0">
                <a:solidFill>
                  <a:srgbClr val="1A2A31"/>
                </a:solidFill>
                <a:latin typeface="Arial" pitchFamily="34" charset="0"/>
                <a:ea typeface="Arial" pitchFamily="34" charset="-122"/>
                <a:cs typeface="Arial" pitchFamily="34" charset="-120"/>
              </a:rPr>
              <a:t> Karlovy</a:t>
            </a:r>
            <a:endParaRPr lang="en-US" sz="880" dirty="0"/>
          </a:p>
        </p:txBody>
      </p:sp>
      <p:sp>
        <p:nvSpPr>
          <p:cNvPr id="9" name="TextBox 8">
            <a:extLst>
              <a:ext uri="{FF2B5EF4-FFF2-40B4-BE49-F238E27FC236}">
                <a16:creationId xmlns:a16="http://schemas.microsoft.com/office/drawing/2014/main" id="{8D764C0C-976A-F033-70D5-C41E1134A64C}"/>
              </a:ext>
            </a:extLst>
          </p:cNvPr>
          <p:cNvSpPr txBox="1"/>
          <p:nvPr/>
        </p:nvSpPr>
        <p:spPr>
          <a:xfrm>
            <a:off x="4319067" y="6212363"/>
            <a:ext cx="1569027" cy="230832"/>
          </a:xfrm>
          <a:prstGeom prst="rect">
            <a:avLst/>
          </a:prstGeom>
          <a:noFill/>
        </p:spPr>
        <p:txBody>
          <a:bodyPr wrap="square">
            <a:spAutoFit/>
          </a:bodyPr>
          <a:lstStyle/>
          <a:p>
            <a:pPr marL="0" indent="0" algn="r">
              <a:buNone/>
            </a:pPr>
            <a:r>
              <a:rPr lang="en-US" sz="900" b="1" dirty="0">
                <a:solidFill>
                  <a:srgbClr val="1A2A31"/>
                </a:solidFill>
                <a:latin typeface="Arial" pitchFamily="34" charset="0"/>
                <a:ea typeface="Arial" pitchFamily="34" charset="-122"/>
                <a:cs typeface="Arial" pitchFamily="34" charset="-120"/>
              </a:rPr>
              <a:t>Kamila Clarová</a:t>
            </a:r>
            <a:endParaRPr lang="en-US" sz="900" dirty="0"/>
          </a:p>
        </p:txBody>
      </p:sp>
      <p:sp>
        <p:nvSpPr>
          <p:cNvPr id="11" name="Text 4">
            <a:extLst>
              <a:ext uri="{FF2B5EF4-FFF2-40B4-BE49-F238E27FC236}">
                <a16:creationId xmlns:a16="http://schemas.microsoft.com/office/drawing/2014/main" id="{91F2008F-CF2A-8569-FF18-95A8FF8CD1DA}"/>
              </a:ext>
            </a:extLst>
          </p:cNvPr>
          <p:cNvSpPr/>
          <p:nvPr/>
        </p:nvSpPr>
        <p:spPr>
          <a:xfrm>
            <a:off x="3643053" y="6498061"/>
            <a:ext cx="2140527" cy="137155"/>
          </a:xfrm>
          <a:prstGeom prst="rect">
            <a:avLst/>
          </a:prstGeom>
          <a:noFill/>
          <a:ln/>
        </p:spPr>
        <p:txBody>
          <a:bodyPr wrap="square" lIns="0" tIns="0" rIns="0" bIns="0" rtlCol="0" anchor="t">
            <a:normAutofit/>
          </a:bodyPr>
          <a:lstStyle/>
          <a:p>
            <a:pPr marL="0" indent="0" algn="r">
              <a:buNone/>
            </a:pPr>
            <a:r>
              <a:rPr lang="en-US" sz="800" dirty="0">
                <a:solidFill>
                  <a:srgbClr val="5B6E76"/>
                </a:solidFill>
                <a:latin typeface="Arial" pitchFamily="34" charset="0"/>
                <a:ea typeface="Arial" pitchFamily="34" charset="-122"/>
                <a:cs typeface="Arial" pitchFamily="34" charset="-120"/>
              </a:rPr>
              <a:t>Skupina Jiřího Vondráška</a:t>
            </a:r>
            <a:endParaRPr lang="en-US" sz="800" dirty="0"/>
          </a:p>
        </p:txBody>
      </p:sp>
      <p:sp>
        <p:nvSpPr>
          <p:cNvPr id="18" name="Shape 2">
            <a:extLst>
              <a:ext uri="{FF2B5EF4-FFF2-40B4-BE49-F238E27FC236}">
                <a16:creationId xmlns:a16="http://schemas.microsoft.com/office/drawing/2014/main" id="{B59F568F-AE42-4476-2B20-36EE80B7C38F}"/>
              </a:ext>
            </a:extLst>
          </p:cNvPr>
          <p:cNvSpPr/>
          <p:nvPr/>
        </p:nvSpPr>
        <p:spPr>
          <a:xfrm>
            <a:off x="5966374" y="6259202"/>
            <a:ext cx="0" cy="347472"/>
          </a:xfrm>
          <a:prstGeom prst="line">
            <a:avLst/>
          </a:prstGeom>
          <a:noFill/>
          <a:ln w="19050">
            <a:solidFill>
              <a:srgbClr val="15697A"/>
            </a:solidFill>
            <a:prstDash val="solid"/>
          </a:ln>
        </p:spPr>
        <p:txBody>
          <a:bodyPr/>
          <a:lstStyle/>
          <a:p>
            <a:endParaRPr lang="en-US"/>
          </a:p>
        </p:txBody>
      </p:sp>
    </p:spTree>
    <p:extLst>
      <p:ext uri="{BB962C8B-B14F-4D97-AF65-F5344CB8AC3E}">
        <p14:creationId xmlns:p14="http://schemas.microsoft.com/office/powerpoint/2010/main" val="8119906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Text 0">
            <a:extLst>
              <a:ext uri="{FF2B5EF4-FFF2-40B4-BE49-F238E27FC236}">
                <a16:creationId xmlns:a16="http://schemas.microsoft.com/office/drawing/2014/main" id="{98AA7BEB-EB74-3C28-1736-4B514C073F2D}"/>
              </a:ext>
            </a:extLst>
          </p:cNvPr>
          <p:cNvSpPr/>
          <p:nvPr/>
        </p:nvSpPr>
        <p:spPr>
          <a:xfrm>
            <a:off x="502920" y="329184"/>
            <a:ext cx="1463040" cy="164592"/>
          </a:xfrm>
          <a:prstGeom prst="rect">
            <a:avLst/>
          </a:prstGeom>
          <a:noFill/>
          <a:ln/>
        </p:spPr>
        <p:txBody>
          <a:bodyPr wrap="square" lIns="0" tIns="0" rIns="0" bIns="0" rtlCol="0" anchor="t">
            <a:normAutofit/>
          </a:bodyPr>
          <a:lstStyle/>
          <a:p>
            <a:pPr marL="0" indent="0" algn="l">
              <a:buNone/>
            </a:pPr>
            <a:r>
              <a:rPr lang="en-US" sz="750" kern="0" spc="120" dirty="0">
                <a:solidFill>
                  <a:srgbClr val="8A9BA1"/>
                </a:solidFill>
                <a:latin typeface="Courier New" pitchFamily="34" charset="0"/>
                <a:ea typeface="Courier New" pitchFamily="34" charset="-122"/>
                <a:cs typeface="Courier New" pitchFamily="34" charset="-120"/>
              </a:rPr>
              <a:t>Slide 1</a:t>
            </a:r>
            <a:endParaRPr lang="en-US" sz="750" dirty="0"/>
          </a:p>
        </p:txBody>
      </p:sp>
      <p:sp>
        <p:nvSpPr>
          <p:cNvPr id="51" name="Text 1">
            <a:extLst>
              <a:ext uri="{FF2B5EF4-FFF2-40B4-BE49-F238E27FC236}">
                <a16:creationId xmlns:a16="http://schemas.microsoft.com/office/drawing/2014/main" id="{67EBEE3C-A2E2-4445-1249-CC96A70BBB38}"/>
              </a:ext>
            </a:extLst>
          </p:cNvPr>
          <p:cNvSpPr/>
          <p:nvPr/>
        </p:nvSpPr>
        <p:spPr>
          <a:xfrm>
            <a:off x="502920" y="566928"/>
            <a:ext cx="6400800" cy="530352"/>
          </a:xfrm>
          <a:prstGeom prst="rect">
            <a:avLst/>
          </a:prstGeom>
          <a:noFill/>
          <a:ln/>
        </p:spPr>
        <p:txBody>
          <a:bodyPr wrap="square" lIns="0" tIns="0" rIns="0" bIns="0" rtlCol="0" anchor="t">
            <a:normAutofit/>
          </a:bodyPr>
          <a:lstStyle/>
          <a:p>
            <a:pPr marL="0" indent="0" algn="l">
              <a:buNone/>
            </a:pPr>
            <a:r>
              <a:rPr lang="en-US" sz="2750" dirty="0">
                <a:solidFill>
                  <a:srgbClr val="1A2A31"/>
                </a:solidFill>
                <a:latin typeface="Georgia" pitchFamily="34" charset="0"/>
                <a:ea typeface="Georgia" pitchFamily="34" charset="-122"/>
                <a:cs typeface="Georgia" pitchFamily="34" charset="-120"/>
              </a:rPr>
              <a:t>Classification of genetic variants</a:t>
            </a:r>
            <a:endParaRPr lang="en-US" sz="2750" dirty="0"/>
          </a:p>
        </p:txBody>
      </p:sp>
      <p:sp>
        <p:nvSpPr>
          <p:cNvPr id="53" name="Shape 2">
            <a:extLst>
              <a:ext uri="{FF2B5EF4-FFF2-40B4-BE49-F238E27FC236}">
                <a16:creationId xmlns:a16="http://schemas.microsoft.com/office/drawing/2014/main" id="{4C22CE2F-D5EC-8A6F-9020-78F80694C245}"/>
              </a:ext>
            </a:extLst>
          </p:cNvPr>
          <p:cNvSpPr/>
          <p:nvPr/>
        </p:nvSpPr>
        <p:spPr>
          <a:xfrm>
            <a:off x="502920" y="1161288"/>
            <a:ext cx="566928" cy="0"/>
          </a:xfrm>
          <a:prstGeom prst="line">
            <a:avLst/>
          </a:prstGeom>
          <a:noFill/>
          <a:ln w="19050">
            <a:solidFill>
              <a:srgbClr val="15697A"/>
            </a:solidFill>
            <a:prstDash val="solid"/>
          </a:ln>
        </p:spPr>
        <p:txBody>
          <a:bodyPr/>
          <a:lstStyle/>
          <a:p>
            <a:endParaRPr lang="en-US"/>
          </a:p>
        </p:txBody>
      </p:sp>
      <p:pic>
        <p:nvPicPr>
          <p:cNvPr id="55" name="Image 0" descr="/mnt/data/ariane_deck_author_identity/images/uochb-iocb-prague-logo.png">
            <a:extLst>
              <a:ext uri="{FF2B5EF4-FFF2-40B4-BE49-F238E27FC236}">
                <a16:creationId xmlns:a16="http://schemas.microsoft.com/office/drawing/2014/main" id="{B763ECA7-59C8-DFD5-8615-6592F58B0050}"/>
              </a:ext>
            </a:extLst>
          </p:cNvPr>
          <p:cNvPicPr>
            <a:picLocks noChangeAspect="1"/>
          </p:cNvPicPr>
          <p:nvPr/>
        </p:nvPicPr>
        <p:blipFill>
          <a:blip r:embed="rId3"/>
          <a:stretch>
            <a:fillRect/>
          </a:stretch>
        </p:blipFill>
        <p:spPr>
          <a:xfrm>
            <a:off x="10152146" y="310896"/>
            <a:ext cx="1376132" cy="493776"/>
          </a:xfrm>
          <a:prstGeom prst="rect">
            <a:avLst/>
          </a:prstGeom>
        </p:spPr>
      </p:pic>
      <p:sp>
        <p:nvSpPr>
          <p:cNvPr id="57" name="Text 3">
            <a:extLst>
              <a:ext uri="{FF2B5EF4-FFF2-40B4-BE49-F238E27FC236}">
                <a16:creationId xmlns:a16="http://schemas.microsoft.com/office/drawing/2014/main" id="{7A6B6D10-4A5D-C77B-8135-F282D1EBA632}"/>
              </a:ext>
            </a:extLst>
          </p:cNvPr>
          <p:cNvSpPr/>
          <p:nvPr/>
        </p:nvSpPr>
        <p:spPr>
          <a:xfrm>
            <a:off x="8595360" y="850392"/>
            <a:ext cx="3063240" cy="182880"/>
          </a:xfrm>
          <a:prstGeom prst="rect">
            <a:avLst/>
          </a:prstGeom>
          <a:noFill/>
          <a:ln/>
        </p:spPr>
        <p:txBody>
          <a:bodyPr wrap="square" lIns="0" tIns="0" rIns="0" bIns="0" rtlCol="0" anchor="t">
            <a:normAutofit/>
          </a:bodyPr>
          <a:lstStyle/>
          <a:p>
            <a:pPr marL="0" indent="0" algn="r">
              <a:buNone/>
            </a:pPr>
            <a:r>
              <a:rPr lang="en-US" sz="900" b="1" dirty="0">
                <a:solidFill>
                  <a:srgbClr val="1A2A31"/>
                </a:solidFill>
                <a:latin typeface="Arial" pitchFamily="34" charset="0"/>
                <a:ea typeface="Arial" pitchFamily="34" charset="-122"/>
                <a:cs typeface="Arial" pitchFamily="34" charset="-120"/>
              </a:rPr>
              <a:t>Kamila Clarová</a:t>
            </a:r>
            <a:endParaRPr lang="en-US" sz="900" dirty="0"/>
          </a:p>
        </p:txBody>
      </p:sp>
      <p:sp>
        <p:nvSpPr>
          <p:cNvPr id="59" name="Text 4">
            <a:extLst>
              <a:ext uri="{FF2B5EF4-FFF2-40B4-BE49-F238E27FC236}">
                <a16:creationId xmlns:a16="http://schemas.microsoft.com/office/drawing/2014/main" id="{47149D6C-92B5-1633-D968-2F8EB4B7560D}"/>
              </a:ext>
            </a:extLst>
          </p:cNvPr>
          <p:cNvSpPr/>
          <p:nvPr/>
        </p:nvSpPr>
        <p:spPr>
          <a:xfrm>
            <a:off x="8229600" y="1051560"/>
            <a:ext cx="3429000" cy="182880"/>
          </a:xfrm>
          <a:prstGeom prst="rect">
            <a:avLst/>
          </a:prstGeom>
          <a:noFill/>
          <a:ln/>
        </p:spPr>
        <p:txBody>
          <a:bodyPr wrap="square" lIns="0" tIns="0" rIns="0" bIns="0" rtlCol="0" anchor="t">
            <a:normAutofit/>
          </a:bodyPr>
          <a:lstStyle/>
          <a:p>
            <a:pPr marL="0" indent="0" algn="r">
              <a:buNone/>
            </a:pPr>
            <a:r>
              <a:rPr lang="en-US" sz="800" dirty="0">
                <a:solidFill>
                  <a:srgbClr val="5B6E76"/>
                </a:solidFill>
                <a:latin typeface="Arial" pitchFamily="34" charset="0"/>
                <a:ea typeface="Arial" pitchFamily="34" charset="-122"/>
                <a:cs typeface="Arial" pitchFamily="34" charset="-120"/>
              </a:rPr>
              <a:t>Jiří Vondrášek Group</a:t>
            </a:r>
            <a:endParaRPr lang="en-US" sz="800" dirty="0"/>
          </a:p>
        </p:txBody>
      </p:sp>
      <p:sp>
        <p:nvSpPr>
          <p:cNvPr id="61" name="Text 5">
            <a:extLst>
              <a:ext uri="{FF2B5EF4-FFF2-40B4-BE49-F238E27FC236}">
                <a16:creationId xmlns:a16="http://schemas.microsoft.com/office/drawing/2014/main" id="{B85D6070-F08F-0E66-FB37-603D998445D2}"/>
              </a:ext>
            </a:extLst>
          </p:cNvPr>
          <p:cNvSpPr/>
          <p:nvPr/>
        </p:nvSpPr>
        <p:spPr>
          <a:xfrm>
            <a:off x="594360" y="1508760"/>
            <a:ext cx="5715000" cy="676656"/>
          </a:xfrm>
          <a:prstGeom prst="rect">
            <a:avLst/>
          </a:prstGeom>
          <a:noFill/>
          <a:ln/>
        </p:spPr>
        <p:txBody>
          <a:bodyPr wrap="square" lIns="0" tIns="0" rIns="0" bIns="0" rtlCol="0" anchor="t">
            <a:normAutofit/>
          </a:bodyPr>
          <a:lstStyle/>
          <a:p>
            <a:pPr marL="0" indent="0" algn="l">
              <a:buNone/>
            </a:pPr>
            <a:r>
              <a:rPr lang="en-US" sz="1220" dirty="0">
                <a:solidFill>
                  <a:srgbClr val="1A2A31"/>
                </a:solidFill>
                <a:latin typeface="Arial" pitchFamily="34" charset="0"/>
                <a:ea typeface="Arial" pitchFamily="34" charset="-122"/>
                <a:cs typeface="Arial" pitchFamily="34" charset="-120"/>
              </a:rPr>
              <a:t>Genetic testing identifies changes in DNA, known as genetic variants. Most are harmless, but some can alter gene function and increase disease risk.</a:t>
            </a:r>
            <a:endParaRPr lang="en-US" sz="1220" dirty="0"/>
          </a:p>
        </p:txBody>
      </p:sp>
      <p:sp>
        <p:nvSpPr>
          <p:cNvPr id="63" name="Text 6">
            <a:extLst>
              <a:ext uri="{FF2B5EF4-FFF2-40B4-BE49-F238E27FC236}">
                <a16:creationId xmlns:a16="http://schemas.microsoft.com/office/drawing/2014/main" id="{28BBB1D5-9F4D-7DB3-897B-6827D3CAE0C8}"/>
              </a:ext>
            </a:extLst>
          </p:cNvPr>
          <p:cNvSpPr/>
          <p:nvPr/>
        </p:nvSpPr>
        <p:spPr>
          <a:xfrm>
            <a:off x="594360" y="2249424"/>
            <a:ext cx="5715000" cy="841248"/>
          </a:xfrm>
          <a:prstGeom prst="rect">
            <a:avLst/>
          </a:prstGeom>
          <a:noFill/>
          <a:ln/>
        </p:spPr>
        <p:txBody>
          <a:bodyPr wrap="square" lIns="0" tIns="0" rIns="0" bIns="0" rtlCol="0" anchor="t">
            <a:normAutofit/>
          </a:bodyPr>
          <a:lstStyle/>
          <a:p>
            <a:pPr marL="0" indent="0" algn="l">
              <a:buNone/>
            </a:pPr>
            <a:r>
              <a:rPr lang="en-US" sz="1220" dirty="0">
                <a:solidFill>
                  <a:srgbClr val="1A2A31"/>
                </a:solidFill>
                <a:latin typeface="Arial" pitchFamily="34" charset="0"/>
                <a:ea typeface="Arial" pitchFamily="34" charset="-122"/>
                <a:cs typeface="Arial" pitchFamily="34" charset="-120"/>
              </a:rPr>
              <a:t>To interpret a variant, different types of evidence are evaluated using defined classification criteria. Each criterion represents a specific type of evidence and contributes towards a benign or pathogenic classification.</a:t>
            </a:r>
            <a:endParaRPr lang="en-US" sz="1220" dirty="0"/>
          </a:p>
        </p:txBody>
      </p:sp>
      <p:sp>
        <p:nvSpPr>
          <p:cNvPr id="65" name="Text 7">
            <a:extLst>
              <a:ext uri="{FF2B5EF4-FFF2-40B4-BE49-F238E27FC236}">
                <a16:creationId xmlns:a16="http://schemas.microsoft.com/office/drawing/2014/main" id="{2D4FFFF9-FEE5-3D9D-8CDD-8386CBE91323}"/>
              </a:ext>
            </a:extLst>
          </p:cNvPr>
          <p:cNvSpPr/>
          <p:nvPr/>
        </p:nvSpPr>
        <p:spPr>
          <a:xfrm>
            <a:off x="594360" y="3154680"/>
            <a:ext cx="5715000" cy="676656"/>
          </a:xfrm>
          <a:prstGeom prst="rect">
            <a:avLst/>
          </a:prstGeom>
          <a:noFill/>
          <a:ln/>
        </p:spPr>
        <p:txBody>
          <a:bodyPr wrap="square" lIns="0" tIns="0" rIns="0" bIns="0" rtlCol="0" anchor="t">
            <a:normAutofit/>
          </a:bodyPr>
          <a:lstStyle/>
          <a:p>
            <a:pPr marL="0" indent="0" algn="l">
              <a:buNone/>
            </a:pPr>
            <a:r>
              <a:rPr lang="en-US" sz="1220" dirty="0">
                <a:solidFill>
                  <a:srgbClr val="1A2A31"/>
                </a:solidFill>
                <a:latin typeface="Arial" pitchFamily="34" charset="0"/>
                <a:ea typeface="Arial" pitchFamily="34" charset="-122"/>
                <a:cs typeface="Arial" pitchFamily="34" charset="-120"/>
              </a:rPr>
              <a:t>The ACMG/AMP framework provides general criteria for variant interpretation. Expert panels further refine these rules for individual genes or groups of genes.</a:t>
            </a:r>
            <a:endParaRPr lang="en-US" sz="1220" dirty="0"/>
          </a:p>
        </p:txBody>
      </p:sp>
      <p:sp>
        <p:nvSpPr>
          <p:cNvPr id="67" name="Text 8">
            <a:extLst>
              <a:ext uri="{FF2B5EF4-FFF2-40B4-BE49-F238E27FC236}">
                <a16:creationId xmlns:a16="http://schemas.microsoft.com/office/drawing/2014/main" id="{36F728BB-B937-A606-8DDC-DB08ABAF67F4}"/>
              </a:ext>
            </a:extLst>
          </p:cNvPr>
          <p:cNvSpPr/>
          <p:nvPr/>
        </p:nvSpPr>
        <p:spPr>
          <a:xfrm>
            <a:off x="594360" y="3895344"/>
            <a:ext cx="5715000" cy="512064"/>
          </a:xfrm>
          <a:prstGeom prst="rect">
            <a:avLst/>
          </a:prstGeom>
          <a:noFill/>
          <a:ln/>
        </p:spPr>
        <p:txBody>
          <a:bodyPr wrap="square" lIns="0" tIns="0" rIns="0" bIns="0" rtlCol="0" anchor="t">
            <a:normAutofit/>
          </a:bodyPr>
          <a:lstStyle/>
          <a:p>
            <a:pPr marL="0" indent="0" algn="l">
              <a:buNone/>
            </a:pPr>
            <a:r>
              <a:rPr lang="en-US" sz="1220" dirty="0">
                <a:solidFill>
                  <a:srgbClr val="1A2A31"/>
                </a:solidFill>
                <a:latin typeface="Arial" pitchFamily="34" charset="0"/>
                <a:ea typeface="Arial" pitchFamily="34" charset="-122"/>
                <a:cs typeface="Arial" pitchFamily="34" charset="-120"/>
              </a:rPr>
              <a:t>For BRCA1 and BRCA2, the rules have been further specified by the international ClinGen ENIGMA expert panel.</a:t>
            </a:r>
            <a:endParaRPr lang="en-US" sz="1220" dirty="0"/>
          </a:p>
        </p:txBody>
      </p:sp>
      <p:sp>
        <p:nvSpPr>
          <p:cNvPr id="69" name="Text 9">
            <a:extLst>
              <a:ext uri="{FF2B5EF4-FFF2-40B4-BE49-F238E27FC236}">
                <a16:creationId xmlns:a16="http://schemas.microsoft.com/office/drawing/2014/main" id="{E14298FD-8E65-C4E5-6B7A-250ED53B8A92}"/>
              </a:ext>
            </a:extLst>
          </p:cNvPr>
          <p:cNvSpPr/>
          <p:nvPr/>
        </p:nvSpPr>
        <p:spPr>
          <a:xfrm>
            <a:off x="594360" y="4672584"/>
            <a:ext cx="571500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Evidence used for classification</a:t>
            </a:r>
            <a:endParaRPr lang="en-US" sz="770" dirty="0"/>
          </a:p>
        </p:txBody>
      </p:sp>
      <p:sp>
        <p:nvSpPr>
          <p:cNvPr id="71" name="Shape 10">
            <a:extLst>
              <a:ext uri="{FF2B5EF4-FFF2-40B4-BE49-F238E27FC236}">
                <a16:creationId xmlns:a16="http://schemas.microsoft.com/office/drawing/2014/main" id="{374AAA5A-DE1C-9387-6B55-7E431A45F1A9}"/>
              </a:ext>
            </a:extLst>
          </p:cNvPr>
          <p:cNvSpPr/>
          <p:nvPr/>
        </p:nvSpPr>
        <p:spPr>
          <a:xfrm>
            <a:off x="594360" y="4919472"/>
            <a:ext cx="5715000" cy="0"/>
          </a:xfrm>
          <a:prstGeom prst="line">
            <a:avLst/>
          </a:prstGeom>
          <a:noFill/>
          <a:ln w="12700">
            <a:solidFill>
              <a:srgbClr val="EBF0F1"/>
            </a:solidFill>
            <a:prstDash val="solid"/>
          </a:ln>
        </p:spPr>
        <p:txBody>
          <a:bodyPr/>
          <a:lstStyle/>
          <a:p>
            <a:endParaRPr lang="en-US"/>
          </a:p>
        </p:txBody>
      </p:sp>
      <p:sp>
        <p:nvSpPr>
          <p:cNvPr id="73" name="Shape 11">
            <a:extLst>
              <a:ext uri="{FF2B5EF4-FFF2-40B4-BE49-F238E27FC236}">
                <a16:creationId xmlns:a16="http://schemas.microsoft.com/office/drawing/2014/main" id="{099723CA-5AD2-A64A-5270-AF75A334C3C6}"/>
              </a:ext>
            </a:extLst>
          </p:cNvPr>
          <p:cNvSpPr/>
          <p:nvPr/>
        </p:nvSpPr>
        <p:spPr>
          <a:xfrm>
            <a:off x="594360" y="5184648"/>
            <a:ext cx="73152" cy="0"/>
          </a:xfrm>
          <a:prstGeom prst="line">
            <a:avLst/>
          </a:prstGeom>
          <a:noFill/>
          <a:ln w="13970">
            <a:solidFill>
              <a:srgbClr val="15697A"/>
            </a:solidFill>
            <a:prstDash val="solid"/>
          </a:ln>
        </p:spPr>
        <p:txBody>
          <a:bodyPr/>
          <a:lstStyle/>
          <a:p>
            <a:endParaRPr lang="en-US"/>
          </a:p>
        </p:txBody>
      </p:sp>
      <p:sp>
        <p:nvSpPr>
          <p:cNvPr id="75" name="Text 12">
            <a:extLst>
              <a:ext uri="{FF2B5EF4-FFF2-40B4-BE49-F238E27FC236}">
                <a16:creationId xmlns:a16="http://schemas.microsoft.com/office/drawing/2014/main" id="{EDA436D6-A61B-2D99-5438-D22451AD0C57}"/>
              </a:ext>
            </a:extLst>
          </p:cNvPr>
          <p:cNvSpPr/>
          <p:nvPr/>
        </p:nvSpPr>
        <p:spPr>
          <a:xfrm>
            <a:off x="758952" y="505663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Population frequency</a:t>
            </a:r>
            <a:endParaRPr lang="en-US" sz="1170" dirty="0"/>
          </a:p>
        </p:txBody>
      </p:sp>
      <p:sp>
        <p:nvSpPr>
          <p:cNvPr id="77" name="Shape 13">
            <a:extLst>
              <a:ext uri="{FF2B5EF4-FFF2-40B4-BE49-F238E27FC236}">
                <a16:creationId xmlns:a16="http://schemas.microsoft.com/office/drawing/2014/main" id="{AE92C79B-744E-843A-498F-B7E9D3E2DEAD}"/>
              </a:ext>
            </a:extLst>
          </p:cNvPr>
          <p:cNvSpPr/>
          <p:nvPr/>
        </p:nvSpPr>
        <p:spPr>
          <a:xfrm>
            <a:off x="594360" y="5458968"/>
            <a:ext cx="73152" cy="0"/>
          </a:xfrm>
          <a:prstGeom prst="line">
            <a:avLst/>
          </a:prstGeom>
          <a:noFill/>
          <a:ln w="13970">
            <a:solidFill>
              <a:srgbClr val="15697A"/>
            </a:solidFill>
            <a:prstDash val="solid"/>
          </a:ln>
        </p:spPr>
        <p:txBody>
          <a:bodyPr/>
          <a:lstStyle/>
          <a:p>
            <a:endParaRPr lang="en-US"/>
          </a:p>
        </p:txBody>
      </p:sp>
      <p:sp>
        <p:nvSpPr>
          <p:cNvPr id="79" name="Text 14">
            <a:extLst>
              <a:ext uri="{FF2B5EF4-FFF2-40B4-BE49-F238E27FC236}">
                <a16:creationId xmlns:a16="http://schemas.microsoft.com/office/drawing/2014/main" id="{5FBF6FCF-5F7B-FCC0-C7DF-52256B72244E}"/>
              </a:ext>
            </a:extLst>
          </p:cNvPr>
          <p:cNvSpPr/>
          <p:nvPr/>
        </p:nvSpPr>
        <p:spPr>
          <a:xfrm>
            <a:off x="758952" y="533095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Predicted effect on the gene or protein</a:t>
            </a:r>
            <a:endParaRPr lang="en-US" sz="1170" dirty="0"/>
          </a:p>
        </p:txBody>
      </p:sp>
      <p:sp>
        <p:nvSpPr>
          <p:cNvPr id="81" name="Shape 15">
            <a:extLst>
              <a:ext uri="{FF2B5EF4-FFF2-40B4-BE49-F238E27FC236}">
                <a16:creationId xmlns:a16="http://schemas.microsoft.com/office/drawing/2014/main" id="{C9FC7C7B-5296-BBA0-B9C5-05C5C32B7B2B}"/>
              </a:ext>
            </a:extLst>
          </p:cNvPr>
          <p:cNvSpPr/>
          <p:nvPr/>
        </p:nvSpPr>
        <p:spPr>
          <a:xfrm>
            <a:off x="594360" y="5733288"/>
            <a:ext cx="73152" cy="0"/>
          </a:xfrm>
          <a:prstGeom prst="line">
            <a:avLst/>
          </a:prstGeom>
          <a:noFill/>
          <a:ln w="13970">
            <a:solidFill>
              <a:srgbClr val="15697A"/>
            </a:solidFill>
            <a:prstDash val="solid"/>
          </a:ln>
        </p:spPr>
        <p:txBody>
          <a:bodyPr/>
          <a:lstStyle/>
          <a:p>
            <a:endParaRPr lang="en-US"/>
          </a:p>
        </p:txBody>
      </p:sp>
      <p:sp>
        <p:nvSpPr>
          <p:cNvPr id="83" name="Text 16">
            <a:extLst>
              <a:ext uri="{FF2B5EF4-FFF2-40B4-BE49-F238E27FC236}">
                <a16:creationId xmlns:a16="http://schemas.microsoft.com/office/drawing/2014/main" id="{7465BE78-1336-F2B7-6F3C-9B0B8C72AF71}"/>
              </a:ext>
            </a:extLst>
          </p:cNvPr>
          <p:cNvSpPr/>
          <p:nvPr/>
        </p:nvSpPr>
        <p:spPr>
          <a:xfrm>
            <a:off x="758952" y="560527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RNA and splicing data</a:t>
            </a:r>
            <a:endParaRPr lang="en-US" sz="1170" dirty="0"/>
          </a:p>
        </p:txBody>
      </p:sp>
      <p:sp>
        <p:nvSpPr>
          <p:cNvPr id="85" name="Shape 17">
            <a:extLst>
              <a:ext uri="{FF2B5EF4-FFF2-40B4-BE49-F238E27FC236}">
                <a16:creationId xmlns:a16="http://schemas.microsoft.com/office/drawing/2014/main" id="{04D55ED9-F951-E330-138A-1CCB6CCFF23F}"/>
              </a:ext>
            </a:extLst>
          </p:cNvPr>
          <p:cNvSpPr/>
          <p:nvPr/>
        </p:nvSpPr>
        <p:spPr>
          <a:xfrm>
            <a:off x="594360" y="6007608"/>
            <a:ext cx="73152" cy="0"/>
          </a:xfrm>
          <a:prstGeom prst="line">
            <a:avLst/>
          </a:prstGeom>
          <a:noFill/>
          <a:ln w="13970">
            <a:solidFill>
              <a:srgbClr val="15697A"/>
            </a:solidFill>
            <a:prstDash val="solid"/>
          </a:ln>
        </p:spPr>
        <p:txBody>
          <a:bodyPr/>
          <a:lstStyle/>
          <a:p>
            <a:endParaRPr lang="en-US"/>
          </a:p>
        </p:txBody>
      </p:sp>
      <p:sp>
        <p:nvSpPr>
          <p:cNvPr id="87" name="Text 18">
            <a:extLst>
              <a:ext uri="{FF2B5EF4-FFF2-40B4-BE49-F238E27FC236}">
                <a16:creationId xmlns:a16="http://schemas.microsoft.com/office/drawing/2014/main" id="{F0A1F306-C958-0AFB-0331-F5B2E6B030EA}"/>
              </a:ext>
            </a:extLst>
          </p:cNvPr>
          <p:cNvSpPr/>
          <p:nvPr/>
        </p:nvSpPr>
        <p:spPr>
          <a:xfrm>
            <a:off x="758952" y="587959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Functional studies</a:t>
            </a:r>
            <a:endParaRPr lang="en-US" sz="1170" dirty="0"/>
          </a:p>
        </p:txBody>
      </p:sp>
      <p:sp>
        <p:nvSpPr>
          <p:cNvPr id="89" name="Shape 19">
            <a:extLst>
              <a:ext uri="{FF2B5EF4-FFF2-40B4-BE49-F238E27FC236}">
                <a16:creationId xmlns:a16="http://schemas.microsoft.com/office/drawing/2014/main" id="{8CF0FA7E-B4F1-D334-3021-7555D870FAE8}"/>
              </a:ext>
            </a:extLst>
          </p:cNvPr>
          <p:cNvSpPr/>
          <p:nvPr/>
        </p:nvSpPr>
        <p:spPr>
          <a:xfrm>
            <a:off x="594360" y="6281928"/>
            <a:ext cx="73152" cy="0"/>
          </a:xfrm>
          <a:prstGeom prst="line">
            <a:avLst/>
          </a:prstGeom>
          <a:noFill/>
          <a:ln w="13970">
            <a:solidFill>
              <a:srgbClr val="15697A"/>
            </a:solidFill>
            <a:prstDash val="solid"/>
          </a:ln>
        </p:spPr>
        <p:txBody>
          <a:bodyPr/>
          <a:lstStyle/>
          <a:p>
            <a:endParaRPr lang="en-US"/>
          </a:p>
        </p:txBody>
      </p:sp>
      <p:sp>
        <p:nvSpPr>
          <p:cNvPr id="91" name="Text 20">
            <a:extLst>
              <a:ext uri="{FF2B5EF4-FFF2-40B4-BE49-F238E27FC236}">
                <a16:creationId xmlns:a16="http://schemas.microsoft.com/office/drawing/2014/main" id="{E67255DF-C2BE-3DB7-0B32-39C102DFD6E8}"/>
              </a:ext>
            </a:extLst>
          </p:cNvPr>
          <p:cNvSpPr/>
          <p:nvPr/>
        </p:nvSpPr>
        <p:spPr>
          <a:xfrm>
            <a:off x="758952" y="6153912"/>
            <a:ext cx="5550408" cy="228600"/>
          </a:xfrm>
          <a:prstGeom prst="rect">
            <a:avLst/>
          </a:prstGeom>
          <a:noFill/>
          <a:ln/>
        </p:spPr>
        <p:txBody>
          <a:bodyPr wrap="square" lIns="0" tIns="0" rIns="0" bIns="0" rtlCol="0" anchor="t">
            <a:normAutofit/>
          </a:bodyPr>
          <a:lstStyle/>
          <a:p>
            <a:pPr marL="0" indent="0" algn="l">
              <a:buNone/>
            </a:pPr>
            <a:r>
              <a:rPr lang="en-US" sz="1170" dirty="0">
                <a:solidFill>
                  <a:srgbClr val="1A2A31"/>
                </a:solidFill>
                <a:latin typeface="Arial" pitchFamily="34" charset="0"/>
                <a:ea typeface="Arial" pitchFamily="34" charset="-122"/>
                <a:cs typeface="Arial" pitchFamily="34" charset="-120"/>
              </a:rPr>
              <a:t>Clinical and family data</a:t>
            </a:r>
            <a:endParaRPr lang="en-US" sz="1170" dirty="0"/>
          </a:p>
        </p:txBody>
      </p:sp>
      <p:sp>
        <p:nvSpPr>
          <p:cNvPr id="93" name="Text 21">
            <a:extLst>
              <a:ext uri="{FF2B5EF4-FFF2-40B4-BE49-F238E27FC236}">
                <a16:creationId xmlns:a16="http://schemas.microsoft.com/office/drawing/2014/main" id="{4D4DDAAB-6A69-BB59-2AD2-6B3350CD8A33}"/>
              </a:ext>
            </a:extLst>
          </p:cNvPr>
          <p:cNvSpPr/>
          <p:nvPr/>
        </p:nvSpPr>
        <p:spPr>
          <a:xfrm>
            <a:off x="6629400" y="1508760"/>
            <a:ext cx="49834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Five categories</a:t>
            </a:r>
            <a:endParaRPr lang="en-US" sz="770" dirty="0"/>
          </a:p>
        </p:txBody>
      </p:sp>
      <p:sp>
        <p:nvSpPr>
          <p:cNvPr id="95" name="Shape 22">
            <a:extLst>
              <a:ext uri="{FF2B5EF4-FFF2-40B4-BE49-F238E27FC236}">
                <a16:creationId xmlns:a16="http://schemas.microsoft.com/office/drawing/2014/main" id="{D31C78F9-9B11-31D0-236D-E70D7369B978}"/>
              </a:ext>
            </a:extLst>
          </p:cNvPr>
          <p:cNvSpPr/>
          <p:nvPr/>
        </p:nvSpPr>
        <p:spPr>
          <a:xfrm>
            <a:off x="6629400" y="1755648"/>
            <a:ext cx="4983480" cy="0"/>
          </a:xfrm>
          <a:prstGeom prst="line">
            <a:avLst/>
          </a:prstGeom>
          <a:noFill/>
          <a:ln w="12700">
            <a:solidFill>
              <a:srgbClr val="EBF0F1"/>
            </a:solidFill>
            <a:prstDash val="solid"/>
          </a:ln>
        </p:spPr>
        <p:txBody>
          <a:bodyPr/>
          <a:lstStyle/>
          <a:p>
            <a:endParaRPr lang="en-US"/>
          </a:p>
        </p:txBody>
      </p:sp>
      <p:sp>
        <p:nvSpPr>
          <p:cNvPr id="97" name="Text 23">
            <a:extLst>
              <a:ext uri="{FF2B5EF4-FFF2-40B4-BE49-F238E27FC236}">
                <a16:creationId xmlns:a16="http://schemas.microsoft.com/office/drawing/2014/main" id="{63F1DA89-96A2-5CDF-D822-CF45684570E4}"/>
              </a:ext>
            </a:extLst>
          </p:cNvPr>
          <p:cNvSpPr/>
          <p:nvPr/>
        </p:nvSpPr>
        <p:spPr>
          <a:xfrm>
            <a:off x="6629400"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Benign</a:t>
            </a:r>
            <a:endParaRPr lang="en-US" sz="820" dirty="0"/>
          </a:p>
        </p:txBody>
      </p:sp>
      <p:sp>
        <p:nvSpPr>
          <p:cNvPr id="99" name="Shape 24">
            <a:extLst>
              <a:ext uri="{FF2B5EF4-FFF2-40B4-BE49-F238E27FC236}">
                <a16:creationId xmlns:a16="http://schemas.microsoft.com/office/drawing/2014/main" id="{BB27EF70-E31E-A555-BF53-098165BAE7D2}"/>
              </a:ext>
            </a:extLst>
          </p:cNvPr>
          <p:cNvSpPr/>
          <p:nvPr/>
        </p:nvSpPr>
        <p:spPr>
          <a:xfrm>
            <a:off x="6638544" y="1938528"/>
            <a:ext cx="969264" cy="54864"/>
          </a:xfrm>
          <a:prstGeom prst="rect">
            <a:avLst/>
          </a:prstGeom>
          <a:solidFill>
            <a:srgbClr val="4E8C6E"/>
          </a:solidFill>
          <a:ln w="12700">
            <a:solidFill>
              <a:srgbClr val="4E8C6E">
                <a:alpha val="0"/>
              </a:srgbClr>
            </a:solidFill>
            <a:prstDash val="solid"/>
          </a:ln>
        </p:spPr>
        <p:txBody>
          <a:bodyPr/>
          <a:lstStyle/>
          <a:p>
            <a:endParaRPr lang="en-US"/>
          </a:p>
        </p:txBody>
      </p:sp>
      <p:sp>
        <p:nvSpPr>
          <p:cNvPr id="101" name="Text 25">
            <a:extLst>
              <a:ext uri="{FF2B5EF4-FFF2-40B4-BE49-F238E27FC236}">
                <a16:creationId xmlns:a16="http://schemas.microsoft.com/office/drawing/2014/main" id="{DEFEE317-BBE3-A79B-D18A-E2857A77BD24}"/>
              </a:ext>
            </a:extLst>
          </p:cNvPr>
          <p:cNvSpPr/>
          <p:nvPr/>
        </p:nvSpPr>
        <p:spPr>
          <a:xfrm>
            <a:off x="7626096"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Likely benign</a:t>
            </a:r>
            <a:endParaRPr lang="en-US" sz="820" dirty="0"/>
          </a:p>
        </p:txBody>
      </p:sp>
      <p:sp>
        <p:nvSpPr>
          <p:cNvPr id="103" name="Shape 26">
            <a:extLst>
              <a:ext uri="{FF2B5EF4-FFF2-40B4-BE49-F238E27FC236}">
                <a16:creationId xmlns:a16="http://schemas.microsoft.com/office/drawing/2014/main" id="{06EC15D1-FC6B-8EEC-F24A-E717C1647DC3}"/>
              </a:ext>
            </a:extLst>
          </p:cNvPr>
          <p:cNvSpPr/>
          <p:nvPr/>
        </p:nvSpPr>
        <p:spPr>
          <a:xfrm>
            <a:off x="7635240" y="1938528"/>
            <a:ext cx="969264" cy="54864"/>
          </a:xfrm>
          <a:prstGeom prst="rect">
            <a:avLst/>
          </a:prstGeom>
          <a:solidFill>
            <a:srgbClr val="8FB49E"/>
          </a:solidFill>
          <a:ln w="12700">
            <a:solidFill>
              <a:srgbClr val="8FB49E">
                <a:alpha val="0"/>
              </a:srgbClr>
            </a:solidFill>
            <a:prstDash val="solid"/>
          </a:ln>
        </p:spPr>
        <p:txBody>
          <a:bodyPr/>
          <a:lstStyle/>
          <a:p>
            <a:endParaRPr lang="en-US"/>
          </a:p>
        </p:txBody>
      </p:sp>
      <p:sp>
        <p:nvSpPr>
          <p:cNvPr id="105" name="Text 27">
            <a:extLst>
              <a:ext uri="{FF2B5EF4-FFF2-40B4-BE49-F238E27FC236}">
                <a16:creationId xmlns:a16="http://schemas.microsoft.com/office/drawing/2014/main" id="{CC457A54-7FAE-6653-18A2-BF300B707EE2}"/>
              </a:ext>
            </a:extLst>
          </p:cNvPr>
          <p:cNvSpPr/>
          <p:nvPr/>
        </p:nvSpPr>
        <p:spPr>
          <a:xfrm>
            <a:off x="8622792"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Uncertain significance (VUS)</a:t>
            </a:r>
            <a:endParaRPr lang="en-US" sz="820" dirty="0"/>
          </a:p>
        </p:txBody>
      </p:sp>
      <p:sp>
        <p:nvSpPr>
          <p:cNvPr id="107" name="Shape 28">
            <a:extLst>
              <a:ext uri="{FF2B5EF4-FFF2-40B4-BE49-F238E27FC236}">
                <a16:creationId xmlns:a16="http://schemas.microsoft.com/office/drawing/2014/main" id="{0DAA5DDB-53F9-6C4D-3A71-54FEC5133346}"/>
              </a:ext>
            </a:extLst>
          </p:cNvPr>
          <p:cNvSpPr/>
          <p:nvPr/>
        </p:nvSpPr>
        <p:spPr>
          <a:xfrm>
            <a:off x="8631936" y="1938528"/>
            <a:ext cx="969264" cy="54864"/>
          </a:xfrm>
          <a:prstGeom prst="rect">
            <a:avLst/>
          </a:prstGeom>
          <a:solidFill>
            <a:srgbClr val="B9AE7C"/>
          </a:solidFill>
          <a:ln w="12700">
            <a:solidFill>
              <a:srgbClr val="B9AE7C">
                <a:alpha val="0"/>
              </a:srgbClr>
            </a:solidFill>
            <a:prstDash val="solid"/>
          </a:ln>
        </p:spPr>
        <p:txBody>
          <a:bodyPr/>
          <a:lstStyle/>
          <a:p>
            <a:endParaRPr lang="en-US"/>
          </a:p>
        </p:txBody>
      </p:sp>
      <p:sp>
        <p:nvSpPr>
          <p:cNvPr id="109" name="Text 29">
            <a:extLst>
              <a:ext uri="{FF2B5EF4-FFF2-40B4-BE49-F238E27FC236}">
                <a16:creationId xmlns:a16="http://schemas.microsoft.com/office/drawing/2014/main" id="{0271C8CA-4FFE-617E-8EBE-8EA36B7AA8E1}"/>
              </a:ext>
            </a:extLst>
          </p:cNvPr>
          <p:cNvSpPr/>
          <p:nvPr/>
        </p:nvSpPr>
        <p:spPr>
          <a:xfrm>
            <a:off x="9619488"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Likely pathogenic</a:t>
            </a:r>
            <a:endParaRPr lang="en-US" sz="820" dirty="0"/>
          </a:p>
        </p:txBody>
      </p:sp>
      <p:sp>
        <p:nvSpPr>
          <p:cNvPr id="111" name="Shape 30">
            <a:extLst>
              <a:ext uri="{FF2B5EF4-FFF2-40B4-BE49-F238E27FC236}">
                <a16:creationId xmlns:a16="http://schemas.microsoft.com/office/drawing/2014/main" id="{E12DCD0D-FA99-C9FF-F559-B971A07A0D43}"/>
              </a:ext>
            </a:extLst>
          </p:cNvPr>
          <p:cNvSpPr/>
          <p:nvPr/>
        </p:nvSpPr>
        <p:spPr>
          <a:xfrm>
            <a:off x="9628632" y="1938528"/>
            <a:ext cx="969264" cy="54864"/>
          </a:xfrm>
          <a:prstGeom prst="rect">
            <a:avLst/>
          </a:prstGeom>
          <a:solidFill>
            <a:srgbClr val="C79A8C"/>
          </a:solidFill>
          <a:ln w="12700">
            <a:solidFill>
              <a:srgbClr val="C79A8C">
                <a:alpha val="0"/>
              </a:srgbClr>
            </a:solidFill>
            <a:prstDash val="solid"/>
          </a:ln>
        </p:spPr>
        <p:txBody>
          <a:bodyPr/>
          <a:lstStyle/>
          <a:p>
            <a:endParaRPr lang="en-US"/>
          </a:p>
        </p:txBody>
      </p:sp>
      <p:sp>
        <p:nvSpPr>
          <p:cNvPr id="113" name="Text 31">
            <a:extLst>
              <a:ext uri="{FF2B5EF4-FFF2-40B4-BE49-F238E27FC236}">
                <a16:creationId xmlns:a16="http://schemas.microsoft.com/office/drawing/2014/main" id="{7B3755BD-A109-0275-54FC-B57D814CE79E}"/>
              </a:ext>
            </a:extLst>
          </p:cNvPr>
          <p:cNvSpPr/>
          <p:nvPr/>
        </p:nvSpPr>
        <p:spPr>
          <a:xfrm>
            <a:off x="10616184" y="1929384"/>
            <a:ext cx="987552" cy="521208"/>
          </a:xfrm>
          <a:prstGeom prst="rect">
            <a:avLst/>
          </a:prstGeom>
          <a:solidFill>
            <a:srgbClr val="FFFFFF"/>
          </a:solidFill>
          <a:ln w="6350">
            <a:solidFill>
              <a:srgbClr val="DCE4E6"/>
            </a:solidFill>
          </a:ln>
        </p:spPr>
        <p:txBody>
          <a:bodyPr wrap="square" lIns="508" tIns="508" rIns="508" bIns="508" rtlCol="0" anchor="ctr">
            <a:normAutofit/>
          </a:bodyPr>
          <a:lstStyle/>
          <a:p>
            <a:pPr marL="0" indent="0" algn="ctr">
              <a:buNone/>
            </a:pPr>
            <a:r>
              <a:rPr lang="en-US" sz="820" dirty="0">
                <a:solidFill>
                  <a:srgbClr val="5B6E76"/>
                </a:solidFill>
                <a:latin typeface="Arial" pitchFamily="34" charset="0"/>
                <a:ea typeface="Arial" pitchFamily="34" charset="-122"/>
                <a:cs typeface="Arial" pitchFamily="34" charset="-120"/>
              </a:rPr>
              <a:t>Pathogenic</a:t>
            </a:r>
            <a:endParaRPr lang="en-US" sz="820" dirty="0"/>
          </a:p>
        </p:txBody>
      </p:sp>
      <p:sp>
        <p:nvSpPr>
          <p:cNvPr id="115" name="Shape 32">
            <a:extLst>
              <a:ext uri="{FF2B5EF4-FFF2-40B4-BE49-F238E27FC236}">
                <a16:creationId xmlns:a16="http://schemas.microsoft.com/office/drawing/2014/main" id="{8476EA69-328D-DD64-E632-31B6063CDFB4}"/>
              </a:ext>
            </a:extLst>
          </p:cNvPr>
          <p:cNvSpPr/>
          <p:nvPr/>
        </p:nvSpPr>
        <p:spPr>
          <a:xfrm>
            <a:off x="10625328" y="1938528"/>
            <a:ext cx="969264" cy="54864"/>
          </a:xfrm>
          <a:prstGeom prst="rect">
            <a:avLst/>
          </a:prstGeom>
          <a:solidFill>
            <a:srgbClr val="B0554A"/>
          </a:solidFill>
          <a:ln w="12700">
            <a:solidFill>
              <a:srgbClr val="B0554A">
                <a:alpha val="0"/>
              </a:srgbClr>
            </a:solidFill>
            <a:prstDash val="solid"/>
          </a:ln>
        </p:spPr>
        <p:txBody>
          <a:bodyPr/>
          <a:lstStyle/>
          <a:p>
            <a:endParaRPr lang="en-US"/>
          </a:p>
        </p:txBody>
      </p:sp>
      <p:sp>
        <p:nvSpPr>
          <p:cNvPr id="117" name="Text 33">
            <a:extLst>
              <a:ext uri="{FF2B5EF4-FFF2-40B4-BE49-F238E27FC236}">
                <a16:creationId xmlns:a16="http://schemas.microsoft.com/office/drawing/2014/main" id="{66A06363-C1AE-8ED2-42D5-99DEEE9B46B9}"/>
              </a:ext>
            </a:extLst>
          </p:cNvPr>
          <p:cNvSpPr/>
          <p:nvPr/>
        </p:nvSpPr>
        <p:spPr>
          <a:xfrm>
            <a:off x="6629400" y="2743200"/>
            <a:ext cx="49834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cs typeface="Arial" pitchFamily="34" charset="-120"/>
              </a:rPr>
              <a:t>Why classification is challenging !	</a:t>
            </a:r>
            <a:endParaRPr lang="en-US" sz="770" dirty="0"/>
          </a:p>
        </p:txBody>
      </p:sp>
      <p:sp>
        <p:nvSpPr>
          <p:cNvPr id="119" name="Shape 34">
            <a:extLst>
              <a:ext uri="{FF2B5EF4-FFF2-40B4-BE49-F238E27FC236}">
                <a16:creationId xmlns:a16="http://schemas.microsoft.com/office/drawing/2014/main" id="{F4AAAD7E-4076-781A-F2F8-C854BE4CFE1E}"/>
              </a:ext>
            </a:extLst>
          </p:cNvPr>
          <p:cNvSpPr/>
          <p:nvPr/>
        </p:nvSpPr>
        <p:spPr>
          <a:xfrm>
            <a:off x="6629400" y="2990088"/>
            <a:ext cx="4983480" cy="0"/>
          </a:xfrm>
          <a:prstGeom prst="line">
            <a:avLst/>
          </a:prstGeom>
          <a:noFill/>
          <a:ln w="12700">
            <a:solidFill>
              <a:srgbClr val="EBF0F1"/>
            </a:solidFill>
            <a:prstDash val="solid"/>
          </a:ln>
        </p:spPr>
        <p:txBody>
          <a:bodyPr/>
          <a:lstStyle/>
          <a:p>
            <a:endParaRPr lang="en-US"/>
          </a:p>
        </p:txBody>
      </p:sp>
      <p:sp>
        <p:nvSpPr>
          <p:cNvPr id="121" name="Text 35">
            <a:extLst>
              <a:ext uri="{FF2B5EF4-FFF2-40B4-BE49-F238E27FC236}">
                <a16:creationId xmlns:a16="http://schemas.microsoft.com/office/drawing/2014/main" id="{06553DAB-B316-DF9D-ECF2-B8F94ACECA0C}"/>
              </a:ext>
            </a:extLst>
          </p:cNvPr>
          <p:cNvSpPr/>
          <p:nvPr/>
        </p:nvSpPr>
        <p:spPr>
          <a:xfrm>
            <a:off x="6629400" y="3145536"/>
            <a:ext cx="4983480" cy="1014984"/>
          </a:xfrm>
          <a:prstGeom prst="rect">
            <a:avLst/>
          </a:prstGeom>
          <a:solidFill>
            <a:srgbClr val="F5F8F8"/>
          </a:solidFill>
          <a:ln w="9525">
            <a:solidFill>
              <a:srgbClr val="DCE4E6"/>
            </a:solidFill>
          </a:ln>
        </p:spPr>
        <p:txBody>
          <a:bodyPr wrap="square" lIns="1778" tIns="1778" rIns="1778" bIns="1778" rtlCol="0" anchor="ctr">
            <a:normAutofit/>
          </a:bodyPr>
          <a:lstStyle/>
          <a:p>
            <a:pPr algn="ctr"/>
            <a:r>
              <a:rPr lang="en-US" sz="1100" dirty="0">
                <a:solidFill>
                  <a:schemeClr val="tx1">
                    <a:lumMod val="65000"/>
                    <a:lumOff val="35000"/>
                  </a:schemeClr>
                </a:solidFill>
                <a:latin typeface="Arial" panose="020B0604020202020204" pitchFamily="34" charset="0"/>
                <a:cs typeface="Arial" panose="020B0604020202020204" pitchFamily="34" charset="0"/>
              </a:rPr>
              <a:t>Variant classification can be time-consuming and requires substantial expert knowledge. Relevant evidence is distributed across databases, prediction tools and scientific publications, and individual criteria must be applied according to complex, often gene-specific rules. Some criteria can be evaluated computationally, while others still require manual expert review</a:t>
            </a:r>
            <a:r>
              <a:rPr lang="en-US" sz="1100" dirty="0">
                <a:latin typeface="Arial" panose="020B0604020202020204" pitchFamily="34" charset="0"/>
                <a:cs typeface="Arial" panose="020B0604020202020204" pitchFamily="34" charset="0"/>
              </a:rPr>
              <a:t>.</a:t>
            </a:r>
          </a:p>
        </p:txBody>
      </p:sp>
      <p:sp>
        <p:nvSpPr>
          <p:cNvPr id="123" name="Text 36">
            <a:extLst>
              <a:ext uri="{FF2B5EF4-FFF2-40B4-BE49-F238E27FC236}">
                <a16:creationId xmlns:a16="http://schemas.microsoft.com/office/drawing/2014/main" id="{686E2581-580B-6A98-AA44-61CE379F7A4D}"/>
              </a:ext>
            </a:extLst>
          </p:cNvPr>
          <p:cNvSpPr/>
          <p:nvPr/>
        </p:nvSpPr>
        <p:spPr>
          <a:xfrm>
            <a:off x="6629400" y="4526280"/>
            <a:ext cx="49834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Basic principle</a:t>
            </a:r>
            <a:endParaRPr lang="en-US" sz="770" dirty="0"/>
          </a:p>
        </p:txBody>
      </p:sp>
      <p:sp>
        <p:nvSpPr>
          <p:cNvPr id="125" name="Shape 37">
            <a:extLst>
              <a:ext uri="{FF2B5EF4-FFF2-40B4-BE49-F238E27FC236}">
                <a16:creationId xmlns:a16="http://schemas.microsoft.com/office/drawing/2014/main" id="{75CB0CD6-3445-D16B-8892-7F301A0E3A92}"/>
              </a:ext>
            </a:extLst>
          </p:cNvPr>
          <p:cNvSpPr/>
          <p:nvPr/>
        </p:nvSpPr>
        <p:spPr>
          <a:xfrm>
            <a:off x="6629400" y="4773168"/>
            <a:ext cx="4983480" cy="0"/>
          </a:xfrm>
          <a:prstGeom prst="line">
            <a:avLst/>
          </a:prstGeom>
          <a:noFill/>
          <a:ln w="12700">
            <a:solidFill>
              <a:srgbClr val="EBF0F1"/>
            </a:solidFill>
            <a:prstDash val="solid"/>
          </a:ln>
        </p:spPr>
        <p:txBody>
          <a:bodyPr/>
          <a:lstStyle/>
          <a:p>
            <a:endParaRPr lang="en-US"/>
          </a:p>
        </p:txBody>
      </p:sp>
      <p:sp>
        <p:nvSpPr>
          <p:cNvPr id="127" name="Text 38">
            <a:extLst>
              <a:ext uri="{FF2B5EF4-FFF2-40B4-BE49-F238E27FC236}">
                <a16:creationId xmlns:a16="http://schemas.microsoft.com/office/drawing/2014/main" id="{6C4FAF76-29F6-DFAD-8C41-FF0B3D52D4A4}"/>
              </a:ext>
            </a:extLst>
          </p:cNvPr>
          <p:cNvSpPr/>
          <p:nvPr/>
        </p:nvSpPr>
        <p:spPr>
          <a:xfrm>
            <a:off x="6629400" y="4983480"/>
            <a:ext cx="1074420" cy="384048"/>
          </a:xfrm>
          <a:prstGeom prst="rect">
            <a:avLst/>
          </a:prstGeom>
          <a:solidFill>
            <a:srgbClr val="F5F8F8"/>
          </a:solidFill>
          <a:ln w="8890">
            <a:solidFill>
              <a:srgbClr val="DCE4E6"/>
            </a:solidFill>
          </a:ln>
        </p:spPr>
        <p:txBody>
          <a:bodyPr wrap="square" lIns="508" tIns="508" rIns="508" bIns="508" rtlCol="0" anchor="ctr">
            <a:normAutofit/>
          </a:bodyPr>
          <a:lstStyle/>
          <a:p>
            <a:pPr marL="0" indent="0" algn="ctr">
              <a:buNone/>
            </a:pPr>
            <a:r>
              <a:rPr lang="en-US" sz="960" dirty="0">
                <a:solidFill>
                  <a:srgbClr val="1A2A31"/>
                </a:solidFill>
                <a:latin typeface="Arial" pitchFamily="34" charset="0"/>
                <a:ea typeface="Arial" pitchFamily="34" charset="-122"/>
                <a:cs typeface="Arial" pitchFamily="34" charset="-120"/>
              </a:rPr>
              <a:t>Variant</a:t>
            </a:r>
            <a:endParaRPr lang="en-US" sz="960" dirty="0"/>
          </a:p>
        </p:txBody>
      </p:sp>
      <p:sp>
        <p:nvSpPr>
          <p:cNvPr id="129" name="Text 39">
            <a:extLst>
              <a:ext uri="{FF2B5EF4-FFF2-40B4-BE49-F238E27FC236}">
                <a16:creationId xmlns:a16="http://schemas.microsoft.com/office/drawing/2014/main" id="{7F650225-7587-83B0-C27B-1472A5AFF9D1}"/>
              </a:ext>
            </a:extLst>
          </p:cNvPr>
          <p:cNvSpPr/>
          <p:nvPr/>
        </p:nvSpPr>
        <p:spPr>
          <a:xfrm>
            <a:off x="7740396" y="5084064"/>
            <a:ext cx="164592" cy="128016"/>
          </a:xfrm>
          <a:prstGeom prst="rect">
            <a:avLst/>
          </a:prstGeom>
          <a:noFill/>
          <a:ln/>
        </p:spPr>
        <p:txBody>
          <a:bodyPr wrap="square" lIns="0" tIns="0" rIns="0" bIns="0" rtlCol="0" anchor="t">
            <a:normAutofit fontScale="92500" lnSpcReduction="20000"/>
          </a:bodyPr>
          <a:lstStyle/>
          <a:p>
            <a:pPr marL="0" indent="0" algn="ctr">
              <a:buNone/>
            </a:pPr>
            <a:r>
              <a:rPr lang="en-US" sz="1100" dirty="0">
                <a:solidFill>
                  <a:srgbClr val="8A9BA1"/>
                </a:solidFill>
                <a:latin typeface="Arial" pitchFamily="34" charset="0"/>
                <a:ea typeface="Arial" pitchFamily="34" charset="-122"/>
                <a:cs typeface="Arial" pitchFamily="34" charset="-120"/>
              </a:rPr>
              <a:t>→</a:t>
            </a:r>
            <a:endParaRPr lang="en-US" sz="1100" dirty="0"/>
          </a:p>
        </p:txBody>
      </p:sp>
      <p:sp>
        <p:nvSpPr>
          <p:cNvPr id="131" name="Text 40">
            <a:extLst>
              <a:ext uri="{FF2B5EF4-FFF2-40B4-BE49-F238E27FC236}">
                <a16:creationId xmlns:a16="http://schemas.microsoft.com/office/drawing/2014/main" id="{1C6DE675-C973-9EF4-4E6F-D928A89E0873}"/>
              </a:ext>
            </a:extLst>
          </p:cNvPr>
          <p:cNvSpPr/>
          <p:nvPr/>
        </p:nvSpPr>
        <p:spPr>
          <a:xfrm>
            <a:off x="7932420" y="4983480"/>
            <a:ext cx="1074420" cy="384048"/>
          </a:xfrm>
          <a:prstGeom prst="rect">
            <a:avLst/>
          </a:prstGeom>
          <a:solidFill>
            <a:srgbClr val="F5F8F8"/>
          </a:solidFill>
          <a:ln w="8890">
            <a:solidFill>
              <a:srgbClr val="DCE4E6"/>
            </a:solidFill>
          </a:ln>
        </p:spPr>
        <p:txBody>
          <a:bodyPr wrap="square" lIns="508" tIns="508" rIns="508" bIns="508" rtlCol="0" anchor="ctr">
            <a:normAutofit/>
          </a:bodyPr>
          <a:lstStyle/>
          <a:p>
            <a:pPr marL="0" indent="0" algn="ctr">
              <a:buNone/>
            </a:pPr>
            <a:r>
              <a:rPr lang="en-US" sz="960" dirty="0">
                <a:solidFill>
                  <a:srgbClr val="1A2A31"/>
                </a:solidFill>
                <a:latin typeface="Arial" pitchFamily="34" charset="0"/>
                <a:ea typeface="Arial" pitchFamily="34" charset="-122"/>
                <a:cs typeface="Arial" pitchFamily="34" charset="-120"/>
              </a:rPr>
              <a:t>Evidence</a:t>
            </a:r>
            <a:endParaRPr lang="en-US" sz="960" dirty="0"/>
          </a:p>
        </p:txBody>
      </p:sp>
      <p:sp>
        <p:nvSpPr>
          <p:cNvPr id="133" name="Text 41">
            <a:extLst>
              <a:ext uri="{FF2B5EF4-FFF2-40B4-BE49-F238E27FC236}">
                <a16:creationId xmlns:a16="http://schemas.microsoft.com/office/drawing/2014/main" id="{B8BF2946-8E12-0590-0B62-9A964A90FD98}"/>
              </a:ext>
            </a:extLst>
          </p:cNvPr>
          <p:cNvSpPr/>
          <p:nvPr/>
        </p:nvSpPr>
        <p:spPr>
          <a:xfrm>
            <a:off x="9043416" y="5084064"/>
            <a:ext cx="164592" cy="128016"/>
          </a:xfrm>
          <a:prstGeom prst="rect">
            <a:avLst/>
          </a:prstGeom>
          <a:noFill/>
          <a:ln/>
        </p:spPr>
        <p:txBody>
          <a:bodyPr wrap="square" lIns="0" tIns="0" rIns="0" bIns="0" rtlCol="0" anchor="t">
            <a:normAutofit fontScale="92500" lnSpcReduction="20000"/>
          </a:bodyPr>
          <a:lstStyle/>
          <a:p>
            <a:pPr marL="0" indent="0" algn="ctr">
              <a:buNone/>
            </a:pPr>
            <a:r>
              <a:rPr lang="en-US" sz="1100" dirty="0">
                <a:solidFill>
                  <a:srgbClr val="8A9BA1"/>
                </a:solidFill>
                <a:latin typeface="Arial" pitchFamily="34" charset="0"/>
                <a:ea typeface="Arial" pitchFamily="34" charset="-122"/>
                <a:cs typeface="Arial" pitchFamily="34" charset="-120"/>
              </a:rPr>
              <a:t>→</a:t>
            </a:r>
            <a:endParaRPr lang="en-US" sz="1100" dirty="0"/>
          </a:p>
        </p:txBody>
      </p:sp>
      <p:sp>
        <p:nvSpPr>
          <p:cNvPr id="135" name="Text 42">
            <a:extLst>
              <a:ext uri="{FF2B5EF4-FFF2-40B4-BE49-F238E27FC236}">
                <a16:creationId xmlns:a16="http://schemas.microsoft.com/office/drawing/2014/main" id="{F50EC936-311F-36D4-3924-C1776F574974}"/>
              </a:ext>
            </a:extLst>
          </p:cNvPr>
          <p:cNvSpPr/>
          <p:nvPr/>
        </p:nvSpPr>
        <p:spPr>
          <a:xfrm>
            <a:off x="9235440" y="4983480"/>
            <a:ext cx="1074420" cy="384048"/>
          </a:xfrm>
          <a:prstGeom prst="rect">
            <a:avLst/>
          </a:prstGeom>
          <a:solidFill>
            <a:srgbClr val="F5F8F8"/>
          </a:solidFill>
          <a:ln w="8890">
            <a:solidFill>
              <a:srgbClr val="DCE4E6"/>
            </a:solidFill>
          </a:ln>
        </p:spPr>
        <p:txBody>
          <a:bodyPr wrap="square" lIns="508" tIns="508" rIns="508" bIns="508" rtlCol="0" anchor="ctr">
            <a:normAutofit/>
          </a:bodyPr>
          <a:lstStyle/>
          <a:p>
            <a:pPr marL="0" indent="0" algn="ctr">
              <a:buNone/>
            </a:pPr>
            <a:r>
              <a:rPr lang="en-US" sz="960" dirty="0">
                <a:solidFill>
                  <a:srgbClr val="1A2A31"/>
                </a:solidFill>
                <a:latin typeface="Arial" pitchFamily="34" charset="0"/>
                <a:ea typeface="Arial" pitchFamily="34" charset="-122"/>
                <a:cs typeface="Arial" pitchFamily="34" charset="-120"/>
              </a:rPr>
              <a:t>Criteria</a:t>
            </a:r>
            <a:endParaRPr lang="en-US" sz="960" dirty="0"/>
          </a:p>
        </p:txBody>
      </p:sp>
      <p:sp>
        <p:nvSpPr>
          <p:cNvPr id="137" name="Text 43">
            <a:extLst>
              <a:ext uri="{FF2B5EF4-FFF2-40B4-BE49-F238E27FC236}">
                <a16:creationId xmlns:a16="http://schemas.microsoft.com/office/drawing/2014/main" id="{A8888CD6-04DF-5C74-05C2-E5AC344983D8}"/>
              </a:ext>
            </a:extLst>
          </p:cNvPr>
          <p:cNvSpPr/>
          <p:nvPr/>
        </p:nvSpPr>
        <p:spPr>
          <a:xfrm>
            <a:off x="10346436" y="5084064"/>
            <a:ext cx="164592" cy="128016"/>
          </a:xfrm>
          <a:prstGeom prst="rect">
            <a:avLst/>
          </a:prstGeom>
          <a:noFill/>
          <a:ln/>
        </p:spPr>
        <p:txBody>
          <a:bodyPr wrap="square" lIns="0" tIns="0" rIns="0" bIns="0" rtlCol="0" anchor="t">
            <a:normAutofit fontScale="92500" lnSpcReduction="20000"/>
          </a:bodyPr>
          <a:lstStyle/>
          <a:p>
            <a:pPr marL="0" indent="0" algn="ctr">
              <a:buNone/>
            </a:pPr>
            <a:r>
              <a:rPr lang="en-US" sz="1100" dirty="0">
                <a:solidFill>
                  <a:srgbClr val="8A9BA1"/>
                </a:solidFill>
                <a:latin typeface="Arial" pitchFamily="34" charset="0"/>
                <a:ea typeface="Arial" pitchFamily="34" charset="-122"/>
                <a:cs typeface="Arial" pitchFamily="34" charset="-120"/>
              </a:rPr>
              <a:t>→</a:t>
            </a:r>
            <a:endParaRPr lang="en-US" sz="1100" dirty="0"/>
          </a:p>
        </p:txBody>
      </p:sp>
      <p:sp>
        <p:nvSpPr>
          <p:cNvPr id="139" name="Text 44">
            <a:extLst>
              <a:ext uri="{FF2B5EF4-FFF2-40B4-BE49-F238E27FC236}">
                <a16:creationId xmlns:a16="http://schemas.microsoft.com/office/drawing/2014/main" id="{6688B5B7-050C-F359-07D3-2C3B9CA76BA9}"/>
              </a:ext>
            </a:extLst>
          </p:cNvPr>
          <p:cNvSpPr/>
          <p:nvPr/>
        </p:nvSpPr>
        <p:spPr>
          <a:xfrm>
            <a:off x="10538460" y="4983480"/>
            <a:ext cx="1074420" cy="384048"/>
          </a:xfrm>
          <a:prstGeom prst="rect">
            <a:avLst/>
          </a:prstGeom>
          <a:solidFill>
            <a:srgbClr val="15697A"/>
          </a:solidFill>
          <a:ln w="8890">
            <a:solidFill>
              <a:srgbClr val="15697A"/>
            </a:solidFill>
          </a:ln>
        </p:spPr>
        <p:txBody>
          <a:bodyPr wrap="square" lIns="508" tIns="508" rIns="508" bIns="508" rtlCol="0" anchor="ctr">
            <a:normAutofit/>
          </a:bodyPr>
          <a:lstStyle/>
          <a:p>
            <a:pPr marL="0" indent="0" algn="ctr">
              <a:buNone/>
            </a:pPr>
            <a:r>
              <a:rPr lang="en-US" sz="960" b="1" dirty="0">
                <a:solidFill>
                  <a:srgbClr val="FFFFFF"/>
                </a:solidFill>
                <a:latin typeface="Arial" pitchFamily="34" charset="0"/>
                <a:ea typeface="Arial" pitchFamily="34" charset="-122"/>
                <a:cs typeface="Arial" pitchFamily="34" charset="-120"/>
              </a:rPr>
              <a:t>Classification</a:t>
            </a:r>
            <a:endParaRPr lang="en-US" sz="9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 0">
            <a:extLst>
              <a:ext uri="{FF2B5EF4-FFF2-40B4-BE49-F238E27FC236}">
                <a16:creationId xmlns:a16="http://schemas.microsoft.com/office/drawing/2014/main" id="{D266EDD7-A3B6-A1D2-B68F-F96C5C9B2A5B}"/>
              </a:ext>
            </a:extLst>
          </p:cNvPr>
          <p:cNvSpPr/>
          <p:nvPr/>
        </p:nvSpPr>
        <p:spPr>
          <a:xfrm>
            <a:off x="502920" y="329184"/>
            <a:ext cx="1463040" cy="164592"/>
          </a:xfrm>
          <a:prstGeom prst="rect">
            <a:avLst/>
          </a:prstGeom>
          <a:noFill/>
          <a:ln/>
        </p:spPr>
        <p:txBody>
          <a:bodyPr wrap="square" lIns="0" tIns="0" rIns="0" bIns="0" rtlCol="0" anchor="t">
            <a:normAutofit/>
          </a:bodyPr>
          <a:lstStyle/>
          <a:p>
            <a:pPr marL="0" indent="0" algn="l">
              <a:buNone/>
            </a:pPr>
            <a:r>
              <a:rPr lang="en-US" sz="750" kern="0" spc="120" dirty="0">
                <a:solidFill>
                  <a:srgbClr val="8A9BA1"/>
                </a:solidFill>
                <a:latin typeface="Courier New" pitchFamily="34" charset="0"/>
                <a:ea typeface="Courier New" pitchFamily="34" charset="-122"/>
                <a:cs typeface="Courier New" pitchFamily="34" charset="-120"/>
              </a:rPr>
              <a:t>Slide 2</a:t>
            </a:r>
            <a:endParaRPr lang="en-US" sz="750" dirty="0"/>
          </a:p>
        </p:txBody>
      </p:sp>
      <p:sp>
        <p:nvSpPr>
          <p:cNvPr id="36" name="Text 1">
            <a:extLst>
              <a:ext uri="{FF2B5EF4-FFF2-40B4-BE49-F238E27FC236}">
                <a16:creationId xmlns:a16="http://schemas.microsoft.com/office/drawing/2014/main" id="{623D1D15-597F-0C95-BFA5-66C7EF1322A1}"/>
              </a:ext>
            </a:extLst>
          </p:cNvPr>
          <p:cNvSpPr/>
          <p:nvPr/>
        </p:nvSpPr>
        <p:spPr>
          <a:xfrm>
            <a:off x="502920" y="566928"/>
            <a:ext cx="6400800" cy="530352"/>
          </a:xfrm>
          <a:prstGeom prst="rect">
            <a:avLst/>
          </a:prstGeom>
          <a:noFill/>
          <a:ln/>
        </p:spPr>
        <p:txBody>
          <a:bodyPr wrap="square" lIns="0" tIns="0" rIns="0" bIns="0" rtlCol="0" anchor="t">
            <a:normAutofit/>
          </a:bodyPr>
          <a:lstStyle/>
          <a:p>
            <a:pPr marL="0" indent="0" algn="l">
              <a:buNone/>
            </a:pPr>
            <a:r>
              <a:rPr lang="en-US" sz="2750" dirty="0">
                <a:solidFill>
                  <a:srgbClr val="1A2A31"/>
                </a:solidFill>
                <a:latin typeface="Georgia" pitchFamily="34" charset="0"/>
                <a:ea typeface="Georgia" pitchFamily="34" charset="-122"/>
                <a:cs typeface="Georgia" pitchFamily="34" charset="-120"/>
              </a:rPr>
              <a:t>ARIANE</a:t>
            </a:r>
            <a:endParaRPr lang="en-US" sz="2750" dirty="0"/>
          </a:p>
        </p:txBody>
      </p:sp>
      <p:sp>
        <p:nvSpPr>
          <p:cNvPr id="38" name="Shape 2">
            <a:extLst>
              <a:ext uri="{FF2B5EF4-FFF2-40B4-BE49-F238E27FC236}">
                <a16:creationId xmlns:a16="http://schemas.microsoft.com/office/drawing/2014/main" id="{34BD6856-54B1-ACA8-45BA-E747E23D7B27}"/>
              </a:ext>
            </a:extLst>
          </p:cNvPr>
          <p:cNvSpPr/>
          <p:nvPr/>
        </p:nvSpPr>
        <p:spPr>
          <a:xfrm>
            <a:off x="502920" y="1161288"/>
            <a:ext cx="566928" cy="0"/>
          </a:xfrm>
          <a:prstGeom prst="line">
            <a:avLst/>
          </a:prstGeom>
          <a:noFill/>
          <a:ln w="19050">
            <a:solidFill>
              <a:srgbClr val="15697A"/>
            </a:solidFill>
            <a:prstDash val="solid"/>
          </a:ln>
        </p:spPr>
        <p:txBody>
          <a:bodyPr/>
          <a:lstStyle/>
          <a:p>
            <a:endParaRPr lang="en-US"/>
          </a:p>
        </p:txBody>
      </p:sp>
      <p:pic>
        <p:nvPicPr>
          <p:cNvPr id="40" name="Image 0" descr="/mnt/data/ariane_deck_author_identity/images/uochb-iocb-prague-logo.png">
            <a:extLst>
              <a:ext uri="{FF2B5EF4-FFF2-40B4-BE49-F238E27FC236}">
                <a16:creationId xmlns:a16="http://schemas.microsoft.com/office/drawing/2014/main" id="{18C7B706-879F-E251-A4DB-A702181F1E6D}"/>
              </a:ext>
            </a:extLst>
          </p:cNvPr>
          <p:cNvPicPr>
            <a:picLocks noChangeAspect="1"/>
          </p:cNvPicPr>
          <p:nvPr/>
        </p:nvPicPr>
        <p:blipFill>
          <a:blip r:embed="rId3"/>
          <a:stretch>
            <a:fillRect/>
          </a:stretch>
        </p:blipFill>
        <p:spPr>
          <a:xfrm>
            <a:off x="10152146" y="310896"/>
            <a:ext cx="1376132" cy="493776"/>
          </a:xfrm>
          <a:prstGeom prst="rect">
            <a:avLst/>
          </a:prstGeom>
        </p:spPr>
      </p:pic>
      <p:sp>
        <p:nvSpPr>
          <p:cNvPr id="42" name="Text 3">
            <a:extLst>
              <a:ext uri="{FF2B5EF4-FFF2-40B4-BE49-F238E27FC236}">
                <a16:creationId xmlns:a16="http://schemas.microsoft.com/office/drawing/2014/main" id="{6950B97F-9A70-EAB2-FADC-5BAD199E90D2}"/>
              </a:ext>
            </a:extLst>
          </p:cNvPr>
          <p:cNvSpPr/>
          <p:nvPr/>
        </p:nvSpPr>
        <p:spPr>
          <a:xfrm>
            <a:off x="8595360" y="850392"/>
            <a:ext cx="3063240" cy="182880"/>
          </a:xfrm>
          <a:prstGeom prst="rect">
            <a:avLst/>
          </a:prstGeom>
          <a:noFill/>
          <a:ln/>
        </p:spPr>
        <p:txBody>
          <a:bodyPr wrap="square" lIns="0" tIns="0" rIns="0" bIns="0" rtlCol="0" anchor="t">
            <a:normAutofit/>
          </a:bodyPr>
          <a:lstStyle/>
          <a:p>
            <a:pPr marL="0" indent="0" algn="r">
              <a:buNone/>
            </a:pPr>
            <a:r>
              <a:rPr lang="en-US" sz="900" b="1" dirty="0">
                <a:solidFill>
                  <a:srgbClr val="1A2A31"/>
                </a:solidFill>
                <a:latin typeface="Arial" pitchFamily="34" charset="0"/>
                <a:ea typeface="Arial" pitchFamily="34" charset="-122"/>
                <a:cs typeface="Arial" pitchFamily="34" charset="-120"/>
              </a:rPr>
              <a:t>Kamila Clarová</a:t>
            </a:r>
            <a:endParaRPr lang="en-US" sz="900" dirty="0"/>
          </a:p>
        </p:txBody>
      </p:sp>
      <p:sp>
        <p:nvSpPr>
          <p:cNvPr id="44" name="Text 4">
            <a:extLst>
              <a:ext uri="{FF2B5EF4-FFF2-40B4-BE49-F238E27FC236}">
                <a16:creationId xmlns:a16="http://schemas.microsoft.com/office/drawing/2014/main" id="{F86899B9-1FFE-FB66-C4AA-19BEF11A66D0}"/>
              </a:ext>
            </a:extLst>
          </p:cNvPr>
          <p:cNvSpPr/>
          <p:nvPr/>
        </p:nvSpPr>
        <p:spPr>
          <a:xfrm>
            <a:off x="8229600" y="1051560"/>
            <a:ext cx="3429000" cy="182880"/>
          </a:xfrm>
          <a:prstGeom prst="rect">
            <a:avLst/>
          </a:prstGeom>
          <a:noFill/>
          <a:ln/>
        </p:spPr>
        <p:txBody>
          <a:bodyPr wrap="square" lIns="0" tIns="0" rIns="0" bIns="0" rtlCol="0" anchor="t">
            <a:normAutofit/>
          </a:bodyPr>
          <a:lstStyle/>
          <a:p>
            <a:pPr marL="0" indent="0" algn="r">
              <a:buNone/>
            </a:pPr>
            <a:r>
              <a:rPr lang="en-US" sz="800" dirty="0">
                <a:solidFill>
                  <a:srgbClr val="5B6E76"/>
                </a:solidFill>
                <a:latin typeface="Arial" pitchFamily="34" charset="0"/>
                <a:ea typeface="Arial" pitchFamily="34" charset="-122"/>
                <a:cs typeface="Arial" pitchFamily="34" charset="-120"/>
              </a:rPr>
              <a:t>Jiří Vondrášek Group</a:t>
            </a:r>
            <a:endParaRPr lang="en-US" sz="800" dirty="0"/>
          </a:p>
        </p:txBody>
      </p:sp>
      <p:sp>
        <p:nvSpPr>
          <p:cNvPr id="46" name="Text 5">
            <a:extLst>
              <a:ext uri="{FF2B5EF4-FFF2-40B4-BE49-F238E27FC236}">
                <a16:creationId xmlns:a16="http://schemas.microsoft.com/office/drawing/2014/main" id="{862E7A96-B954-1A5E-DE64-849D76A8CDA0}"/>
              </a:ext>
            </a:extLst>
          </p:cNvPr>
          <p:cNvSpPr/>
          <p:nvPr/>
        </p:nvSpPr>
        <p:spPr>
          <a:xfrm>
            <a:off x="594360" y="1417320"/>
            <a:ext cx="4023360" cy="1737360"/>
          </a:xfrm>
          <a:prstGeom prst="rect">
            <a:avLst/>
          </a:prstGeom>
          <a:noFill/>
          <a:ln/>
        </p:spPr>
        <p:txBody>
          <a:bodyPr wrap="square" lIns="0" tIns="0" rIns="0" bIns="0" rtlCol="0" anchor="t">
            <a:normAutofit lnSpcReduction="10000"/>
          </a:bodyPr>
          <a:lstStyle/>
          <a:p>
            <a:pPr marL="0" indent="0" algn="l">
              <a:buNone/>
            </a:pPr>
            <a:r>
              <a:rPr lang="en-US" sz="1080" dirty="0">
                <a:solidFill>
                  <a:srgbClr val="1A2A31"/>
                </a:solidFill>
                <a:latin typeface="Arial" pitchFamily="34" charset="0"/>
                <a:ea typeface="Arial" pitchFamily="34" charset="-122"/>
                <a:cs typeface="Arial" pitchFamily="34" charset="-120"/>
              </a:rPr>
              <a:t>Web application ARIANE automates parts of genetic variant interpretation according to established classification criteria.</a:t>
            </a:r>
            <a:endParaRPr lang="en-US" sz="1080" dirty="0"/>
          </a:p>
          <a:p>
            <a:pPr marL="0" indent="0" algn="l">
              <a:buNone/>
            </a:pPr>
            <a:endParaRPr lang="en-US" sz="1080" dirty="0"/>
          </a:p>
          <a:p>
            <a:pPr marL="0" indent="0" algn="l">
              <a:buNone/>
            </a:pPr>
            <a:r>
              <a:rPr lang="en-US" sz="1080" dirty="0">
                <a:solidFill>
                  <a:srgbClr val="1A2A31"/>
                </a:solidFill>
                <a:latin typeface="Arial" pitchFamily="34" charset="0"/>
                <a:ea typeface="Arial" pitchFamily="34" charset="-122"/>
                <a:cs typeface="Arial" pitchFamily="34" charset="-120"/>
              </a:rPr>
              <a:t>Development started with BRCA1 and BRCA2 because they are among the best studied hereditary cancer genes and have detailed, expert-defined interpretation rules.</a:t>
            </a:r>
            <a:endParaRPr lang="en-US" sz="1080" dirty="0"/>
          </a:p>
          <a:p>
            <a:pPr marL="0" indent="0" algn="l">
              <a:buNone/>
            </a:pPr>
            <a:endParaRPr lang="en-US" sz="1080" dirty="0"/>
          </a:p>
          <a:p>
            <a:pPr marL="0" indent="0" algn="l">
              <a:buNone/>
            </a:pPr>
            <a:r>
              <a:rPr lang="en-US" sz="1080" dirty="0">
                <a:solidFill>
                  <a:srgbClr val="1A2A31"/>
                </a:solidFill>
                <a:latin typeface="Arial" pitchFamily="34" charset="0"/>
                <a:ea typeface="Arial" pitchFamily="34" charset="-122"/>
                <a:cs typeface="Arial" pitchFamily="34" charset="-120"/>
              </a:rPr>
              <a:t>The current version is a functional web application. It automatically evaluates criteria that can be derived from available annotations and reference data, while criteria requiring expert assessment remain clearly identified.</a:t>
            </a:r>
            <a:endParaRPr lang="en-US" sz="1080" dirty="0"/>
          </a:p>
        </p:txBody>
      </p:sp>
      <p:sp>
        <p:nvSpPr>
          <p:cNvPr id="48" name="Text 6">
            <a:extLst>
              <a:ext uri="{FF2B5EF4-FFF2-40B4-BE49-F238E27FC236}">
                <a16:creationId xmlns:a16="http://schemas.microsoft.com/office/drawing/2014/main" id="{4FD4273A-78A6-4299-BECB-B4460851CE14}"/>
              </a:ext>
            </a:extLst>
          </p:cNvPr>
          <p:cNvSpPr/>
          <p:nvPr/>
        </p:nvSpPr>
        <p:spPr>
          <a:xfrm>
            <a:off x="594360" y="3429000"/>
            <a:ext cx="402336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For each variant, ARIANE provides</a:t>
            </a:r>
            <a:endParaRPr lang="en-US" sz="770" dirty="0"/>
          </a:p>
        </p:txBody>
      </p:sp>
      <p:sp>
        <p:nvSpPr>
          <p:cNvPr id="50" name="Shape 7">
            <a:extLst>
              <a:ext uri="{FF2B5EF4-FFF2-40B4-BE49-F238E27FC236}">
                <a16:creationId xmlns:a16="http://schemas.microsoft.com/office/drawing/2014/main" id="{8A1B0A41-26A2-245F-3F9D-A0A1BA762B2D}"/>
              </a:ext>
            </a:extLst>
          </p:cNvPr>
          <p:cNvSpPr/>
          <p:nvPr/>
        </p:nvSpPr>
        <p:spPr>
          <a:xfrm>
            <a:off x="594360" y="3675888"/>
            <a:ext cx="4023360" cy="0"/>
          </a:xfrm>
          <a:prstGeom prst="line">
            <a:avLst/>
          </a:prstGeom>
          <a:noFill/>
          <a:ln w="12700">
            <a:solidFill>
              <a:srgbClr val="EBF0F1"/>
            </a:solidFill>
            <a:prstDash val="solid"/>
          </a:ln>
        </p:spPr>
        <p:txBody>
          <a:bodyPr/>
          <a:lstStyle/>
          <a:p>
            <a:endParaRPr lang="en-US"/>
          </a:p>
        </p:txBody>
      </p:sp>
      <p:sp>
        <p:nvSpPr>
          <p:cNvPr id="52" name="Shape 8">
            <a:extLst>
              <a:ext uri="{FF2B5EF4-FFF2-40B4-BE49-F238E27FC236}">
                <a16:creationId xmlns:a16="http://schemas.microsoft.com/office/drawing/2014/main" id="{11176D19-E41F-4C2E-E89C-ABFF604CE528}"/>
              </a:ext>
            </a:extLst>
          </p:cNvPr>
          <p:cNvSpPr/>
          <p:nvPr/>
        </p:nvSpPr>
        <p:spPr>
          <a:xfrm>
            <a:off x="594360" y="3941064"/>
            <a:ext cx="73152" cy="0"/>
          </a:xfrm>
          <a:prstGeom prst="line">
            <a:avLst/>
          </a:prstGeom>
          <a:noFill/>
          <a:ln w="13970">
            <a:solidFill>
              <a:srgbClr val="15697A"/>
            </a:solidFill>
            <a:prstDash val="solid"/>
          </a:ln>
        </p:spPr>
        <p:txBody>
          <a:bodyPr/>
          <a:lstStyle/>
          <a:p>
            <a:endParaRPr lang="en-US"/>
          </a:p>
        </p:txBody>
      </p:sp>
      <p:sp>
        <p:nvSpPr>
          <p:cNvPr id="54" name="Text 9">
            <a:extLst>
              <a:ext uri="{FF2B5EF4-FFF2-40B4-BE49-F238E27FC236}">
                <a16:creationId xmlns:a16="http://schemas.microsoft.com/office/drawing/2014/main" id="{EA19C3CA-2866-96C5-8EE9-76E1851A1E11}"/>
              </a:ext>
            </a:extLst>
          </p:cNvPr>
          <p:cNvSpPr/>
          <p:nvPr/>
        </p:nvSpPr>
        <p:spPr>
          <a:xfrm>
            <a:off x="758952" y="3813048"/>
            <a:ext cx="3858768" cy="228600"/>
          </a:xfrm>
          <a:prstGeom prst="rect">
            <a:avLst/>
          </a:prstGeom>
          <a:noFill/>
          <a:ln/>
        </p:spPr>
        <p:txBody>
          <a:bodyPr wrap="square" lIns="0" tIns="0" rIns="0" bIns="0" rtlCol="0" anchor="t">
            <a:normAutofit/>
          </a:bodyPr>
          <a:lstStyle/>
          <a:p>
            <a:pPr marL="0" indent="0" algn="l">
              <a:buNone/>
            </a:pPr>
            <a:r>
              <a:rPr lang="en-US" sz="960" dirty="0">
                <a:solidFill>
                  <a:srgbClr val="1A2A31"/>
                </a:solidFill>
                <a:latin typeface="Arial" pitchFamily="34" charset="0"/>
                <a:ea typeface="Arial" pitchFamily="34" charset="-122"/>
                <a:cs typeface="Arial" pitchFamily="34" charset="-120"/>
              </a:rPr>
              <a:t>Evaluated and applied criteria</a:t>
            </a:r>
            <a:endParaRPr lang="en-US" sz="960" dirty="0"/>
          </a:p>
        </p:txBody>
      </p:sp>
      <p:sp>
        <p:nvSpPr>
          <p:cNvPr id="56" name="Shape 10">
            <a:extLst>
              <a:ext uri="{FF2B5EF4-FFF2-40B4-BE49-F238E27FC236}">
                <a16:creationId xmlns:a16="http://schemas.microsoft.com/office/drawing/2014/main" id="{9CCA2396-F0FA-4921-807B-D69CD15950E2}"/>
              </a:ext>
            </a:extLst>
          </p:cNvPr>
          <p:cNvSpPr/>
          <p:nvPr/>
        </p:nvSpPr>
        <p:spPr>
          <a:xfrm>
            <a:off x="594360" y="4215384"/>
            <a:ext cx="73152" cy="0"/>
          </a:xfrm>
          <a:prstGeom prst="line">
            <a:avLst/>
          </a:prstGeom>
          <a:noFill/>
          <a:ln w="13970">
            <a:solidFill>
              <a:srgbClr val="15697A"/>
            </a:solidFill>
            <a:prstDash val="solid"/>
          </a:ln>
        </p:spPr>
        <p:txBody>
          <a:bodyPr/>
          <a:lstStyle/>
          <a:p>
            <a:endParaRPr lang="en-US"/>
          </a:p>
        </p:txBody>
      </p:sp>
      <p:sp>
        <p:nvSpPr>
          <p:cNvPr id="58" name="Text 11">
            <a:extLst>
              <a:ext uri="{FF2B5EF4-FFF2-40B4-BE49-F238E27FC236}">
                <a16:creationId xmlns:a16="http://schemas.microsoft.com/office/drawing/2014/main" id="{BDD11715-F5D2-A611-96B9-EF93A57D2A19}"/>
              </a:ext>
            </a:extLst>
          </p:cNvPr>
          <p:cNvSpPr/>
          <p:nvPr/>
        </p:nvSpPr>
        <p:spPr>
          <a:xfrm>
            <a:off x="758952" y="4087368"/>
            <a:ext cx="3858768" cy="228600"/>
          </a:xfrm>
          <a:prstGeom prst="rect">
            <a:avLst/>
          </a:prstGeom>
          <a:noFill/>
          <a:ln/>
        </p:spPr>
        <p:txBody>
          <a:bodyPr wrap="square" lIns="0" tIns="0" rIns="0" bIns="0" rtlCol="0" anchor="t">
            <a:normAutofit/>
          </a:bodyPr>
          <a:lstStyle/>
          <a:p>
            <a:pPr marL="0" indent="0" algn="l">
              <a:buNone/>
            </a:pPr>
            <a:r>
              <a:rPr lang="en-US" sz="960" dirty="0">
                <a:solidFill>
                  <a:srgbClr val="1A2A31"/>
                </a:solidFill>
                <a:latin typeface="Arial" pitchFamily="34" charset="0"/>
                <a:ea typeface="Arial" pitchFamily="34" charset="-122"/>
                <a:cs typeface="Arial" pitchFamily="34" charset="-120"/>
              </a:rPr>
              <a:t>Evidence supporting each decision</a:t>
            </a:r>
            <a:endParaRPr lang="en-US" sz="960" dirty="0"/>
          </a:p>
        </p:txBody>
      </p:sp>
      <p:sp>
        <p:nvSpPr>
          <p:cNvPr id="60" name="Shape 12">
            <a:extLst>
              <a:ext uri="{FF2B5EF4-FFF2-40B4-BE49-F238E27FC236}">
                <a16:creationId xmlns:a16="http://schemas.microsoft.com/office/drawing/2014/main" id="{759EE12E-5951-BF40-5142-B0EE0408004A}"/>
              </a:ext>
            </a:extLst>
          </p:cNvPr>
          <p:cNvSpPr/>
          <p:nvPr/>
        </p:nvSpPr>
        <p:spPr>
          <a:xfrm>
            <a:off x="594360" y="4489704"/>
            <a:ext cx="73152" cy="0"/>
          </a:xfrm>
          <a:prstGeom prst="line">
            <a:avLst/>
          </a:prstGeom>
          <a:noFill/>
          <a:ln w="13970">
            <a:solidFill>
              <a:srgbClr val="15697A"/>
            </a:solidFill>
            <a:prstDash val="solid"/>
          </a:ln>
        </p:spPr>
        <p:txBody>
          <a:bodyPr/>
          <a:lstStyle/>
          <a:p>
            <a:endParaRPr lang="en-US"/>
          </a:p>
        </p:txBody>
      </p:sp>
      <p:sp>
        <p:nvSpPr>
          <p:cNvPr id="62" name="Text 13">
            <a:extLst>
              <a:ext uri="{FF2B5EF4-FFF2-40B4-BE49-F238E27FC236}">
                <a16:creationId xmlns:a16="http://schemas.microsoft.com/office/drawing/2014/main" id="{B3B38FD6-7B37-6D7E-B93C-78708CE654AA}"/>
              </a:ext>
            </a:extLst>
          </p:cNvPr>
          <p:cNvSpPr/>
          <p:nvPr/>
        </p:nvSpPr>
        <p:spPr>
          <a:xfrm>
            <a:off x="758952" y="4361688"/>
            <a:ext cx="3858768" cy="228600"/>
          </a:xfrm>
          <a:prstGeom prst="rect">
            <a:avLst/>
          </a:prstGeom>
          <a:noFill/>
          <a:ln/>
        </p:spPr>
        <p:txBody>
          <a:bodyPr wrap="square" lIns="0" tIns="0" rIns="0" bIns="0" rtlCol="0" anchor="t">
            <a:normAutofit/>
          </a:bodyPr>
          <a:lstStyle/>
          <a:p>
            <a:pPr marL="0" indent="0" algn="l">
              <a:buNone/>
            </a:pPr>
            <a:r>
              <a:rPr lang="en-US" sz="960" dirty="0">
                <a:solidFill>
                  <a:srgbClr val="1A2A31"/>
                </a:solidFill>
                <a:latin typeface="Arial" pitchFamily="34" charset="0"/>
                <a:ea typeface="Arial" pitchFamily="34" charset="-122"/>
                <a:cs typeface="Arial" pitchFamily="34" charset="-120"/>
              </a:rPr>
              <a:t>Proposed classification</a:t>
            </a:r>
            <a:endParaRPr lang="en-US" sz="960" dirty="0"/>
          </a:p>
        </p:txBody>
      </p:sp>
      <p:sp>
        <p:nvSpPr>
          <p:cNvPr id="64" name="Shape 14">
            <a:extLst>
              <a:ext uri="{FF2B5EF4-FFF2-40B4-BE49-F238E27FC236}">
                <a16:creationId xmlns:a16="http://schemas.microsoft.com/office/drawing/2014/main" id="{9B753CDB-914C-517C-14DC-427E90EFFA56}"/>
              </a:ext>
            </a:extLst>
          </p:cNvPr>
          <p:cNvSpPr/>
          <p:nvPr/>
        </p:nvSpPr>
        <p:spPr>
          <a:xfrm>
            <a:off x="594360" y="4764024"/>
            <a:ext cx="73152" cy="0"/>
          </a:xfrm>
          <a:prstGeom prst="line">
            <a:avLst/>
          </a:prstGeom>
          <a:noFill/>
          <a:ln w="13970">
            <a:solidFill>
              <a:srgbClr val="15697A"/>
            </a:solidFill>
            <a:prstDash val="solid"/>
          </a:ln>
        </p:spPr>
        <p:txBody>
          <a:bodyPr/>
          <a:lstStyle/>
          <a:p>
            <a:endParaRPr lang="en-US"/>
          </a:p>
        </p:txBody>
      </p:sp>
      <p:sp>
        <p:nvSpPr>
          <p:cNvPr id="66" name="Text 15">
            <a:extLst>
              <a:ext uri="{FF2B5EF4-FFF2-40B4-BE49-F238E27FC236}">
                <a16:creationId xmlns:a16="http://schemas.microsoft.com/office/drawing/2014/main" id="{2B60C4F7-3968-DB6E-FDF9-86846F2EACF6}"/>
              </a:ext>
            </a:extLst>
          </p:cNvPr>
          <p:cNvSpPr/>
          <p:nvPr/>
        </p:nvSpPr>
        <p:spPr>
          <a:xfrm>
            <a:off x="758952" y="4636008"/>
            <a:ext cx="3858768" cy="228600"/>
          </a:xfrm>
          <a:prstGeom prst="rect">
            <a:avLst/>
          </a:prstGeom>
          <a:noFill/>
          <a:ln/>
        </p:spPr>
        <p:txBody>
          <a:bodyPr wrap="square" lIns="0" tIns="0" rIns="0" bIns="0" rtlCol="0" anchor="t">
            <a:normAutofit/>
          </a:bodyPr>
          <a:lstStyle/>
          <a:p>
            <a:pPr marL="0" indent="0" algn="l">
              <a:buNone/>
            </a:pPr>
            <a:r>
              <a:rPr lang="en-US" sz="960" dirty="0">
                <a:solidFill>
                  <a:srgbClr val="1A2A31"/>
                </a:solidFill>
                <a:latin typeface="Arial" pitchFamily="34" charset="0"/>
                <a:ea typeface="Arial" pitchFamily="34" charset="-122"/>
                <a:cs typeface="Arial" pitchFamily="34" charset="-120"/>
              </a:rPr>
              <a:t>Warnings and items requiring manual review</a:t>
            </a:r>
            <a:endParaRPr lang="en-US" sz="960" dirty="0"/>
          </a:p>
        </p:txBody>
      </p:sp>
      <p:sp>
        <p:nvSpPr>
          <p:cNvPr id="68" name="Shape 16">
            <a:extLst>
              <a:ext uri="{FF2B5EF4-FFF2-40B4-BE49-F238E27FC236}">
                <a16:creationId xmlns:a16="http://schemas.microsoft.com/office/drawing/2014/main" id="{C56B0E2D-3774-580D-6618-41EF40410AD6}"/>
              </a:ext>
            </a:extLst>
          </p:cNvPr>
          <p:cNvSpPr/>
          <p:nvPr/>
        </p:nvSpPr>
        <p:spPr>
          <a:xfrm>
            <a:off x="594360" y="5074920"/>
            <a:ext cx="4023360" cy="0"/>
          </a:xfrm>
          <a:prstGeom prst="line">
            <a:avLst/>
          </a:prstGeom>
          <a:noFill/>
          <a:ln w="8890">
            <a:solidFill>
              <a:srgbClr val="EBF0F1"/>
            </a:solidFill>
            <a:prstDash val="solid"/>
          </a:ln>
        </p:spPr>
        <p:txBody>
          <a:bodyPr/>
          <a:lstStyle/>
          <a:p>
            <a:endParaRPr lang="en-US"/>
          </a:p>
        </p:txBody>
      </p:sp>
      <p:sp>
        <p:nvSpPr>
          <p:cNvPr id="70" name="Text 17">
            <a:extLst>
              <a:ext uri="{FF2B5EF4-FFF2-40B4-BE49-F238E27FC236}">
                <a16:creationId xmlns:a16="http://schemas.microsoft.com/office/drawing/2014/main" id="{6EDC533E-3F4B-F82B-4D5F-9FD1DBB77FF6}"/>
              </a:ext>
            </a:extLst>
          </p:cNvPr>
          <p:cNvSpPr/>
          <p:nvPr/>
        </p:nvSpPr>
        <p:spPr>
          <a:xfrm>
            <a:off x="594360" y="5138928"/>
            <a:ext cx="402336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Current implementation</a:t>
            </a:r>
            <a:endParaRPr lang="en-US" sz="700" dirty="0"/>
          </a:p>
        </p:txBody>
      </p:sp>
      <p:sp>
        <p:nvSpPr>
          <p:cNvPr id="72" name="Text 18">
            <a:extLst>
              <a:ext uri="{FF2B5EF4-FFF2-40B4-BE49-F238E27FC236}">
                <a16:creationId xmlns:a16="http://schemas.microsoft.com/office/drawing/2014/main" id="{C59F8E9E-2FFF-3F61-E750-C3CDD6AA495C}"/>
              </a:ext>
            </a:extLst>
          </p:cNvPr>
          <p:cNvSpPr/>
          <p:nvPr/>
        </p:nvSpPr>
        <p:spPr>
          <a:xfrm>
            <a:off x="594360" y="5294376"/>
            <a:ext cx="4023360" cy="109728"/>
          </a:xfrm>
          <a:prstGeom prst="rect">
            <a:avLst/>
          </a:prstGeom>
          <a:noFill/>
          <a:ln/>
        </p:spPr>
        <p:txBody>
          <a:bodyPr wrap="square" lIns="0" tIns="0" rIns="0" bIns="0" rtlCol="0" anchor="t">
            <a:normAutofit fontScale="92500" lnSpcReduction="10000"/>
          </a:bodyPr>
          <a:lstStyle/>
          <a:p>
            <a:pPr marL="0" indent="0" algn="l">
              <a:buNone/>
            </a:pPr>
            <a:r>
              <a:rPr lang="en-US" sz="880" dirty="0">
                <a:solidFill>
                  <a:srgbClr val="1A2A31"/>
                </a:solidFill>
                <a:latin typeface="Arial" pitchFamily="34" charset="0"/>
                <a:ea typeface="Arial" pitchFamily="34" charset="-122"/>
                <a:cs typeface="Arial" pitchFamily="34" charset="-120"/>
              </a:rPr>
              <a:t>BRCA1 and BRCA2</a:t>
            </a:r>
            <a:endParaRPr lang="en-US" sz="880" dirty="0"/>
          </a:p>
        </p:txBody>
      </p:sp>
      <p:sp>
        <p:nvSpPr>
          <p:cNvPr id="74" name="Shape 19">
            <a:extLst>
              <a:ext uri="{FF2B5EF4-FFF2-40B4-BE49-F238E27FC236}">
                <a16:creationId xmlns:a16="http://schemas.microsoft.com/office/drawing/2014/main" id="{14E29A0C-E420-AD38-E670-92572DDFFCC0}"/>
              </a:ext>
            </a:extLst>
          </p:cNvPr>
          <p:cNvSpPr/>
          <p:nvPr/>
        </p:nvSpPr>
        <p:spPr>
          <a:xfrm>
            <a:off x="594360" y="5422392"/>
            <a:ext cx="4023360" cy="0"/>
          </a:xfrm>
          <a:prstGeom prst="line">
            <a:avLst/>
          </a:prstGeom>
          <a:noFill/>
          <a:ln w="8890">
            <a:solidFill>
              <a:srgbClr val="EBF0F1"/>
            </a:solidFill>
            <a:prstDash val="solid"/>
          </a:ln>
        </p:spPr>
        <p:txBody>
          <a:bodyPr/>
          <a:lstStyle/>
          <a:p>
            <a:endParaRPr lang="en-US"/>
          </a:p>
        </p:txBody>
      </p:sp>
      <p:sp>
        <p:nvSpPr>
          <p:cNvPr id="76" name="Text 20">
            <a:extLst>
              <a:ext uri="{FF2B5EF4-FFF2-40B4-BE49-F238E27FC236}">
                <a16:creationId xmlns:a16="http://schemas.microsoft.com/office/drawing/2014/main" id="{527522B8-3C06-6EC7-9B1F-F990A67C264A}"/>
              </a:ext>
            </a:extLst>
          </p:cNvPr>
          <p:cNvSpPr/>
          <p:nvPr/>
        </p:nvSpPr>
        <p:spPr>
          <a:xfrm>
            <a:off x="594360" y="5486400"/>
            <a:ext cx="402336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Web application</a:t>
            </a:r>
            <a:endParaRPr lang="en-US" sz="700" dirty="0"/>
          </a:p>
        </p:txBody>
      </p:sp>
      <p:sp>
        <p:nvSpPr>
          <p:cNvPr id="78" name="Text 21">
            <a:extLst>
              <a:ext uri="{FF2B5EF4-FFF2-40B4-BE49-F238E27FC236}">
                <a16:creationId xmlns:a16="http://schemas.microsoft.com/office/drawing/2014/main" id="{8404453F-E60A-8203-656B-173ECA5AA2FD}"/>
              </a:ext>
            </a:extLst>
          </p:cNvPr>
          <p:cNvSpPr/>
          <p:nvPr/>
        </p:nvSpPr>
        <p:spPr>
          <a:xfrm>
            <a:off x="594360" y="5641848"/>
            <a:ext cx="4023360" cy="109728"/>
          </a:xfrm>
          <a:prstGeom prst="rect">
            <a:avLst/>
          </a:prstGeom>
          <a:noFill/>
          <a:ln/>
        </p:spPr>
        <p:txBody>
          <a:bodyPr wrap="square" lIns="0" tIns="0" rIns="0" bIns="0" rtlCol="0" anchor="t">
            <a:normAutofit fontScale="92500" lnSpcReduction="10000"/>
          </a:bodyPr>
          <a:lstStyle/>
          <a:p>
            <a:pPr marL="0" indent="0" algn="l">
              <a:buNone/>
            </a:pPr>
            <a:r>
              <a:rPr lang="en-US" sz="880" dirty="0">
                <a:solidFill>
                  <a:srgbClr val="1A2A31"/>
                </a:solidFill>
                <a:latin typeface="Arial" pitchFamily="34" charset="0"/>
                <a:ea typeface="Arial" pitchFamily="34" charset="-122"/>
                <a:cs typeface="Arial" pitchFamily="34" charset="-120"/>
              </a:rPr>
              <a:t>ariane-app.duckdns.org</a:t>
            </a:r>
            <a:endParaRPr lang="en-US" sz="880" dirty="0"/>
          </a:p>
        </p:txBody>
      </p:sp>
      <p:sp>
        <p:nvSpPr>
          <p:cNvPr id="80" name="Shape 22">
            <a:extLst>
              <a:ext uri="{FF2B5EF4-FFF2-40B4-BE49-F238E27FC236}">
                <a16:creationId xmlns:a16="http://schemas.microsoft.com/office/drawing/2014/main" id="{38E30434-0DD2-5754-C9FA-B6619E19AA32}"/>
              </a:ext>
            </a:extLst>
          </p:cNvPr>
          <p:cNvSpPr/>
          <p:nvPr/>
        </p:nvSpPr>
        <p:spPr>
          <a:xfrm>
            <a:off x="594360" y="5769864"/>
            <a:ext cx="4023360" cy="0"/>
          </a:xfrm>
          <a:prstGeom prst="line">
            <a:avLst/>
          </a:prstGeom>
          <a:noFill/>
          <a:ln w="8890">
            <a:solidFill>
              <a:srgbClr val="EBF0F1"/>
            </a:solidFill>
            <a:prstDash val="solid"/>
          </a:ln>
        </p:spPr>
        <p:txBody>
          <a:bodyPr/>
          <a:lstStyle/>
          <a:p>
            <a:endParaRPr lang="en-US"/>
          </a:p>
        </p:txBody>
      </p:sp>
      <p:sp>
        <p:nvSpPr>
          <p:cNvPr id="82" name="Text 23">
            <a:extLst>
              <a:ext uri="{FF2B5EF4-FFF2-40B4-BE49-F238E27FC236}">
                <a16:creationId xmlns:a16="http://schemas.microsoft.com/office/drawing/2014/main" id="{4629A7D8-39B7-B720-E19F-2F3FF918DA8E}"/>
              </a:ext>
            </a:extLst>
          </p:cNvPr>
          <p:cNvSpPr/>
          <p:nvPr/>
        </p:nvSpPr>
        <p:spPr>
          <a:xfrm>
            <a:off x="594360" y="5833872"/>
            <a:ext cx="402336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Collaboration</a:t>
            </a:r>
            <a:endParaRPr lang="en-US" sz="700" dirty="0"/>
          </a:p>
        </p:txBody>
      </p:sp>
      <p:sp>
        <p:nvSpPr>
          <p:cNvPr id="84" name="Text 24">
            <a:extLst>
              <a:ext uri="{FF2B5EF4-FFF2-40B4-BE49-F238E27FC236}">
                <a16:creationId xmlns:a16="http://schemas.microsoft.com/office/drawing/2014/main" id="{3ADC1ED0-1910-3BE5-F8A7-88749AA99754}"/>
              </a:ext>
            </a:extLst>
          </p:cNvPr>
          <p:cNvSpPr/>
          <p:nvPr/>
        </p:nvSpPr>
        <p:spPr>
          <a:xfrm>
            <a:off x="579120" y="5989319"/>
            <a:ext cx="4221480" cy="722369"/>
          </a:xfrm>
          <a:prstGeom prst="rect">
            <a:avLst/>
          </a:prstGeom>
          <a:noFill/>
          <a:ln/>
        </p:spPr>
        <p:txBody>
          <a:bodyPr wrap="square" lIns="0" tIns="0" rIns="0" bIns="0" rtlCol="0" anchor="t">
            <a:normAutofit/>
          </a:bodyPr>
          <a:lstStyle/>
          <a:p>
            <a:pPr marL="0" indent="0" algn="l">
              <a:buNone/>
            </a:pPr>
            <a:r>
              <a:rPr lang="en-US" sz="880" dirty="0">
                <a:solidFill>
                  <a:srgbClr val="1A2A31"/>
                </a:solidFill>
                <a:latin typeface="Arial" pitchFamily="34" charset="0"/>
                <a:ea typeface="Arial" pitchFamily="34" charset="-122"/>
                <a:cs typeface="Arial" pitchFamily="34" charset="-120"/>
              </a:rPr>
              <a:t>prof. MUDr. Zdeněk Kleibl, Ph.D.</a:t>
            </a:r>
            <a:endParaRPr lang="en-US" sz="880" dirty="0"/>
          </a:p>
          <a:p>
            <a:pPr marL="0" indent="0" algn="l">
              <a:buNone/>
            </a:pPr>
            <a:r>
              <a:rPr lang="en-US" sz="880" dirty="0">
                <a:solidFill>
                  <a:srgbClr val="1A2A31"/>
                </a:solidFill>
                <a:latin typeface="Arial" pitchFamily="34" charset="0"/>
                <a:ea typeface="Arial" pitchFamily="34" charset="-122"/>
                <a:cs typeface="Arial" pitchFamily="34" charset="-120"/>
              </a:rPr>
              <a:t>RNDr. Jana Soukupová, Ph.D.</a:t>
            </a:r>
            <a:endParaRPr lang="en-US" sz="880" dirty="0"/>
          </a:p>
          <a:p>
            <a:pPr marL="0" indent="0" algn="l">
              <a:buNone/>
            </a:pPr>
            <a:r>
              <a:rPr lang="en-US" sz="880" dirty="0">
                <a:solidFill>
                  <a:srgbClr val="1A2A31"/>
                </a:solidFill>
                <a:latin typeface="Arial" pitchFamily="34" charset="0"/>
                <a:ea typeface="Arial" pitchFamily="34" charset="-122"/>
                <a:cs typeface="Arial" pitchFamily="34" charset="-120"/>
              </a:rPr>
              <a:t>Institute of Biochemistry and Experimental Oncology, First Faculty of Medicine, Charles University</a:t>
            </a:r>
            <a:endParaRPr lang="en-US" sz="880" dirty="0"/>
          </a:p>
        </p:txBody>
      </p:sp>
      <p:sp>
        <p:nvSpPr>
          <p:cNvPr id="86" name="Shape 25">
            <a:extLst>
              <a:ext uri="{FF2B5EF4-FFF2-40B4-BE49-F238E27FC236}">
                <a16:creationId xmlns:a16="http://schemas.microsoft.com/office/drawing/2014/main" id="{22ED9C86-BB76-A3EA-70BC-63B17CBC3C0F}"/>
              </a:ext>
            </a:extLst>
          </p:cNvPr>
          <p:cNvSpPr/>
          <p:nvPr/>
        </p:nvSpPr>
        <p:spPr>
          <a:xfrm>
            <a:off x="594360" y="6117336"/>
            <a:ext cx="4023360" cy="0"/>
          </a:xfrm>
          <a:prstGeom prst="line">
            <a:avLst/>
          </a:prstGeom>
          <a:noFill/>
          <a:ln w="8890">
            <a:solidFill>
              <a:srgbClr val="EBF0F1"/>
            </a:solidFill>
            <a:prstDash val="solid"/>
          </a:ln>
        </p:spPr>
        <p:txBody>
          <a:bodyPr/>
          <a:lstStyle/>
          <a:p>
            <a:endParaRPr lang="en-US"/>
          </a:p>
        </p:txBody>
      </p:sp>
      <p:pic>
        <p:nvPicPr>
          <p:cNvPr id="88" name="Image 1" descr="/mnt/data/ariane_deck_author_identity/images/ariane-result.png">
            <a:extLst>
              <a:ext uri="{FF2B5EF4-FFF2-40B4-BE49-F238E27FC236}">
                <a16:creationId xmlns:a16="http://schemas.microsoft.com/office/drawing/2014/main" id="{0D002DDA-F0B6-1CC0-EBBE-7519977EC1E1}"/>
              </a:ext>
            </a:extLst>
          </p:cNvPr>
          <p:cNvPicPr>
            <a:picLocks noChangeAspect="1"/>
          </p:cNvPicPr>
          <p:nvPr/>
        </p:nvPicPr>
        <p:blipFill>
          <a:blip r:embed="rId4"/>
          <a:srcRect r="1303" b="34000"/>
          <a:stretch/>
        </p:blipFill>
        <p:spPr>
          <a:xfrm>
            <a:off x="4800600" y="1417320"/>
            <a:ext cx="6812280" cy="4434840"/>
          </a:xfrm>
          <a:prstGeom prst="rect">
            <a:avLst/>
          </a:prstGeom>
        </p:spPr>
      </p:pic>
      <p:sp>
        <p:nvSpPr>
          <p:cNvPr id="90" name="Shape 26">
            <a:extLst>
              <a:ext uri="{FF2B5EF4-FFF2-40B4-BE49-F238E27FC236}">
                <a16:creationId xmlns:a16="http://schemas.microsoft.com/office/drawing/2014/main" id="{A043B0F4-8162-392A-3467-7E2BA1EE7609}"/>
              </a:ext>
            </a:extLst>
          </p:cNvPr>
          <p:cNvSpPr/>
          <p:nvPr/>
        </p:nvSpPr>
        <p:spPr>
          <a:xfrm>
            <a:off x="4800600" y="1417320"/>
            <a:ext cx="6812280" cy="4434840"/>
          </a:xfrm>
          <a:prstGeom prst="rect">
            <a:avLst/>
          </a:prstGeom>
          <a:solidFill>
            <a:srgbClr val="FFFFFF">
              <a:alpha val="0"/>
            </a:srgbClr>
          </a:solidFill>
          <a:ln w="8890">
            <a:solidFill>
              <a:srgbClr val="DCE4E6"/>
            </a:solidFill>
            <a:prstDash val="solid"/>
          </a:ln>
        </p:spPr>
        <p:txBody>
          <a:bodyPr/>
          <a:lstStyle/>
          <a:p>
            <a:endParaRPr lang="en-US"/>
          </a:p>
        </p:txBody>
      </p:sp>
      <p:sp>
        <p:nvSpPr>
          <p:cNvPr id="92" name="Text 27">
            <a:extLst>
              <a:ext uri="{FF2B5EF4-FFF2-40B4-BE49-F238E27FC236}">
                <a16:creationId xmlns:a16="http://schemas.microsoft.com/office/drawing/2014/main" id="{5E607113-09C8-C94E-CDBA-2E952160BF51}"/>
              </a:ext>
            </a:extLst>
          </p:cNvPr>
          <p:cNvSpPr/>
          <p:nvPr/>
        </p:nvSpPr>
        <p:spPr>
          <a:xfrm>
            <a:off x="4800600" y="5971032"/>
            <a:ext cx="3406140" cy="493776"/>
          </a:xfrm>
          <a:prstGeom prst="rect">
            <a:avLst/>
          </a:prstGeom>
          <a:solidFill>
            <a:srgbClr val="FFFFFF"/>
          </a:solidFill>
          <a:ln w="7620">
            <a:solidFill>
              <a:srgbClr val="DCE4E6"/>
            </a:solidFill>
          </a:ln>
        </p:spPr>
        <p:txBody>
          <a:bodyPr wrap="square" lIns="1270" tIns="1270" rIns="1270" bIns="1270" rtlCol="0" anchor="ctr">
            <a:normAutofit/>
          </a:bodyPr>
          <a:lstStyle/>
          <a:p>
            <a:pPr marL="0" indent="0" algn="ctr">
              <a:buNone/>
            </a:pPr>
            <a:r>
              <a:rPr lang="en-US" sz="940" dirty="0">
                <a:solidFill>
                  <a:srgbClr val="1A2A31"/>
                </a:solidFill>
                <a:latin typeface="Arial" pitchFamily="34" charset="0"/>
                <a:ea typeface="Arial" pitchFamily="34" charset="-122"/>
                <a:cs typeface="Arial" pitchFamily="34" charset="-120"/>
              </a:rPr>
              <a:t>Current implementation</a:t>
            </a:r>
            <a:endParaRPr lang="en-US" sz="940" dirty="0"/>
          </a:p>
          <a:p>
            <a:pPr marL="0" indent="0" algn="ctr">
              <a:buNone/>
            </a:pPr>
            <a:r>
              <a:rPr lang="en-US" sz="940" dirty="0">
                <a:solidFill>
                  <a:srgbClr val="1A2A31"/>
                </a:solidFill>
                <a:latin typeface="Arial" pitchFamily="34" charset="0"/>
                <a:ea typeface="Arial" pitchFamily="34" charset="-122"/>
                <a:cs typeface="Arial" pitchFamily="34" charset="-120"/>
              </a:rPr>
              <a:t>BRCA1 / BRCA2</a:t>
            </a:r>
            <a:endParaRPr lang="en-US" sz="940" dirty="0"/>
          </a:p>
        </p:txBody>
      </p:sp>
      <p:sp>
        <p:nvSpPr>
          <p:cNvPr id="94" name="Text 28">
            <a:extLst>
              <a:ext uri="{FF2B5EF4-FFF2-40B4-BE49-F238E27FC236}">
                <a16:creationId xmlns:a16="http://schemas.microsoft.com/office/drawing/2014/main" id="{624F00A5-3B73-A48C-8A19-8DF11184D151}"/>
              </a:ext>
            </a:extLst>
          </p:cNvPr>
          <p:cNvSpPr/>
          <p:nvPr/>
        </p:nvSpPr>
        <p:spPr>
          <a:xfrm>
            <a:off x="8206740" y="5971032"/>
            <a:ext cx="3406140" cy="493776"/>
          </a:xfrm>
          <a:prstGeom prst="rect">
            <a:avLst/>
          </a:prstGeom>
          <a:solidFill>
            <a:srgbClr val="FFFFFF"/>
          </a:solidFill>
          <a:ln w="7620">
            <a:solidFill>
              <a:srgbClr val="DCE4E6"/>
            </a:solidFill>
          </a:ln>
        </p:spPr>
        <p:txBody>
          <a:bodyPr wrap="square" lIns="1270" tIns="1270" rIns="1270" bIns="1270" rtlCol="0" anchor="ctr">
            <a:normAutofit/>
          </a:bodyPr>
          <a:lstStyle/>
          <a:p>
            <a:pPr marL="0" indent="0" algn="ctr">
              <a:buNone/>
            </a:pPr>
            <a:r>
              <a:rPr lang="en-US" sz="940" dirty="0">
                <a:solidFill>
                  <a:srgbClr val="1A2A31"/>
                </a:solidFill>
                <a:latin typeface="Arial" pitchFamily="34" charset="0"/>
                <a:ea typeface="Arial" pitchFamily="34" charset="-122"/>
                <a:cs typeface="Arial" pitchFamily="34" charset="-120"/>
              </a:rPr>
              <a:t>Designed for extension to</a:t>
            </a:r>
            <a:endParaRPr lang="en-US" sz="940" dirty="0"/>
          </a:p>
          <a:p>
            <a:pPr marL="0" indent="0" algn="ctr">
              <a:buNone/>
            </a:pPr>
            <a:r>
              <a:rPr lang="en-US" sz="940" dirty="0">
                <a:solidFill>
                  <a:srgbClr val="1A2A31"/>
                </a:solidFill>
                <a:latin typeface="Arial" pitchFamily="34" charset="0"/>
                <a:ea typeface="Arial" pitchFamily="34" charset="-122"/>
                <a:cs typeface="Arial" pitchFamily="34" charset="-120"/>
              </a:rPr>
              <a:t>additional genes and gene-specific guidelines</a:t>
            </a:r>
            <a:endParaRPr lang="en-US" sz="9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 0">
            <a:extLst>
              <a:ext uri="{FF2B5EF4-FFF2-40B4-BE49-F238E27FC236}">
                <a16:creationId xmlns:a16="http://schemas.microsoft.com/office/drawing/2014/main" id="{BCE21AE8-55CC-4AA8-7213-49595C0306A4}"/>
              </a:ext>
            </a:extLst>
          </p:cNvPr>
          <p:cNvSpPr/>
          <p:nvPr/>
        </p:nvSpPr>
        <p:spPr>
          <a:xfrm>
            <a:off x="502920" y="329184"/>
            <a:ext cx="1463040" cy="164592"/>
          </a:xfrm>
          <a:prstGeom prst="rect">
            <a:avLst/>
          </a:prstGeom>
          <a:noFill/>
          <a:ln/>
        </p:spPr>
        <p:txBody>
          <a:bodyPr wrap="square" lIns="0" tIns="0" rIns="0" bIns="0" rtlCol="0" anchor="t">
            <a:normAutofit/>
          </a:bodyPr>
          <a:lstStyle/>
          <a:p>
            <a:pPr marL="0" indent="0" algn="l">
              <a:buNone/>
            </a:pPr>
            <a:r>
              <a:rPr lang="en-US" sz="750" kern="0" spc="120" dirty="0">
                <a:solidFill>
                  <a:srgbClr val="8A9BA1"/>
                </a:solidFill>
                <a:latin typeface="Courier New" pitchFamily="34" charset="0"/>
                <a:ea typeface="Courier New" pitchFamily="34" charset="-122"/>
                <a:cs typeface="Courier New" pitchFamily="34" charset="-120"/>
              </a:rPr>
              <a:t>Slide 3</a:t>
            </a:r>
            <a:endParaRPr lang="en-US" sz="750" dirty="0"/>
          </a:p>
        </p:txBody>
      </p:sp>
      <p:sp>
        <p:nvSpPr>
          <p:cNvPr id="34" name="Text 1">
            <a:extLst>
              <a:ext uri="{FF2B5EF4-FFF2-40B4-BE49-F238E27FC236}">
                <a16:creationId xmlns:a16="http://schemas.microsoft.com/office/drawing/2014/main" id="{24995B4E-ACD6-52F2-779E-3B3D665870FD}"/>
              </a:ext>
            </a:extLst>
          </p:cNvPr>
          <p:cNvSpPr/>
          <p:nvPr/>
        </p:nvSpPr>
        <p:spPr>
          <a:xfrm>
            <a:off x="502920" y="566928"/>
            <a:ext cx="6400800" cy="530352"/>
          </a:xfrm>
          <a:prstGeom prst="rect">
            <a:avLst/>
          </a:prstGeom>
          <a:noFill/>
          <a:ln/>
        </p:spPr>
        <p:txBody>
          <a:bodyPr wrap="square" lIns="0" tIns="0" rIns="0" bIns="0" rtlCol="0" anchor="t">
            <a:normAutofit fontScale="85000" lnSpcReduction="10000"/>
          </a:bodyPr>
          <a:lstStyle/>
          <a:p>
            <a:pPr marL="0" indent="0" algn="l">
              <a:buNone/>
            </a:pPr>
            <a:r>
              <a:rPr lang="en-US" sz="2750" dirty="0">
                <a:solidFill>
                  <a:srgbClr val="1A2A31"/>
                </a:solidFill>
                <a:latin typeface="Georgia" pitchFamily="34" charset="0"/>
                <a:ea typeface="Georgia" pitchFamily="34" charset="-122"/>
                <a:cs typeface="Georgia" pitchFamily="34" charset="-120"/>
              </a:rPr>
              <a:t>Next phase: evidence from scientific literature</a:t>
            </a:r>
            <a:endParaRPr lang="en-US" sz="2750" dirty="0"/>
          </a:p>
        </p:txBody>
      </p:sp>
      <p:sp>
        <p:nvSpPr>
          <p:cNvPr id="36" name="Shape 2">
            <a:extLst>
              <a:ext uri="{FF2B5EF4-FFF2-40B4-BE49-F238E27FC236}">
                <a16:creationId xmlns:a16="http://schemas.microsoft.com/office/drawing/2014/main" id="{E6B25E2B-07D7-0DD8-BB53-FD88E0C71DD8}"/>
              </a:ext>
            </a:extLst>
          </p:cNvPr>
          <p:cNvSpPr/>
          <p:nvPr/>
        </p:nvSpPr>
        <p:spPr>
          <a:xfrm>
            <a:off x="502920" y="1161288"/>
            <a:ext cx="566928" cy="0"/>
          </a:xfrm>
          <a:prstGeom prst="line">
            <a:avLst/>
          </a:prstGeom>
          <a:noFill/>
          <a:ln w="19050">
            <a:solidFill>
              <a:srgbClr val="15697A"/>
            </a:solidFill>
            <a:prstDash val="solid"/>
          </a:ln>
        </p:spPr>
        <p:txBody>
          <a:bodyPr/>
          <a:lstStyle/>
          <a:p>
            <a:endParaRPr lang="en-US"/>
          </a:p>
        </p:txBody>
      </p:sp>
      <p:pic>
        <p:nvPicPr>
          <p:cNvPr id="38" name="Image 0" descr="/mnt/data/ariane_deck_author_identity/images/uochb-iocb-prague-logo.png">
            <a:extLst>
              <a:ext uri="{FF2B5EF4-FFF2-40B4-BE49-F238E27FC236}">
                <a16:creationId xmlns:a16="http://schemas.microsoft.com/office/drawing/2014/main" id="{F1E508C7-1D8D-A064-F973-ED0E9AAAFB20}"/>
              </a:ext>
            </a:extLst>
          </p:cNvPr>
          <p:cNvPicPr>
            <a:picLocks noChangeAspect="1"/>
          </p:cNvPicPr>
          <p:nvPr/>
        </p:nvPicPr>
        <p:blipFill>
          <a:blip r:embed="rId3"/>
          <a:stretch>
            <a:fillRect/>
          </a:stretch>
        </p:blipFill>
        <p:spPr>
          <a:xfrm>
            <a:off x="10152146" y="310896"/>
            <a:ext cx="1376132" cy="493776"/>
          </a:xfrm>
          <a:prstGeom prst="rect">
            <a:avLst/>
          </a:prstGeom>
        </p:spPr>
      </p:pic>
      <p:sp>
        <p:nvSpPr>
          <p:cNvPr id="40" name="Text 3">
            <a:extLst>
              <a:ext uri="{FF2B5EF4-FFF2-40B4-BE49-F238E27FC236}">
                <a16:creationId xmlns:a16="http://schemas.microsoft.com/office/drawing/2014/main" id="{B56ED180-7C6E-3A1A-630B-FAE723275909}"/>
              </a:ext>
            </a:extLst>
          </p:cNvPr>
          <p:cNvSpPr/>
          <p:nvPr/>
        </p:nvSpPr>
        <p:spPr>
          <a:xfrm>
            <a:off x="8595360" y="850392"/>
            <a:ext cx="3063240" cy="182880"/>
          </a:xfrm>
          <a:prstGeom prst="rect">
            <a:avLst/>
          </a:prstGeom>
          <a:noFill/>
          <a:ln/>
        </p:spPr>
        <p:txBody>
          <a:bodyPr wrap="square" lIns="0" tIns="0" rIns="0" bIns="0" rtlCol="0" anchor="t">
            <a:normAutofit/>
          </a:bodyPr>
          <a:lstStyle/>
          <a:p>
            <a:pPr marL="0" indent="0" algn="r">
              <a:buNone/>
            </a:pPr>
            <a:r>
              <a:rPr lang="en-US" sz="900" b="1" dirty="0">
                <a:solidFill>
                  <a:srgbClr val="1A2A31"/>
                </a:solidFill>
                <a:latin typeface="Arial" pitchFamily="34" charset="0"/>
                <a:ea typeface="Arial" pitchFamily="34" charset="-122"/>
                <a:cs typeface="Arial" pitchFamily="34" charset="-120"/>
              </a:rPr>
              <a:t>Kamila Clarová</a:t>
            </a:r>
            <a:endParaRPr lang="en-US" sz="900" dirty="0"/>
          </a:p>
        </p:txBody>
      </p:sp>
      <p:sp>
        <p:nvSpPr>
          <p:cNvPr id="42" name="Text 4">
            <a:extLst>
              <a:ext uri="{FF2B5EF4-FFF2-40B4-BE49-F238E27FC236}">
                <a16:creationId xmlns:a16="http://schemas.microsoft.com/office/drawing/2014/main" id="{A4679677-19F4-84DF-E6EB-A99E6CD80120}"/>
              </a:ext>
            </a:extLst>
          </p:cNvPr>
          <p:cNvSpPr/>
          <p:nvPr/>
        </p:nvSpPr>
        <p:spPr>
          <a:xfrm>
            <a:off x="8229600" y="1051560"/>
            <a:ext cx="3429000" cy="182880"/>
          </a:xfrm>
          <a:prstGeom prst="rect">
            <a:avLst/>
          </a:prstGeom>
          <a:noFill/>
          <a:ln/>
        </p:spPr>
        <p:txBody>
          <a:bodyPr wrap="square" lIns="0" tIns="0" rIns="0" bIns="0" rtlCol="0" anchor="t">
            <a:normAutofit/>
          </a:bodyPr>
          <a:lstStyle/>
          <a:p>
            <a:pPr marL="0" indent="0" algn="r">
              <a:buNone/>
            </a:pPr>
            <a:r>
              <a:rPr lang="en-US" sz="800" dirty="0">
                <a:solidFill>
                  <a:srgbClr val="5B6E76"/>
                </a:solidFill>
                <a:latin typeface="Arial" pitchFamily="34" charset="0"/>
                <a:ea typeface="Arial" pitchFamily="34" charset="-122"/>
                <a:cs typeface="Arial" pitchFamily="34" charset="-120"/>
              </a:rPr>
              <a:t>Jiří Vondrášek Group</a:t>
            </a:r>
            <a:endParaRPr lang="en-US" sz="800" dirty="0"/>
          </a:p>
        </p:txBody>
      </p:sp>
      <p:sp>
        <p:nvSpPr>
          <p:cNvPr id="44" name="Text 5">
            <a:extLst>
              <a:ext uri="{FF2B5EF4-FFF2-40B4-BE49-F238E27FC236}">
                <a16:creationId xmlns:a16="http://schemas.microsoft.com/office/drawing/2014/main" id="{C4D992BF-56B7-868E-0F7C-84C30AD04E06}"/>
              </a:ext>
            </a:extLst>
          </p:cNvPr>
          <p:cNvSpPr/>
          <p:nvPr/>
        </p:nvSpPr>
        <p:spPr>
          <a:xfrm>
            <a:off x="594360" y="1508760"/>
            <a:ext cx="5120640" cy="1783080"/>
          </a:xfrm>
          <a:prstGeom prst="rect">
            <a:avLst/>
          </a:prstGeom>
          <a:noFill/>
          <a:ln/>
        </p:spPr>
        <p:txBody>
          <a:bodyPr wrap="square" lIns="0" tIns="0" rIns="0" bIns="0" rtlCol="0" anchor="t">
            <a:normAutofit/>
          </a:bodyPr>
          <a:lstStyle/>
          <a:p>
            <a:pPr marL="0" indent="0" algn="l">
              <a:buNone/>
            </a:pPr>
            <a:r>
              <a:rPr lang="en-US" sz="1150" dirty="0">
                <a:solidFill>
                  <a:srgbClr val="1A2A31"/>
                </a:solidFill>
                <a:latin typeface="Arial" pitchFamily="34" charset="0"/>
                <a:ea typeface="Arial" pitchFamily="34" charset="-122"/>
                <a:cs typeface="Arial" pitchFamily="34" charset="-120"/>
              </a:rPr>
              <a:t>Not all evidence required for variant interpretation is available in structured databases.</a:t>
            </a:r>
            <a:endParaRPr lang="en-US" sz="1150" dirty="0"/>
          </a:p>
          <a:p>
            <a:pPr marL="0" indent="0" algn="l">
              <a:buNone/>
            </a:pPr>
            <a:endParaRPr lang="en-US" sz="1150" dirty="0"/>
          </a:p>
          <a:p>
            <a:pPr marL="0" indent="0" algn="l">
              <a:buNone/>
            </a:pPr>
            <a:r>
              <a:rPr lang="en-US" sz="1150" dirty="0">
                <a:solidFill>
                  <a:srgbClr val="1A2A31"/>
                </a:solidFill>
                <a:latin typeface="Arial" pitchFamily="34" charset="0"/>
                <a:ea typeface="Arial" pitchFamily="34" charset="-122"/>
                <a:cs typeface="Arial" pitchFamily="34" charset="-120"/>
              </a:rPr>
              <a:t>Functional studies, RNA experiments and other relevant results are often reported only in individual publications, tables or supplementary data and currently require manual literature curation.</a:t>
            </a:r>
            <a:endParaRPr lang="en-US" sz="1150" dirty="0"/>
          </a:p>
          <a:p>
            <a:pPr marL="0" indent="0" algn="l">
              <a:buNone/>
            </a:pPr>
            <a:endParaRPr lang="en-US" sz="1150" dirty="0"/>
          </a:p>
          <a:p>
            <a:pPr marL="0" indent="0" algn="l">
              <a:buNone/>
            </a:pPr>
            <a:r>
              <a:rPr lang="en-US" sz="1150" dirty="0">
                <a:solidFill>
                  <a:srgbClr val="1A2A31"/>
                </a:solidFill>
                <a:latin typeface="Arial" pitchFamily="34" charset="0"/>
                <a:ea typeface="Arial" pitchFamily="34" charset="-122"/>
                <a:cs typeface="Arial" pitchFamily="34" charset="-120"/>
              </a:rPr>
              <a:t>Language-model-based tools will be used to assist literature search and structured evidence extraction. Extracted evidence will remain linked to the original publication and will be presented for expert review.</a:t>
            </a:r>
            <a:endParaRPr lang="en-US" sz="1150" dirty="0"/>
          </a:p>
        </p:txBody>
      </p:sp>
      <p:sp>
        <p:nvSpPr>
          <p:cNvPr id="46" name="Text 6">
            <a:extLst>
              <a:ext uri="{FF2B5EF4-FFF2-40B4-BE49-F238E27FC236}">
                <a16:creationId xmlns:a16="http://schemas.microsoft.com/office/drawing/2014/main" id="{D9DA8251-822C-A569-83EA-EC2511563FFF}"/>
              </a:ext>
            </a:extLst>
          </p:cNvPr>
          <p:cNvSpPr/>
          <p:nvPr/>
        </p:nvSpPr>
        <p:spPr>
          <a:xfrm>
            <a:off x="594360" y="3703320"/>
            <a:ext cx="512064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Initial scope</a:t>
            </a:r>
            <a:endParaRPr lang="en-US" sz="770" dirty="0"/>
          </a:p>
        </p:txBody>
      </p:sp>
      <p:sp>
        <p:nvSpPr>
          <p:cNvPr id="48" name="Shape 7">
            <a:extLst>
              <a:ext uri="{FF2B5EF4-FFF2-40B4-BE49-F238E27FC236}">
                <a16:creationId xmlns:a16="http://schemas.microsoft.com/office/drawing/2014/main" id="{C7D85AF5-EC73-D2FE-96DB-D2DE7DF53923}"/>
              </a:ext>
            </a:extLst>
          </p:cNvPr>
          <p:cNvSpPr/>
          <p:nvPr/>
        </p:nvSpPr>
        <p:spPr>
          <a:xfrm>
            <a:off x="594360" y="3950208"/>
            <a:ext cx="5120640" cy="0"/>
          </a:xfrm>
          <a:prstGeom prst="line">
            <a:avLst/>
          </a:prstGeom>
          <a:noFill/>
          <a:ln w="12700">
            <a:solidFill>
              <a:srgbClr val="EBF0F1"/>
            </a:solidFill>
            <a:prstDash val="solid"/>
          </a:ln>
        </p:spPr>
        <p:txBody>
          <a:bodyPr/>
          <a:lstStyle/>
          <a:p>
            <a:endParaRPr lang="en-US"/>
          </a:p>
        </p:txBody>
      </p:sp>
      <p:sp>
        <p:nvSpPr>
          <p:cNvPr id="50" name="Shape 8">
            <a:extLst>
              <a:ext uri="{FF2B5EF4-FFF2-40B4-BE49-F238E27FC236}">
                <a16:creationId xmlns:a16="http://schemas.microsoft.com/office/drawing/2014/main" id="{258DBDA0-6E08-E6CF-66FD-355F24088707}"/>
              </a:ext>
            </a:extLst>
          </p:cNvPr>
          <p:cNvSpPr/>
          <p:nvPr/>
        </p:nvSpPr>
        <p:spPr>
          <a:xfrm>
            <a:off x="594360" y="4105656"/>
            <a:ext cx="5120640" cy="0"/>
          </a:xfrm>
          <a:prstGeom prst="line">
            <a:avLst/>
          </a:prstGeom>
          <a:noFill/>
          <a:ln w="8890">
            <a:solidFill>
              <a:srgbClr val="EBF0F1"/>
            </a:solidFill>
            <a:prstDash val="solid"/>
          </a:ln>
        </p:spPr>
        <p:txBody>
          <a:bodyPr/>
          <a:lstStyle/>
          <a:p>
            <a:endParaRPr lang="en-US"/>
          </a:p>
        </p:txBody>
      </p:sp>
      <p:sp>
        <p:nvSpPr>
          <p:cNvPr id="52" name="Text 9">
            <a:extLst>
              <a:ext uri="{FF2B5EF4-FFF2-40B4-BE49-F238E27FC236}">
                <a16:creationId xmlns:a16="http://schemas.microsoft.com/office/drawing/2014/main" id="{E8F8A283-328F-7B33-3B7B-209F443257A5}"/>
              </a:ext>
            </a:extLst>
          </p:cNvPr>
          <p:cNvSpPr/>
          <p:nvPr/>
        </p:nvSpPr>
        <p:spPr>
          <a:xfrm>
            <a:off x="594360" y="4169664"/>
            <a:ext cx="512064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Genes</a:t>
            </a:r>
            <a:endParaRPr lang="en-US" sz="700" dirty="0"/>
          </a:p>
        </p:txBody>
      </p:sp>
      <p:sp>
        <p:nvSpPr>
          <p:cNvPr id="54" name="Text 10">
            <a:extLst>
              <a:ext uri="{FF2B5EF4-FFF2-40B4-BE49-F238E27FC236}">
                <a16:creationId xmlns:a16="http://schemas.microsoft.com/office/drawing/2014/main" id="{D1A4D285-E540-2F75-BDA6-FF797DF1CC4D}"/>
              </a:ext>
            </a:extLst>
          </p:cNvPr>
          <p:cNvSpPr/>
          <p:nvPr/>
        </p:nvSpPr>
        <p:spPr>
          <a:xfrm>
            <a:off x="594360" y="4325112"/>
            <a:ext cx="5120640" cy="237744"/>
          </a:xfrm>
          <a:prstGeom prst="rect">
            <a:avLst/>
          </a:prstGeom>
          <a:noFill/>
          <a:ln/>
        </p:spPr>
        <p:txBody>
          <a:bodyPr wrap="square" lIns="0" tIns="0" rIns="0" bIns="0" rtlCol="0" anchor="t">
            <a:normAutofit/>
          </a:bodyPr>
          <a:lstStyle/>
          <a:p>
            <a:pPr marL="0" indent="0" algn="l">
              <a:buNone/>
            </a:pPr>
            <a:r>
              <a:rPr lang="en-US" sz="980" dirty="0">
                <a:solidFill>
                  <a:srgbClr val="1A2A31"/>
                </a:solidFill>
                <a:latin typeface="Arial" pitchFamily="34" charset="0"/>
                <a:ea typeface="Arial" pitchFamily="34" charset="-122"/>
                <a:cs typeface="Arial" pitchFamily="34" charset="-120"/>
              </a:rPr>
              <a:t>BRCA1 and BRCA2</a:t>
            </a:r>
            <a:endParaRPr lang="en-US" sz="980" dirty="0"/>
          </a:p>
        </p:txBody>
      </p:sp>
      <p:sp>
        <p:nvSpPr>
          <p:cNvPr id="56" name="Shape 11">
            <a:extLst>
              <a:ext uri="{FF2B5EF4-FFF2-40B4-BE49-F238E27FC236}">
                <a16:creationId xmlns:a16="http://schemas.microsoft.com/office/drawing/2014/main" id="{79E9268A-7FFD-3EA5-64F8-225CB139C265}"/>
              </a:ext>
            </a:extLst>
          </p:cNvPr>
          <p:cNvSpPr/>
          <p:nvPr/>
        </p:nvSpPr>
        <p:spPr>
          <a:xfrm>
            <a:off x="594360" y="4599432"/>
            <a:ext cx="5120640" cy="0"/>
          </a:xfrm>
          <a:prstGeom prst="line">
            <a:avLst/>
          </a:prstGeom>
          <a:noFill/>
          <a:ln w="8890">
            <a:solidFill>
              <a:srgbClr val="EBF0F1"/>
            </a:solidFill>
            <a:prstDash val="solid"/>
          </a:ln>
        </p:spPr>
        <p:txBody>
          <a:bodyPr/>
          <a:lstStyle/>
          <a:p>
            <a:endParaRPr lang="en-US"/>
          </a:p>
        </p:txBody>
      </p:sp>
      <p:sp>
        <p:nvSpPr>
          <p:cNvPr id="58" name="Text 12">
            <a:extLst>
              <a:ext uri="{FF2B5EF4-FFF2-40B4-BE49-F238E27FC236}">
                <a16:creationId xmlns:a16="http://schemas.microsoft.com/office/drawing/2014/main" id="{2B225F0B-64BA-2290-145F-ABAA133D63F3}"/>
              </a:ext>
            </a:extLst>
          </p:cNvPr>
          <p:cNvSpPr/>
          <p:nvPr/>
        </p:nvSpPr>
        <p:spPr>
          <a:xfrm>
            <a:off x="594360" y="4663440"/>
            <a:ext cx="512064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Evidence</a:t>
            </a:r>
            <a:endParaRPr lang="en-US" sz="700" dirty="0"/>
          </a:p>
        </p:txBody>
      </p:sp>
      <p:sp>
        <p:nvSpPr>
          <p:cNvPr id="60" name="Text 13">
            <a:extLst>
              <a:ext uri="{FF2B5EF4-FFF2-40B4-BE49-F238E27FC236}">
                <a16:creationId xmlns:a16="http://schemas.microsoft.com/office/drawing/2014/main" id="{D73D4B89-1546-C61E-9E7F-9D05A23BB40D}"/>
              </a:ext>
            </a:extLst>
          </p:cNvPr>
          <p:cNvSpPr/>
          <p:nvPr/>
        </p:nvSpPr>
        <p:spPr>
          <a:xfrm>
            <a:off x="594360" y="4818888"/>
            <a:ext cx="5120640" cy="237744"/>
          </a:xfrm>
          <a:prstGeom prst="rect">
            <a:avLst/>
          </a:prstGeom>
          <a:noFill/>
          <a:ln/>
        </p:spPr>
        <p:txBody>
          <a:bodyPr wrap="square" lIns="0" tIns="0" rIns="0" bIns="0" rtlCol="0" anchor="t">
            <a:normAutofit/>
          </a:bodyPr>
          <a:lstStyle/>
          <a:p>
            <a:pPr marL="0" indent="0" algn="l">
              <a:buNone/>
            </a:pPr>
            <a:r>
              <a:rPr lang="en-US" sz="980" dirty="0">
                <a:solidFill>
                  <a:srgbClr val="1A2A31"/>
                </a:solidFill>
                <a:latin typeface="Arial" pitchFamily="34" charset="0"/>
                <a:ea typeface="Arial" pitchFamily="34" charset="-122"/>
                <a:cs typeface="Arial" pitchFamily="34" charset="-120"/>
              </a:rPr>
              <a:t>Functional and RNA / splicing studies</a:t>
            </a:r>
            <a:endParaRPr lang="en-US" sz="980" dirty="0"/>
          </a:p>
        </p:txBody>
      </p:sp>
      <p:sp>
        <p:nvSpPr>
          <p:cNvPr id="62" name="Shape 14">
            <a:extLst>
              <a:ext uri="{FF2B5EF4-FFF2-40B4-BE49-F238E27FC236}">
                <a16:creationId xmlns:a16="http://schemas.microsoft.com/office/drawing/2014/main" id="{F374EB74-DE76-E47B-DFA3-33911D4CF33F}"/>
              </a:ext>
            </a:extLst>
          </p:cNvPr>
          <p:cNvSpPr/>
          <p:nvPr/>
        </p:nvSpPr>
        <p:spPr>
          <a:xfrm>
            <a:off x="594360" y="5093208"/>
            <a:ext cx="5120640" cy="0"/>
          </a:xfrm>
          <a:prstGeom prst="line">
            <a:avLst/>
          </a:prstGeom>
          <a:noFill/>
          <a:ln w="8890">
            <a:solidFill>
              <a:srgbClr val="EBF0F1"/>
            </a:solidFill>
            <a:prstDash val="solid"/>
          </a:ln>
        </p:spPr>
        <p:txBody>
          <a:bodyPr/>
          <a:lstStyle/>
          <a:p>
            <a:endParaRPr lang="en-US"/>
          </a:p>
        </p:txBody>
      </p:sp>
      <p:sp>
        <p:nvSpPr>
          <p:cNvPr id="64" name="Text 15">
            <a:extLst>
              <a:ext uri="{FF2B5EF4-FFF2-40B4-BE49-F238E27FC236}">
                <a16:creationId xmlns:a16="http://schemas.microsoft.com/office/drawing/2014/main" id="{574FE186-0C99-7586-43AA-67EACCF8A239}"/>
              </a:ext>
            </a:extLst>
          </p:cNvPr>
          <p:cNvSpPr/>
          <p:nvPr/>
        </p:nvSpPr>
        <p:spPr>
          <a:xfrm>
            <a:off x="594360" y="5157216"/>
            <a:ext cx="5120640" cy="100584"/>
          </a:xfrm>
          <a:prstGeom prst="rect">
            <a:avLst/>
          </a:prstGeom>
          <a:noFill/>
          <a:ln/>
        </p:spPr>
        <p:txBody>
          <a:bodyPr wrap="square" lIns="0" tIns="0" rIns="0" bIns="0" rtlCol="0" anchor="t">
            <a:normAutofit lnSpcReduction="10000"/>
          </a:bodyPr>
          <a:lstStyle/>
          <a:p>
            <a:pPr marL="0" indent="0" algn="l">
              <a:buNone/>
            </a:pPr>
            <a:r>
              <a:rPr lang="en-US" sz="700" dirty="0">
                <a:solidFill>
                  <a:srgbClr val="8A9BA1"/>
                </a:solidFill>
                <a:latin typeface="Courier New" pitchFamily="34" charset="0"/>
                <a:ea typeface="Courier New" pitchFamily="34" charset="-122"/>
                <a:cs typeface="Courier New" pitchFamily="34" charset="-120"/>
              </a:rPr>
              <a:t>Why BRCA first</a:t>
            </a:r>
            <a:endParaRPr lang="en-US" sz="700" dirty="0"/>
          </a:p>
        </p:txBody>
      </p:sp>
      <p:sp>
        <p:nvSpPr>
          <p:cNvPr id="66" name="Text 16">
            <a:extLst>
              <a:ext uri="{FF2B5EF4-FFF2-40B4-BE49-F238E27FC236}">
                <a16:creationId xmlns:a16="http://schemas.microsoft.com/office/drawing/2014/main" id="{E7121A6A-1D71-59C6-DB1A-964DE2A49A7E}"/>
              </a:ext>
            </a:extLst>
          </p:cNvPr>
          <p:cNvSpPr/>
          <p:nvPr/>
        </p:nvSpPr>
        <p:spPr>
          <a:xfrm>
            <a:off x="594360" y="5312664"/>
            <a:ext cx="5120640" cy="237744"/>
          </a:xfrm>
          <a:prstGeom prst="rect">
            <a:avLst/>
          </a:prstGeom>
          <a:noFill/>
          <a:ln/>
        </p:spPr>
        <p:txBody>
          <a:bodyPr wrap="square" lIns="0" tIns="0" rIns="0" bIns="0" rtlCol="0" anchor="t">
            <a:normAutofit/>
          </a:bodyPr>
          <a:lstStyle/>
          <a:p>
            <a:pPr marL="0" indent="0" algn="l">
              <a:buNone/>
            </a:pPr>
            <a:r>
              <a:rPr lang="en-US" sz="980" dirty="0">
                <a:solidFill>
                  <a:srgbClr val="1A2A31"/>
                </a:solidFill>
                <a:latin typeface="Arial" pitchFamily="34" charset="0"/>
                <a:ea typeface="Arial" pitchFamily="34" charset="-122"/>
                <a:cs typeface="Arial" pitchFamily="34" charset="-120"/>
              </a:rPr>
              <a:t>A large body of curated literature is available for development and evaluation</a:t>
            </a:r>
            <a:endParaRPr lang="en-US" sz="980" dirty="0"/>
          </a:p>
        </p:txBody>
      </p:sp>
      <p:sp>
        <p:nvSpPr>
          <p:cNvPr id="68" name="Shape 17">
            <a:extLst>
              <a:ext uri="{FF2B5EF4-FFF2-40B4-BE49-F238E27FC236}">
                <a16:creationId xmlns:a16="http://schemas.microsoft.com/office/drawing/2014/main" id="{C903E8A0-CDDA-BB35-D2F9-C35E8DFA7C4C}"/>
              </a:ext>
            </a:extLst>
          </p:cNvPr>
          <p:cNvSpPr/>
          <p:nvPr/>
        </p:nvSpPr>
        <p:spPr>
          <a:xfrm>
            <a:off x="594360" y="5586984"/>
            <a:ext cx="5120640" cy="0"/>
          </a:xfrm>
          <a:prstGeom prst="line">
            <a:avLst/>
          </a:prstGeom>
          <a:noFill/>
          <a:ln w="8890">
            <a:solidFill>
              <a:srgbClr val="EBF0F1"/>
            </a:solidFill>
            <a:prstDash val="solid"/>
          </a:ln>
        </p:spPr>
        <p:txBody>
          <a:bodyPr/>
          <a:lstStyle/>
          <a:p>
            <a:endParaRPr lang="en-US"/>
          </a:p>
        </p:txBody>
      </p:sp>
      <p:sp>
        <p:nvSpPr>
          <p:cNvPr id="70" name="Text 18">
            <a:extLst>
              <a:ext uri="{FF2B5EF4-FFF2-40B4-BE49-F238E27FC236}">
                <a16:creationId xmlns:a16="http://schemas.microsoft.com/office/drawing/2014/main" id="{E456D91A-3025-758E-AE46-0BDDE0D86F16}"/>
              </a:ext>
            </a:extLst>
          </p:cNvPr>
          <p:cNvSpPr/>
          <p:nvPr/>
        </p:nvSpPr>
        <p:spPr>
          <a:xfrm>
            <a:off x="6172200" y="1508760"/>
            <a:ext cx="54406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Planned workflow</a:t>
            </a:r>
            <a:endParaRPr lang="en-US" sz="770" dirty="0"/>
          </a:p>
        </p:txBody>
      </p:sp>
      <p:sp>
        <p:nvSpPr>
          <p:cNvPr id="72" name="Shape 19">
            <a:extLst>
              <a:ext uri="{FF2B5EF4-FFF2-40B4-BE49-F238E27FC236}">
                <a16:creationId xmlns:a16="http://schemas.microsoft.com/office/drawing/2014/main" id="{3C151F08-7A5D-5C9F-602C-2128E9B3E019}"/>
              </a:ext>
            </a:extLst>
          </p:cNvPr>
          <p:cNvSpPr/>
          <p:nvPr/>
        </p:nvSpPr>
        <p:spPr>
          <a:xfrm>
            <a:off x="6172200" y="1755648"/>
            <a:ext cx="5440680" cy="0"/>
          </a:xfrm>
          <a:prstGeom prst="line">
            <a:avLst/>
          </a:prstGeom>
          <a:noFill/>
          <a:ln w="12700">
            <a:solidFill>
              <a:srgbClr val="EBF0F1"/>
            </a:solidFill>
            <a:prstDash val="solid"/>
          </a:ln>
        </p:spPr>
        <p:txBody>
          <a:bodyPr/>
          <a:lstStyle/>
          <a:p>
            <a:endParaRPr lang="en-US"/>
          </a:p>
        </p:txBody>
      </p:sp>
      <p:sp>
        <p:nvSpPr>
          <p:cNvPr id="74" name="Text 20">
            <a:extLst>
              <a:ext uri="{FF2B5EF4-FFF2-40B4-BE49-F238E27FC236}">
                <a16:creationId xmlns:a16="http://schemas.microsoft.com/office/drawing/2014/main" id="{4CEF6780-6F7C-C3A1-DEC4-A3838766CBA5}"/>
              </a:ext>
            </a:extLst>
          </p:cNvPr>
          <p:cNvSpPr/>
          <p:nvPr/>
        </p:nvSpPr>
        <p:spPr>
          <a:xfrm>
            <a:off x="6172200" y="1901952"/>
            <a:ext cx="5440680" cy="438912"/>
          </a:xfrm>
          <a:prstGeom prst="rect">
            <a:avLst/>
          </a:prstGeom>
          <a:solidFill>
            <a:srgbClr val="FFFFFF"/>
          </a:solidFill>
          <a:ln w="9525">
            <a:solidFill>
              <a:srgbClr val="15697A"/>
            </a:solidFill>
          </a:ln>
        </p:spPr>
        <p:txBody>
          <a:bodyPr wrap="square" lIns="635" tIns="635" rIns="635" bIns="635" rtlCol="0" anchor="ctr">
            <a:normAutofit/>
          </a:bodyPr>
          <a:lstStyle/>
          <a:p>
            <a:pPr marL="0" indent="0" algn="ctr">
              <a:buNone/>
            </a:pPr>
            <a:r>
              <a:rPr lang="en-US" sz="1050" b="1" dirty="0">
                <a:solidFill>
                  <a:srgbClr val="1A2A31"/>
                </a:solidFill>
                <a:latin typeface="Arial" pitchFamily="34" charset="0"/>
                <a:ea typeface="Arial" pitchFamily="34" charset="-122"/>
                <a:cs typeface="Arial" pitchFamily="34" charset="-120"/>
              </a:rPr>
              <a:t>Scientific literature</a:t>
            </a:r>
            <a:endParaRPr lang="en-US" sz="1050" dirty="0"/>
          </a:p>
        </p:txBody>
      </p:sp>
      <p:sp>
        <p:nvSpPr>
          <p:cNvPr id="76" name="Text 21">
            <a:extLst>
              <a:ext uri="{FF2B5EF4-FFF2-40B4-BE49-F238E27FC236}">
                <a16:creationId xmlns:a16="http://schemas.microsoft.com/office/drawing/2014/main" id="{9A40F549-D8DC-AFBD-9606-499C7D003A85}"/>
              </a:ext>
            </a:extLst>
          </p:cNvPr>
          <p:cNvSpPr/>
          <p:nvPr/>
        </p:nvSpPr>
        <p:spPr>
          <a:xfrm>
            <a:off x="6172200" y="2505456"/>
            <a:ext cx="5440680" cy="438912"/>
          </a:xfrm>
          <a:prstGeom prst="rect">
            <a:avLst/>
          </a:prstGeom>
          <a:solidFill>
            <a:srgbClr val="F5F8F8"/>
          </a:solidFill>
          <a:ln w="9525">
            <a:solidFill>
              <a:srgbClr val="DCE4E6"/>
            </a:solidFill>
          </a:ln>
        </p:spPr>
        <p:txBody>
          <a:bodyPr wrap="square" lIns="635" tIns="635" rIns="635" bIns="635" rtlCol="0" anchor="ctr">
            <a:normAutofit/>
          </a:bodyPr>
          <a:lstStyle/>
          <a:p>
            <a:pPr marL="0" indent="0" algn="ctr">
              <a:buNone/>
            </a:pPr>
            <a:r>
              <a:rPr lang="en-US" sz="1050" dirty="0">
                <a:solidFill>
                  <a:srgbClr val="1A2A31"/>
                </a:solidFill>
                <a:latin typeface="Arial" pitchFamily="34" charset="0"/>
                <a:ea typeface="Arial" pitchFamily="34" charset="-122"/>
                <a:cs typeface="Arial" pitchFamily="34" charset="-120"/>
              </a:rPr>
              <a:t>Find relevant studies</a:t>
            </a:r>
            <a:endParaRPr lang="en-US" sz="1050" dirty="0"/>
          </a:p>
        </p:txBody>
      </p:sp>
      <p:sp>
        <p:nvSpPr>
          <p:cNvPr id="78" name="Text 22">
            <a:extLst>
              <a:ext uri="{FF2B5EF4-FFF2-40B4-BE49-F238E27FC236}">
                <a16:creationId xmlns:a16="http://schemas.microsoft.com/office/drawing/2014/main" id="{4E1066DD-968F-7D23-69E5-02AAF0954601}"/>
              </a:ext>
            </a:extLst>
          </p:cNvPr>
          <p:cNvSpPr/>
          <p:nvPr/>
        </p:nvSpPr>
        <p:spPr>
          <a:xfrm>
            <a:off x="6172200" y="3108960"/>
            <a:ext cx="5440680" cy="438912"/>
          </a:xfrm>
          <a:prstGeom prst="rect">
            <a:avLst/>
          </a:prstGeom>
          <a:solidFill>
            <a:srgbClr val="F5F8F8"/>
          </a:solidFill>
          <a:ln w="9525">
            <a:solidFill>
              <a:srgbClr val="DCE4E6"/>
            </a:solidFill>
          </a:ln>
        </p:spPr>
        <p:txBody>
          <a:bodyPr wrap="square" lIns="635" tIns="635" rIns="635" bIns="635" rtlCol="0" anchor="ctr">
            <a:normAutofit/>
          </a:bodyPr>
          <a:lstStyle/>
          <a:p>
            <a:pPr marL="0" indent="0" algn="ctr">
              <a:buNone/>
            </a:pPr>
            <a:r>
              <a:rPr lang="en-US" sz="1050" dirty="0">
                <a:solidFill>
                  <a:srgbClr val="1A2A31"/>
                </a:solidFill>
                <a:latin typeface="Arial" pitchFamily="34" charset="0"/>
                <a:ea typeface="Arial" pitchFamily="34" charset="-122"/>
                <a:cs typeface="Arial" pitchFamily="34" charset="-120"/>
              </a:rPr>
              <a:t>Identify variants, experiments and results</a:t>
            </a:r>
            <a:endParaRPr lang="en-US" sz="1050" dirty="0"/>
          </a:p>
        </p:txBody>
      </p:sp>
      <p:sp>
        <p:nvSpPr>
          <p:cNvPr id="80" name="Text 23">
            <a:extLst>
              <a:ext uri="{FF2B5EF4-FFF2-40B4-BE49-F238E27FC236}">
                <a16:creationId xmlns:a16="http://schemas.microsoft.com/office/drawing/2014/main" id="{590D6A11-DE82-5DAF-B9A7-093B2EAC02FE}"/>
              </a:ext>
            </a:extLst>
          </p:cNvPr>
          <p:cNvSpPr/>
          <p:nvPr/>
        </p:nvSpPr>
        <p:spPr>
          <a:xfrm>
            <a:off x="6172200" y="3712464"/>
            <a:ext cx="5440680" cy="438912"/>
          </a:xfrm>
          <a:prstGeom prst="rect">
            <a:avLst/>
          </a:prstGeom>
          <a:solidFill>
            <a:srgbClr val="F5F8F8"/>
          </a:solidFill>
          <a:ln w="9525">
            <a:solidFill>
              <a:srgbClr val="DCE4E6"/>
            </a:solidFill>
          </a:ln>
        </p:spPr>
        <p:txBody>
          <a:bodyPr wrap="square" lIns="635" tIns="635" rIns="635" bIns="635" rtlCol="0" anchor="ctr">
            <a:normAutofit/>
          </a:bodyPr>
          <a:lstStyle/>
          <a:p>
            <a:pPr marL="0" indent="0" algn="ctr">
              <a:buNone/>
            </a:pPr>
            <a:r>
              <a:rPr lang="en-US" sz="1050" dirty="0">
                <a:solidFill>
                  <a:srgbClr val="1A2A31"/>
                </a:solidFill>
                <a:latin typeface="Arial" pitchFamily="34" charset="0"/>
                <a:ea typeface="Arial" pitchFamily="34" charset="-122"/>
                <a:cs typeface="Arial" pitchFamily="34" charset="-120"/>
              </a:rPr>
              <a:t>Extract structured, source-linked evidence</a:t>
            </a:r>
            <a:endParaRPr lang="en-US" sz="1050" dirty="0"/>
          </a:p>
        </p:txBody>
      </p:sp>
      <p:sp>
        <p:nvSpPr>
          <p:cNvPr id="82" name="Text 24">
            <a:extLst>
              <a:ext uri="{FF2B5EF4-FFF2-40B4-BE49-F238E27FC236}">
                <a16:creationId xmlns:a16="http://schemas.microsoft.com/office/drawing/2014/main" id="{BAE6D641-2560-FBD4-AEB2-6E6C56A99955}"/>
              </a:ext>
            </a:extLst>
          </p:cNvPr>
          <p:cNvSpPr/>
          <p:nvPr/>
        </p:nvSpPr>
        <p:spPr>
          <a:xfrm>
            <a:off x="6172200" y="4315968"/>
            <a:ext cx="5440680" cy="438912"/>
          </a:xfrm>
          <a:prstGeom prst="rect">
            <a:avLst/>
          </a:prstGeom>
          <a:solidFill>
            <a:srgbClr val="15697A"/>
          </a:solidFill>
          <a:ln w="9525">
            <a:solidFill>
              <a:srgbClr val="15697A"/>
            </a:solidFill>
          </a:ln>
        </p:spPr>
        <p:txBody>
          <a:bodyPr wrap="square" lIns="635" tIns="635" rIns="635" bIns="635" rtlCol="0" anchor="ctr">
            <a:normAutofit/>
          </a:bodyPr>
          <a:lstStyle/>
          <a:p>
            <a:pPr marL="0" indent="0" algn="ctr">
              <a:buNone/>
            </a:pPr>
            <a:r>
              <a:rPr lang="en-US" sz="1050" b="1" dirty="0">
                <a:solidFill>
                  <a:srgbClr val="FFFFFF"/>
                </a:solidFill>
                <a:latin typeface="Arial" pitchFamily="34" charset="0"/>
                <a:ea typeface="Arial" pitchFamily="34" charset="-122"/>
                <a:cs typeface="Arial" pitchFamily="34" charset="-120"/>
              </a:rPr>
              <a:t>Expert review and use in ARIANE</a:t>
            </a:r>
            <a:endParaRPr lang="en-US" sz="1050" dirty="0"/>
          </a:p>
        </p:txBody>
      </p:sp>
      <p:sp>
        <p:nvSpPr>
          <p:cNvPr id="84" name="Text 25">
            <a:extLst>
              <a:ext uri="{FF2B5EF4-FFF2-40B4-BE49-F238E27FC236}">
                <a16:creationId xmlns:a16="http://schemas.microsoft.com/office/drawing/2014/main" id="{BD72FC74-FEAF-04DE-DFF0-937EB439FD53}"/>
              </a:ext>
            </a:extLst>
          </p:cNvPr>
          <p:cNvSpPr/>
          <p:nvPr/>
        </p:nvSpPr>
        <p:spPr>
          <a:xfrm>
            <a:off x="6172200" y="4983480"/>
            <a:ext cx="5440680" cy="164592"/>
          </a:xfrm>
          <a:prstGeom prst="rect">
            <a:avLst/>
          </a:prstGeom>
          <a:noFill/>
          <a:ln/>
        </p:spPr>
        <p:txBody>
          <a:bodyPr wrap="square" lIns="0" tIns="0" rIns="0" bIns="0" rtlCol="0" anchor="t">
            <a:normAutofit/>
          </a:bodyPr>
          <a:lstStyle/>
          <a:p>
            <a:pPr marL="0" indent="0" algn="l">
              <a:buNone/>
            </a:pPr>
            <a:r>
              <a:rPr lang="en-US" sz="770" b="1" kern="0" spc="110" dirty="0">
                <a:solidFill>
                  <a:srgbClr val="8A9BA1"/>
                </a:solidFill>
                <a:latin typeface="Arial" pitchFamily="34" charset="0"/>
                <a:ea typeface="Arial" pitchFamily="34" charset="-122"/>
                <a:cs typeface="Arial" pitchFamily="34" charset="-120"/>
              </a:rPr>
              <a:t>Longer-term direction</a:t>
            </a:r>
            <a:endParaRPr lang="en-US" sz="770" dirty="0"/>
          </a:p>
        </p:txBody>
      </p:sp>
      <p:sp>
        <p:nvSpPr>
          <p:cNvPr id="86" name="Shape 26">
            <a:extLst>
              <a:ext uri="{FF2B5EF4-FFF2-40B4-BE49-F238E27FC236}">
                <a16:creationId xmlns:a16="http://schemas.microsoft.com/office/drawing/2014/main" id="{A4B7716B-7055-D44A-4F6A-FB7C5F154B9C}"/>
              </a:ext>
            </a:extLst>
          </p:cNvPr>
          <p:cNvSpPr/>
          <p:nvPr/>
        </p:nvSpPr>
        <p:spPr>
          <a:xfrm>
            <a:off x="6172200" y="5230368"/>
            <a:ext cx="5440680" cy="0"/>
          </a:xfrm>
          <a:prstGeom prst="line">
            <a:avLst/>
          </a:prstGeom>
          <a:noFill/>
          <a:ln w="12700">
            <a:solidFill>
              <a:srgbClr val="EBF0F1"/>
            </a:solidFill>
            <a:prstDash val="solid"/>
          </a:ln>
        </p:spPr>
        <p:txBody>
          <a:bodyPr/>
          <a:lstStyle/>
          <a:p>
            <a:endParaRPr lang="en-US"/>
          </a:p>
        </p:txBody>
      </p:sp>
      <p:sp>
        <p:nvSpPr>
          <p:cNvPr id="88" name="Text 27">
            <a:extLst>
              <a:ext uri="{FF2B5EF4-FFF2-40B4-BE49-F238E27FC236}">
                <a16:creationId xmlns:a16="http://schemas.microsoft.com/office/drawing/2014/main" id="{213DB931-1386-3105-B382-FC138AC69CD5}"/>
              </a:ext>
            </a:extLst>
          </p:cNvPr>
          <p:cNvSpPr/>
          <p:nvPr/>
        </p:nvSpPr>
        <p:spPr>
          <a:xfrm>
            <a:off x="6172200" y="5385816"/>
            <a:ext cx="5440680" cy="694944"/>
          </a:xfrm>
          <a:prstGeom prst="rect">
            <a:avLst/>
          </a:prstGeom>
          <a:solidFill>
            <a:srgbClr val="F5F8F8"/>
          </a:solidFill>
          <a:ln w="9525">
            <a:solidFill>
              <a:srgbClr val="DCE4E6"/>
            </a:solidFill>
          </a:ln>
        </p:spPr>
        <p:txBody>
          <a:bodyPr wrap="square" lIns="1778" tIns="1778" rIns="1778" bIns="1778" rtlCol="0" anchor="ctr">
            <a:normAutofit/>
          </a:bodyPr>
          <a:lstStyle/>
          <a:p>
            <a:pPr marL="0" indent="0">
              <a:buNone/>
            </a:pPr>
            <a:r>
              <a:rPr lang="en-US" sz="1120" dirty="0">
                <a:solidFill>
                  <a:srgbClr val="5B6E76"/>
                </a:solidFill>
                <a:latin typeface="Arial" pitchFamily="34" charset="0"/>
                <a:ea typeface="Arial" pitchFamily="34" charset="-122"/>
                <a:cs typeface="Arial" pitchFamily="34" charset="-120"/>
              </a:rPr>
              <a:t>The same framework can be extended to additional genes and gene-specific interpretation guidelines.</a:t>
            </a:r>
            <a:endParaRPr lang="en-US" sz="11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92608"/>
            <a:ext cx="1554480" cy="210312"/>
          </a:xfrm>
          <a:prstGeom prst="rect">
            <a:avLst/>
          </a:prstGeom>
          <a:noFill/>
        </p:spPr>
        <p:txBody>
          <a:bodyPr wrap="square" lIns="18288" tIns="18288" rIns="18288" bIns="18288">
            <a:normAutofit/>
          </a:bodyPr>
          <a:lstStyle/>
          <a:p>
            <a:r>
              <a:rPr sz="850" b="0">
                <a:solidFill>
                  <a:srgbClr val="8A9BA1"/>
                </a:solidFill>
                <a:latin typeface="IBM Plex Mono"/>
              </a:rPr>
              <a:t>Slide 4</a:t>
            </a:r>
          </a:p>
        </p:txBody>
      </p:sp>
      <p:sp>
        <p:nvSpPr>
          <p:cNvPr id="3" name="TextBox 2"/>
          <p:cNvSpPr txBox="1"/>
          <p:nvPr/>
        </p:nvSpPr>
        <p:spPr>
          <a:xfrm>
            <a:off x="502920" y="566928"/>
            <a:ext cx="7498079" cy="868680"/>
          </a:xfrm>
          <a:prstGeom prst="rect">
            <a:avLst/>
          </a:prstGeom>
          <a:noFill/>
        </p:spPr>
        <p:txBody>
          <a:bodyPr wrap="square" lIns="18288" tIns="18288" rIns="18288" bIns="18288">
            <a:normAutofit/>
          </a:bodyPr>
          <a:lstStyle/>
          <a:p>
            <a:r>
              <a:rPr sz="2700" b="0">
                <a:solidFill>
                  <a:srgbClr val="1A2A31"/>
                </a:solidFill>
                <a:latin typeface="Newsreader"/>
              </a:rPr>
              <a:t>Towards more systematic variant interpretation</a:t>
            </a:r>
          </a:p>
        </p:txBody>
      </p:sp>
      <p:sp>
        <p:nvSpPr>
          <p:cNvPr id="4" name="Rectangle 3"/>
          <p:cNvSpPr/>
          <p:nvPr/>
        </p:nvSpPr>
        <p:spPr>
          <a:xfrm>
            <a:off x="502920" y="1444752"/>
            <a:ext cx="566928" cy="22860"/>
          </a:xfrm>
          <a:prstGeom prst="rect">
            <a:avLst/>
          </a:prstGeom>
          <a:solidFill>
            <a:srgbClr val="15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png"/>
          <p:cNvPicPr>
            <a:picLocks noChangeAspect="1"/>
          </p:cNvPicPr>
          <p:nvPr/>
        </p:nvPicPr>
        <p:blipFill>
          <a:blip r:embed="rId2"/>
          <a:stretch>
            <a:fillRect/>
          </a:stretch>
        </p:blipFill>
        <p:spPr>
          <a:xfrm>
            <a:off x="10012680" y="274320"/>
            <a:ext cx="1417320" cy="508555"/>
          </a:xfrm>
          <a:prstGeom prst="rect">
            <a:avLst/>
          </a:prstGeom>
        </p:spPr>
      </p:pic>
      <p:sp>
        <p:nvSpPr>
          <p:cNvPr id="6" name="TextBox 5"/>
          <p:cNvSpPr txBox="1"/>
          <p:nvPr/>
        </p:nvSpPr>
        <p:spPr>
          <a:xfrm>
            <a:off x="8092440" y="832104"/>
            <a:ext cx="3383280" cy="182880"/>
          </a:xfrm>
          <a:prstGeom prst="rect">
            <a:avLst/>
          </a:prstGeom>
          <a:noFill/>
        </p:spPr>
        <p:txBody>
          <a:bodyPr wrap="square" lIns="18288" tIns="18288" rIns="18288" bIns="18288">
            <a:normAutofit/>
          </a:bodyPr>
          <a:lstStyle/>
          <a:p>
            <a:pPr algn="r"/>
            <a:r>
              <a:rPr sz="950" b="1">
                <a:solidFill>
                  <a:srgbClr val="1A2A31"/>
                </a:solidFill>
                <a:latin typeface="IBM Plex Sans"/>
              </a:rPr>
              <a:t>Kamila Clarová</a:t>
            </a:r>
          </a:p>
        </p:txBody>
      </p:sp>
      <p:sp>
        <p:nvSpPr>
          <p:cNvPr id="7" name="TextBox 6"/>
          <p:cNvSpPr txBox="1"/>
          <p:nvPr/>
        </p:nvSpPr>
        <p:spPr>
          <a:xfrm>
            <a:off x="8092440" y="1033271"/>
            <a:ext cx="3383280" cy="182880"/>
          </a:xfrm>
          <a:prstGeom prst="rect">
            <a:avLst/>
          </a:prstGeom>
          <a:noFill/>
        </p:spPr>
        <p:txBody>
          <a:bodyPr wrap="square" lIns="18288" tIns="18288" rIns="18288" bIns="18288">
            <a:normAutofit/>
          </a:bodyPr>
          <a:lstStyle/>
          <a:p>
            <a:pPr algn="r"/>
            <a:r>
              <a:rPr sz="900" b="0">
                <a:solidFill>
                  <a:srgbClr val="5B6E76"/>
                </a:solidFill>
                <a:latin typeface="IBM Plex Sans"/>
              </a:rPr>
              <a:t>Jiří Vondrášek Group</a:t>
            </a:r>
          </a:p>
        </p:txBody>
      </p:sp>
      <p:sp>
        <p:nvSpPr>
          <p:cNvPr id="8" name="Rounded Rectangle 7"/>
          <p:cNvSpPr/>
          <p:nvPr/>
        </p:nvSpPr>
        <p:spPr>
          <a:xfrm>
            <a:off x="566928" y="1719072"/>
            <a:ext cx="3291840" cy="4133087"/>
          </a:xfrm>
          <a:prstGeom prst="roundRect">
            <a:avLst/>
          </a:prstGeom>
          <a:solidFill>
            <a:srgbClr val="F5F8F8"/>
          </a:solidFill>
          <a:ln>
            <a:solidFill>
              <a:srgbClr val="DCE4E6"/>
            </a:solidFill>
          </a:ln>
        </p:spPr>
        <p:style>
          <a:lnRef idx="1">
            <a:schemeClr val="accent1"/>
          </a:lnRef>
          <a:fillRef idx="3">
            <a:schemeClr val="accent1"/>
          </a:fillRef>
          <a:effectRef idx="2">
            <a:schemeClr val="accent1"/>
          </a:effectRef>
          <a:fontRef idx="minor">
            <a:schemeClr val="lt1"/>
          </a:fontRef>
        </p:style>
        <p:txBody>
          <a:bodyPr wrap="square" lIns="182880" tIns="182880" rIns="182880" bIns="164592" rtlCol="0" anchor="t">
            <a:normAutofit/>
          </a:bodyPr>
          <a:lstStyle/>
          <a:p>
            <a:pPr algn="ctr">
              <a:spcAft>
                <a:spcPts val="800"/>
              </a:spcAft>
            </a:pPr>
            <a:r>
              <a:rPr sz="1100" b="1">
                <a:solidFill>
                  <a:srgbClr val="8A9BA1"/>
                </a:solidFill>
                <a:latin typeface="IBM Plex Sans"/>
              </a:rPr>
              <a:t>CURRENT CHALLENGE</a:t>
            </a:r>
          </a:p>
          <a:p>
            <a:pPr>
              <a:lnSpc>
                <a:spcPct val="108000"/>
              </a:lnSpc>
            </a:pPr>
            <a:r>
              <a:rPr sz="1230">
                <a:solidFill>
                  <a:srgbClr val="1A2A31"/>
                </a:solidFill>
                <a:latin typeface="IBM Plex Sans"/>
              </a:rPr>
              <a:t>Variant classification is complex, time-consuming and requires substantial expert knowledge. Relevant evidence and gene-specific rules are not always evaluated consistently in routine practice.</a:t>
            </a:r>
          </a:p>
        </p:txBody>
      </p:sp>
      <p:sp>
        <p:nvSpPr>
          <p:cNvPr id="9" name="Rounded Rectangle 8"/>
          <p:cNvSpPr/>
          <p:nvPr/>
        </p:nvSpPr>
        <p:spPr>
          <a:xfrm>
            <a:off x="4160520" y="1719072"/>
            <a:ext cx="3840480" cy="4133087"/>
          </a:xfrm>
          <a:prstGeom prst="roundRect">
            <a:avLst/>
          </a:prstGeom>
          <a:solidFill>
            <a:srgbClr val="F5F8F8"/>
          </a:solidFill>
          <a:ln>
            <a:solidFill>
              <a:srgbClr val="DCE4E6"/>
            </a:solidFill>
          </a:ln>
        </p:spPr>
        <p:style>
          <a:lnRef idx="1">
            <a:schemeClr val="accent1"/>
          </a:lnRef>
          <a:fillRef idx="3">
            <a:schemeClr val="accent1"/>
          </a:fillRef>
          <a:effectRef idx="2">
            <a:schemeClr val="accent1"/>
          </a:effectRef>
          <a:fontRef idx="minor">
            <a:schemeClr val="lt1"/>
          </a:fontRef>
        </p:style>
        <p:txBody>
          <a:bodyPr wrap="square" lIns="182880" tIns="182880" rIns="182880" bIns="164592" rtlCol="0" anchor="t">
            <a:normAutofit/>
          </a:bodyPr>
          <a:lstStyle/>
          <a:p>
            <a:pPr algn="ctr">
              <a:spcAft>
                <a:spcPts val="800"/>
              </a:spcAft>
            </a:pPr>
            <a:r>
              <a:rPr sz="1100" b="1">
                <a:solidFill>
                  <a:srgbClr val="8A9BA1"/>
                </a:solidFill>
                <a:latin typeface="IBM Plex Sans"/>
              </a:rPr>
              <a:t>ARIANE IN LABORATORY PRACTICE</a:t>
            </a:r>
          </a:p>
          <a:p>
            <a:pPr>
              <a:lnSpc>
                <a:spcPct val="108000"/>
              </a:lnSpc>
            </a:pPr>
            <a:r>
              <a:rPr sz="1080">
                <a:solidFill>
                  <a:srgbClr val="1A2A31"/>
                </a:solidFill>
                <a:latin typeface="IBM Plex Sans"/>
              </a:rPr>
              <a:t>ARIANE is designed as a practical tool for laboratories performing variant classification. It supports the interpretation of individual variants by automatically evaluating applicable criteria, documenting the underlying evidence and guiding the user through the classification process. The development is carried out in collaboration with ENIGMA members Jana Soukupová and Zdeněk Kleibl, ensuring close interaction with the expert community involved in BRCA1/2 variant interpretation.</a:t>
            </a:r>
          </a:p>
        </p:txBody>
      </p:sp>
      <p:sp>
        <p:nvSpPr>
          <p:cNvPr id="10" name="Rounded Rectangle 9"/>
          <p:cNvSpPr/>
          <p:nvPr/>
        </p:nvSpPr>
        <p:spPr>
          <a:xfrm>
            <a:off x="8302752" y="1719072"/>
            <a:ext cx="3337560" cy="4133087"/>
          </a:xfrm>
          <a:prstGeom prst="roundRect">
            <a:avLst/>
          </a:prstGeom>
          <a:solidFill>
            <a:srgbClr val="F5F8F8"/>
          </a:solidFill>
          <a:ln>
            <a:solidFill>
              <a:srgbClr val="DCE4E6"/>
            </a:solidFill>
          </a:ln>
        </p:spPr>
        <p:style>
          <a:lnRef idx="1">
            <a:schemeClr val="accent1"/>
          </a:lnRef>
          <a:fillRef idx="3">
            <a:schemeClr val="accent1"/>
          </a:fillRef>
          <a:effectRef idx="2">
            <a:schemeClr val="accent1"/>
          </a:effectRef>
          <a:fontRef idx="minor">
            <a:schemeClr val="lt1"/>
          </a:fontRef>
        </p:style>
        <p:txBody>
          <a:bodyPr wrap="square" lIns="182880" tIns="182880" rIns="182880" bIns="164592" rtlCol="0" anchor="t">
            <a:normAutofit/>
          </a:bodyPr>
          <a:lstStyle/>
          <a:p>
            <a:pPr algn="ctr">
              <a:spcAft>
                <a:spcPts val="800"/>
              </a:spcAft>
            </a:pPr>
            <a:r>
              <a:rPr sz="1100" b="1">
                <a:solidFill>
                  <a:srgbClr val="8A9BA1"/>
                </a:solidFill>
                <a:latin typeface="IBM Plex Sans"/>
              </a:rPr>
              <a:t>NEXT DEVELOPMENT STEP</a:t>
            </a:r>
          </a:p>
          <a:p>
            <a:pPr>
              <a:lnSpc>
                <a:spcPct val="108000"/>
              </a:lnSpc>
            </a:pPr>
            <a:r>
              <a:rPr sz="1230">
                <a:solidFill>
                  <a:srgbClr val="1A2A31"/>
                </a:solidFill>
                <a:latin typeface="IBM Plex Sans"/>
              </a:rPr>
              <a:t>Extend the framework to evidence contained in scientific literature, while keeping expert review as an integral part of the interpretation process.</a:t>
            </a:r>
          </a:p>
        </p:txBody>
      </p:sp>
      <p:sp>
        <p:nvSpPr>
          <p:cNvPr id="11" name="TextBox 10"/>
          <p:cNvSpPr txBox="1"/>
          <p:nvPr/>
        </p:nvSpPr>
        <p:spPr>
          <a:xfrm>
            <a:off x="594360" y="6236208"/>
            <a:ext cx="6400800" cy="256032"/>
          </a:xfrm>
          <a:prstGeom prst="rect">
            <a:avLst/>
          </a:prstGeom>
          <a:noFill/>
        </p:spPr>
        <p:txBody>
          <a:bodyPr wrap="none" lIns="18288" tIns="0" rIns="18288" bIns="0">
            <a:spAutoFit/>
          </a:bodyPr>
          <a:lstStyle/>
          <a:p>
            <a:r>
              <a:rPr sz="1050" u="sng">
                <a:solidFill>
                  <a:srgbClr val="15697A"/>
                </a:solidFill>
                <a:latin typeface="IBM Plex Sans"/>
                <a:hlinkClick r:id="rId3"/>
              </a:rPr>
              <a:t>Video demonstration: ARIANE - BRCA1/2 Variant Classification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285</TotalTime>
  <Words>1163</Words>
  <Application>Microsoft Office PowerPoint</Application>
  <PresentationFormat>Widescreen</PresentationFormat>
  <Paragraphs>114</Paragraphs>
  <Slides>5</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vt:i4>
      </vt:variant>
    </vt:vector>
  </HeadingPairs>
  <TitlesOfParts>
    <vt:vector size="14" baseType="lpstr">
      <vt:lpstr>Aptos</vt:lpstr>
      <vt:lpstr>Aptos Display</vt:lpstr>
      <vt:lpstr>Arial</vt:lpstr>
      <vt:lpstr>Courier New</vt:lpstr>
      <vt:lpstr>Georgia</vt:lpstr>
      <vt:lpstr>IBM Plex Mono</vt:lpstr>
      <vt:lpstr>IBM Plex Sans</vt:lpstr>
      <vt:lpstr>Newsreader</vt:lpstr>
      <vt:lpstr>Office Theme</vt:lpstr>
      <vt:lpstr>ARIANE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kamila clarova</dc:creator>
  <cp:lastModifiedBy>kamila clarova</cp:lastModifiedBy>
  <cp:revision>14</cp:revision>
  <dcterms:created xsi:type="dcterms:W3CDTF">2026-08-31T10:16:31Z</dcterms:created>
  <dcterms:modified xsi:type="dcterms:W3CDTF">2026-09-01T06:53:46Z</dcterms:modified>
</cp:coreProperties>
</file>