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61"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9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89" autoAdjust="0"/>
    <p:restoredTop sz="74008" autoAdjust="0"/>
  </p:normalViewPr>
  <p:slideViewPr>
    <p:cSldViewPr snapToGrid="0">
      <p:cViewPr varScale="1">
        <p:scale>
          <a:sx n="105" d="100"/>
          <a:sy n="105" d="100"/>
        </p:scale>
        <p:origin x="50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451253-935D-46F9-9C3E-E33D74DC1BD2}" type="datetimeFigureOut">
              <a:rPr lang="en-US" smtClean="0"/>
              <a:t>9/2/2026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FAF38C-FF42-4CB1-B9EA-0EB5B95EB83F}" type="slidenum">
              <a:rPr lang="en-US" smtClean="0"/>
              <a:t>‹#›</a:t>
            </a:fld>
            <a:endParaRPr lang="en-US"/>
          </a:p>
        </p:txBody>
      </p:sp>
    </p:spTree>
    <p:extLst>
      <p:ext uri="{BB962C8B-B14F-4D97-AF65-F5344CB8AC3E}">
        <p14:creationId xmlns:p14="http://schemas.microsoft.com/office/powerpoint/2010/main" val="1149766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3B01C-6E74-61BE-B414-0CD2B5489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D4C03-F7B6-05A0-890A-219BF5693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DA0803-E251-BDBD-2F86-5889B7796E5B}"/>
              </a:ext>
            </a:extLst>
          </p:cNvPr>
          <p:cNvSpPr>
            <a:spLocks noGrp="1"/>
          </p:cNvSpPr>
          <p:nvPr>
            <p:ph type="body" idx="1"/>
          </p:nvPr>
        </p:nvSpPr>
        <p:spPr/>
        <p:txBody>
          <a:bodyPr/>
          <a:lstStyle/>
          <a:p>
            <a:r>
              <a:rPr lang="en-US" dirty="0" err="1"/>
              <a:t>Základní</a:t>
            </a:r>
            <a:r>
              <a:rPr lang="en-US" dirty="0"/>
              <a:t> </a:t>
            </a:r>
            <a:r>
              <a:rPr lang="en-US" dirty="0" err="1"/>
              <a:t>problém</a:t>
            </a:r>
            <a:r>
              <a:rPr lang="en-US" dirty="0"/>
              <a:t>: </a:t>
            </a:r>
            <a:r>
              <a:rPr lang="en-US" dirty="0" err="1"/>
              <a:t>genetický</a:t>
            </a:r>
            <a:r>
              <a:rPr lang="en-US" dirty="0"/>
              <a:t> test </a:t>
            </a:r>
            <a:r>
              <a:rPr lang="en-US" dirty="0" err="1"/>
              <a:t>najde</a:t>
            </a:r>
            <a:r>
              <a:rPr lang="en-US" dirty="0"/>
              <a:t> </a:t>
            </a:r>
            <a:r>
              <a:rPr lang="en-US" dirty="0" err="1"/>
              <a:t>variantu</a:t>
            </a:r>
            <a:r>
              <a:rPr lang="en-US" dirty="0"/>
              <a:t>, ale </a:t>
            </a:r>
            <a:r>
              <a:rPr lang="en-US" dirty="0" err="1"/>
              <a:t>samotný</a:t>
            </a:r>
            <a:r>
              <a:rPr lang="en-US" dirty="0"/>
              <a:t> </a:t>
            </a:r>
            <a:r>
              <a:rPr lang="en-US" dirty="0" err="1"/>
              <a:t>nález</a:t>
            </a:r>
            <a:r>
              <a:rPr lang="en-US" dirty="0"/>
              <a:t> </a:t>
            </a:r>
            <a:r>
              <a:rPr lang="en-US" dirty="0" err="1"/>
              <a:t>ještě</a:t>
            </a:r>
            <a:r>
              <a:rPr lang="en-US" dirty="0"/>
              <a:t> </a:t>
            </a:r>
            <a:r>
              <a:rPr lang="en-US" dirty="0" err="1"/>
              <a:t>neříká</a:t>
            </a:r>
            <a:r>
              <a:rPr lang="en-US" dirty="0"/>
              <a:t>, </a:t>
            </a:r>
            <a:r>
              <a:rPr lang="en-US" dirty="0" err="1"/>
              <a:t>zda</a:t>
            </a:r>
            <a:r>
              <a:rPr lang="en-US" dirty="0"/>
              <a:t> je </a:t>
            </a:r>
            <a:r>
              <a:rPr lang="en-US" dirty="0" err="1"/>
              <a:t>klinicky</a:t>
            </a:r>
            <a:r>
              <a:rPr lang="en-US" dirty="0"/>
              <a:t> </a:t>
            </a:r>
            <a:r>
              <a:rPr lang="en-US" dirty="0" err="1"/>
              <a:t>významná</a:t>
            </a:r>
            <a:r>
              <a:rPr lang="en-US" dirty="0"/>
              <a:t>.</a:t>
            </a:r>
          </a:p>
          <a:p>
            <a:endParaRPr lang="en-US" dirty="0"/>
          </a:p>
          <a:p>
            <a:r>
              <a:rPr lang="en-US" dirty="0"/>
              <a:t>Co je </a:t>
            </a:r>
            <a:r>
              <a:rPr lang="en-US" dirty="0" err="1"/>
              <a:t>kritérium</a:t>
            </a:r>
            <a:r>
              <a:rPr lang="en-US" dirty="0"/>
              <a:t>: </a:t>
            </a:r>
            <a:r>
              <a:rPr lang="en-US" dirty="0" err="1"/>
              <a:t>předem</a:t>
            </a:r>
            <a:r>
              <a:rPr lang="en-US" dirty="0"/>
              <a:t> </a:t>
            </a:r>
            <a:r>
              <a:rPr lang="en-US" dirty="0" err="1"/>
              <a:t>definovaný</a:t>
            </a:r>
            <a:r>
              <a:rPr lang="en-US" dirty="0"/>
              <a:t> </a:t>
            </a:r>
            <a:r>
              <a:rPr lang="en-US" dirty="0" err="1"/>
              <a:t>typ</a:t>
            </a:r>
            <a:r>
              <a:rPr lang="en-US" dirty="0"/>
              <a:t> </a:t>
            </a:r>
            <a:r>
              <a:rPr lang="en-US" dirty="0" err="1"/>
              <a:t>důkazu</a:t>
            </a:r>
            <a:r>
              <a:rPr lang="en-US" dirty="0"/>
              <a:t>, </a:t>
            </a:r>
            <a:r>
              <a:rPr lang="en-US" dirty="0" err="1"/>
              <a:t>který</a:t>
            </a:r>
            <a:r>
              <a:rPr lang="en-US" dirty="0"/>
              <a:t> </a:t>
            </a:r>
            <a:r>
              <a:rPr lang="en-US" dirty="0" err="1"/>
              <a:t>posouvá</a:t>
            </a:r>
            <a:r>
              <a:rPr lang="en-US" dirty="0"/>
              <a:t> </a:t>
            </a:r>
            <a:r>
              <a:rPr lang="en-US" dirty="0" err="1"/>
              <a:t>klasifikaci</a:t>
            </a:r>
            <a:r>
              <a:rPr lang="en-US" dirty="0"/>
              <a:t> </a:t>
            </a:r>
            <a:r>
              <a:rPr lang="en-US" dirty="0" err="1"/>
              <a:t>směrem</a:t>
            </a:r>
            <a:r>
              <a:rPr lang="en-US" dirty="0"/>
              <a:t> k </a:t>
            </a:r>
            <a:r>
              <a:rPr lang="en-US" dirty="0" err="1"/>
              <a:t>benigní</a:t>
            </a:r>
            <a:r>
              <a:rPr lang="en-US" dirty="0"/>
              <a:t> </a:t>
            </a:r>
            <a:r>
              <a:rPr lang="en-US" dirty="0" err="1"/>
              <a:t>nebo</a:t>
            </a:r>
            <a:r>
              <a:rPr lang="en-US" dirty="0"/>
              <a:t> </a:t>
            </a:r>
            <a:r>
              <a:rPr lang="en-US" dirty="0" err="1"/>
              <a:t>patogenní</a:t>
            </a:r>
            <a:r>
              <a:rPr lang="en-US" dirty="0"/>
              <a:t> </a:t>
            </a:r>
            <a:r>
              <a:rPr lang="en-US" dirty="0" err="1"/>
              <a:t>variantě</a:t>
            </a:r>
            <a:r>
              <a:rPr lang="en-US" dirty="0"/>
              <a:t>.</a:t>
            </a:r>
          </a:p>
          <a:p>
            <a:endParaRPr lang="en-US" dirty="0"/>
          </a:p>
          <a:p>
            <a:r>
              <a:rPr lang="en-US" dirty="0" err="1"/>
              <a:t>Problém</a:t>
            </a:r>
            <a:r>
              <a:rPr lang="en-US" dirty="0"/>
              <a:t> je, </a:t>
            </a:r>
            <a:r>
              <a:rPr lang="en-US" dirty="0" err="1"/>
              <a:t>že</a:t>
            </a:r>
            <a:r>
              <a:rPr lang="en-US" dirty="0"/>
              <a:t> </a:t>
            </a:r>
            <a:r>
              <a:rPr lang="en-US" dirty="0" err="1"/>
              <a:t>samotná</a:t>
            </a:r>
            <a:r>
              <a:rPr lang="en-US" dirty="0"/>
              <a:t> </a:t>
            </a:r>
            <a:r>
              <a:rPr lang="en-US" dirty="0" err="1"/>
              <a:t>kritéria</a:t>
            </a:r>
            <a:r>
              <a:rPr lang="en-US" dirty="0"/>
              <a:t> </a:t>
            </a:r>
            <a:r>
              <a:rPr lang="en-US" dirty="0" err="1"/>
              <a:t>mohou</a:t>
            </a:r>
            <a:r>
              <a:rPr lang="en-US" dirty="0"/>
              <a:t> </a:t>
            </a:r>
            <a:r>
              <a:rPr lang="en-US" dirty="0" err="1"/>
              <a:t>být</a:t>
            </a:r>
            <a:r>
              <a:rPr lang="en-US" dirty="0"/>
              <a:t> </a:t>
            </a:r>
            <a:r>
              <a:rPr lang="en-US" dirty="0" err="1"/>
              <a:t>velmi</a:t>
            </a:r>
            <a:r>
              <a:rPr lang="en-US" dirty="0"/>
              <a:t> </a:t>
            </a:r>
            <a:r>
              <a:rPr lang="en-US" dirty="0" err="1"/>
              <a:t>složitá</a:t>
            </a:r>
            <a:r>
              <a:rPr lang="en-US" dirty="0"/>
              <a:t>. Je </a:t>
            </a:r>
            <a:r>
              <a:rPr lang="en-US" dirty="0" err="1"/>
              <a:t>potřeba</a:t>
            </a:r>
            <a:r>
              <a:rPr lang="en-US" dirty="0"/>
              <a:t> </a:t>
            </a:r>
            <a:r>
              <a:rPr lang="en-US" dirty="0" err="1"/>
              <a:t>pracovat</a:t>
            </a:r>
            <a:r>
              <a:rPr lang="en-US" dirty="0"/>
              <a:t> s </a:t>
            </a:r>
            <a:r>
              <a:rPr lang="en-US" dirty="0" err="1"/>
              <a:t>tabulkami</a:t>
            </a:r>
            <a:r>
              <a:rPr lang="en-US" dirty="0"/>
              <a:t> </a:t>
            </a:r>
            <a:r>
              <a:rPr lang="en-US" dirty="0" err="1"/>
              <a:t>důkazů</a:t>
            </a:r>
            <a:r>
              <a:rPr lang="en-US" dirty="0"/>
              <a:t>, </a:t>
            </a:r>
            <a:r>
              <a:rPr lang="en-US" dirty="0" err="1"/>
              <a:t>různými</a:t>
            </a:r>
            <a:r>
              <a:rPr lang="en-US" dirty="0"/>
              <a:t> </a:t>
            </a:r>
            <a:r>
              <a:rPr lang="en-US" dirty="0" err="1"/>
              <a:t>typy</a:t>
            </a:r>
            <a:r>
              <a:rPr lang="en-US" dirty="0"/>
              <a:t> </a:t>
            </a:r>
            <a:r>
              <a:rPr lang="en-US" dirty="0" err="1"/>
              <a:t>skóre</a:t>
            </a:r>
            <a:r>
              <a:rPr lang="en-US" dirty="0"/>
              <a:t> a </a:t>
            </a:r>
            <a:r>
              <a:rPr lang="en-US" dirty="0" err="1"/>
              <a:t>nakonec</a:t>
            </a:r>
            <a:r>
              <a:rPr lang="en-US" dirty="0"/>
              <a:t> </a:t>
            </a:r>
            <a:r>
              <a:rPr lang="en-US" dirty="0" err="1"/>
              <a:t>všechno</a:t>
            </a:r>
            <a:r>
              <a:rPr lang="en-US" dirty="0"/>
              <a:t> </a:t>
            </a:r>
            <a:r>
              <a:rPr lang="en-US" dirty="0" err="1"/>
              <a:t>správně</a:t>
            </a:r>
            <a:r>
              <a:rPr lang="en-US" dirty="0"/>
              <a:t> </a:t>
            </a:r>
            <a:r>
              <a:rPr lang="en-US" dirty="0" err="1"/>
              <a:t>spojit</a:t>
            </a:r>
            <a:r>
              <a:rPr lang="en-US" dirty="0"/>
              <a:t> </a:t>
            </a:r>
            <a:r>
              <a:rPr lang="en-US" dirty="0" err="1"/>
              <a:t>pomocí</a:t>
            </a:r>
            <a:r>
              <a:rPr lang="en-US" dirty="0"/>
              <a:t> </a:t>
            </a:r>
            <a:r>
              <a:rPr lang="en-US" dirty="0" err="1"/>
              <a:t>rozhodovacích</a:t>
            </a:r>
            <a:r>
              <a:rPr lang="en-US" dirty="0"/>
              <a:t> </a:t>
            </a:r>
            <a:r>
              <a:rPr lang="en-US" dirty="0" err="1"/>
              <a:t>pravidel</a:t>
            </a:r>
            <a:r>
              <a:rPr lang="en-US" dirty="0"/>
              <a:t>. Ne </a:t>
            </a:r>
            <a:r>
              <a:rPr lang="en-US" dirty="0" err="1"/>
              <a:t>všechny</a:t>
            </a:r>
            <a:r>
              <a:rPr lang="en-US" dirty="0"/>
              <a:t> </a:t>
            </a:r>
            <a:r>
              <a:rPr lang="en-US" dirty="0" err="1"/>
              <a:t>laboratoře</a:t>
            </a:r>
            <a:r>
              <a:rPr lang="en-US" dirty="0"/>
              <a:t> </a:t>
            </a:r>
            <a:r>
              <a:rPr lang="en-US" dirty="0" err="1"/>
              <a:t>mají</a:t>
            </a:r>
            <a:r>
              <a:rPr lang="en-US" dirty="0"/>
              <a:t> </a:t>
            </a:r>
            <a:r>
              <a:rPr lang="en-US" dirty="0" err="1"/>
              <a:t>dostatek</a:t>
            </a:r>
            <a:r>
              <a:rPr lang="en-US" dirty="0"/>
              <a:t> </a:t>
            </a:r>
            <a:r>
              <a:rPr lang="en-US" dirty="0" err="1"/>
              <a:t>času</a:t>
            </a:r>
            <a:r>
              <a:rPr lang="en-US" dirty="0"/>
              <a:t> </a:t>
            </a:r>
            <a:r>
              <a:rPr lang="en-US" dirty="0" err="1"/>
              <a:t>nebo</a:t>
            </a:r>
            <a:r>
              <a:rPr lang="en-US" dirty="0"/>
              <a:t> </a:t>
            </a:r>
            <a:r>
              <a:rPr lang="en-US" dirty="0" err="1"/>
              <a:t>potřebnou</a:t>
            </a:r>
            <a:r>
              <a:rPr lang="en-US" dirty="0"/>
              <a:t> </a:t>
            </a:r>
            <a:r>
              <a:rPr lang="en-US" dirty="0" err="1"/>
              <a:t>odbornost</a:t>
            </a:r>
            <a:r>
              <a:rPr lang="en-US" dirty="0"/>
              <a:t> </a:t>
            </a:r>
            <a:r>
              <a:rPr lang="en-US" dirty="0" err="1"/>
              <a:t>na</a:t>
            </a:r>
            <a:r>
              <a:rPr lang="en-US" dirty="0"/>
              <a:t> to, aby </a:t>
            </a:r>
            <a:r>
              <a:rPr lang="en-US" dirty="0" err="1"/>
              <a:t>klasifikaci</a:t>
            </a:r>
            <a:r>
              <a:rPr lang="en-US" dirty="0"/>
              <a:t> </a:t>
            </a:r>
            <a:r>
              <a:rPr lang="en-US" dirty="0" err="1"/>
              <a:t>prováděly</a:t>
            </a:r>
            <a:r>
              <a:rPr lang="en-US" dirty="0"/>
              <a:t> v </a:t>
            </a:r>
            <a:r>
              <a:rPr lang="en-US" dirty="0" err="1"/>
              <a:t>takové</a:t>
            </a:r>
            <a:r>
              <a:rPr lang="en-US" dirty="0"/>
              <a:t> </a:t>
            </a:r>
            <a:r>
              <a:rPr lang="en-US" dirty="0" err="1"/>
              <a:t>hloubce</a:t>
            </a:r>
            <a:r>
              <a:rPr lang="en-US" dirty="0"/>
              <a:t>, jak by </a:t>
            </a:r>
            <a:r>
              <a:rPr lang="en-US" dirty="0" err="1"/>
              <a:t>bylo</a:t>
            </a:r>
            <a:r>
              <a:rPr lang="en-US" dirty="0"/>
              <a:t> </a:t>
            </a:r>
            <a:r>
              <a:rPr lang="en-US" dirty="0" err="1"/>
              <a:t>ideální</a:t>
            </a:r>
            <a:r>
              <a:rPr lang="en-US" dirty="0"/>
              <a:t>. V </a:t>
            </a:r>
            <a:r>
              <a:rPr lang="en-US" dirty="0" err="1"/>
              <a:t>praxi</a:t>
            </a:r>
            <a:r>
              <a:rPr lang="en-US" dirty="0"/>
              <a:t> se pak </a:t>
            </a:r>
            <a:r>
              <a:rPr lang="en-US" dirty="0" err="1"/>
              <a:t>někdy</a:t>
            </a:r>
            <a:r>
              <a:rPr lang="en-US" dirty="0"/>
              <a:t> </a:t>
            </a:r>
            <a:r>
              <a:rPr lang="en-US" dirty="0" err="1"/>
              <a:t>sklouzne</a:t>
            </a:r>
            <a:r>
              <a:rPr lang="en-US" dirty="0"/>
              <a:t> k </a:t>
            </a:r>
            <a:r>
              <a:rPr lang="en-US" dirty="0" err="1"/>
              <a:t>přístupu</a:t>
            </a:r>
            <a:r>
              <a:rPr lang="en-US" dirty="0"/>
              <a:t> </a:t>
            </a:r>
            <a:r>
              <a:rPr lang="en-US" dirty="0" err="1"/>
              <a:t>typu</a:t>
            </a:r>
            <a:r>
              <a:rPr lang="en-US" dirty="0"/>
              <a:t>: </a:t>
            </a:r>
            <a:r>
              <a:rPr lang="en-US" dirty="0" err="1"/>
              <a:t>podívám</a:t>
            </a:r>
            <a:r>
              <a:rPr lang="en-US" dirty="0"/>
              <a:t> se, jak </a:t>
            </a:r>
            <a:r>
              <a:rPr lang="en-US" dirty="0" err="1"/>
              <a:t>tuto</a:t>
            </a:r>
            <a:r>
              <a:rPr lang="en-US" dirty="0"/>
              <a:t> </a:t>
            </a:r>
            <a:r>
              <a:rPr lang="en-US" dirty="0" err="1"/>
              <a:t>variantu</a:t>
            </a:r>
            <a:r>
              <a:rPr lang="en-US" dirty="0"/>
              <a:t> </a:t>
            </a:r>
            <a:r>
              <a:rPr lang="en-US" dirty="0" err="1"/>
              <a:t>hodnotili</a:t>
            </a:r>
            <a:r>
              <a:rPr lang="en-US" dirty="0"/>
              <a:t> </a:t>
            </a:r>
            <a:r>
              <a:rPr lang="en-US" dirty="0" err="1"/>
              <a:t>ostatní</a:t>
            </a:r>
            <a:r>
              <a:rPr lang="en-US" dirty="0"/>
              <a:t> v </a:t>
            </a:r>
            <a:r>
              <a:rPr lang="en-US" dirty="0" err="1"/>
              <a:t>ClinVaru</a:t>
            </a:r>
            <a:r>
              <a:rPr lang="en-US" dirty="0"/>
              <a:t>. </a:t>
            </a:r>
            <a:r>
              <a:rPr lang="en-US" dirty="0" err="1"/>
              <a:t>Tím</a:t>
            </a:r>
            <a:r>
              <a:rPr lang="en-US" dirty="0"/>
              <a:t> ale </a:t>
            </a:r>
            <a:r>
              <a:rPr lang="en-US" dirty="0" err="1"/>
              <a:t>může</a:t>
            </a:r>
            <a:r>
              <a:rPr lang="en-US" dirty="0"/>
              <a:t> </a:t>
            </a:r>
            <a:r>
              <a:rPr lang="en-US" dirty="0" err="1"/>
              <a:t>vznikat</a:t>
            </a:r>
            <a:r>
              <a:rPr lang="en-US" dirty="0"/>
              <a:t> </a:t>
            </a:r>
            <a:r>
              <a:rPr lang="en-US" dirty="0" err="1"/>
              <a:t>kruhové</a:t>
            </a:r>
            <a:r>
              <a:rPr lang="en-US" dirty="0"/>
              <a:t> </a:t>
            </a:r>
            <a:r>
              <a:rPr lang="en-US" dirty="0" err="1"/>
              <a:t>hodnocení</a:t>
            </a:r>
            <a:r>
              <a:rPr lang="en-US" dirty="0"/>
              <a:t>, </a:t>
            </a:r>
            <a:r>
              <a:rPr lang="en-US" dirty="0" err="1"/>
              <a:t>kdy</a:t>
            </a:r>
            <a:r>
              <a:rPr lang="en-US" dirty="0"/>
              <a:t> se </a:t>
            </a:r>
            <a:r>
              <a:rPr lang="en-US" dirty="0" err="1"/>
              <a:t>jednotlivé</a:t>
            </a:r>
            <a:r>
              <a:rPr lang="en-US" dirty="0"/>
              <a:t> </a:t>
            </a:r>
            <a:r>
              <a:rPr lang="en-US" dirty="0" err="1"/>
              <a:t>záznamy</a:t>
            </a:r>
            <a:r>
              <a:rPr lang="en-US" dirty="0"/>
              <a:t> </a:t>
            </a:r>
            <a:r>
              <a:rPr lang="en-US" dirty="0" err="1"/>
              <a:t>opírají</a:t>
            </a:r>
            <a:r>
              <a:rPr lang="en-US" dirty="0"/>
              <a:t> </a:t>
            </a:r>
            <a:r>
              <a:rPr lang="en-US" dirty="0" err="1"/>
              <a:t>jeden</a:t>
            </a:r>
            <a:r>
              <a:rPr lang="en-US" dirty="0"/>
              <a:t> o </a:t>
            </a:r>
            <a:r>
              <a:rPr lang="en-US" dirty="0" err="1"/>
              <a:t>druhý</a:t>
            </a:r>
            <a:r>
              <a:rPr lang="en-US" dirty="0"/>
              <a:t> </a:t>
            </a:r>
            <a:r>
              <a:rPr lang="en-US" dirty="0" err="1"/>
              <a:t>místo</a:t>
            </a:r>
            <a:r>
              <a:rPr lang="en-US" dirty="0"/>
              <a:t> o </a:t>
            </a:r>
            <a:r>
              <a:rPr lang="en-US" dirty="0" err="1"/>
              <a:t>nezávislé</a:t>
            </a:r>
            <a:r>
              <a:rPr lang="en-US" dirty="0"/>
              <a:t> </a:t>
            </a:r>
            <a:r>
              <a:rPr lang="en-US" dirty="0" err="1"/>
              <a:t>vyhodnocení</a:t>
            </a:r>
            <a:r>
              <a:rPr lang="en-US" dirty="0"/>
              <a:t> </a:t>
            </a:r>
            <a:r>
              <a:rPr lang="en-US" dirty="0" err="1"/>
              <a:t>důkazů</a:t>
            </a:r>
            <a:r>
              <a:rPr lang="en-US" dirty="0"/>
              <a:t>.</a:t>
            </a:r>
          </a:p>
          <a:p>
            <a:r>
              <a:rPr lang="en-US" dirty="0" err="1"/>
              <a:t>Lze</a:t>
            </a:r>
            <a:r>
              <a:rPr lang="en-US" dirty="0"/>
              <a:t> </a:t>
            </a:r>
            <a:r>
              <a:rPr lang="en-US" dirty="0" err="1"/>
              <a:t>zmínit</a:t>
            </a:r>
            <a:r>
              <a:rPr lang="en-US" dirty="0"/>
              <a:t> VUS, </a:t>
            </a:r>
            <a:r>
              <a:rPr lang="en-US" dirty="0" err="1"/>
              <a:t>tedy</a:t>
            </a:r>
            <a:r>
              <a:rPr lang="en-US" dirty="0"/>
              <a:t> </a:t>
            </a:r>
            <a:r>
              <a:rPr lang="en-US" dirty="0" err="1"/>
              <a:t>variantu</a:t>
            </a:r>
            <a:r>
              <a:rPr lang="en-US" dirty="0"/>
              <a:t> s </a:t>
            </a:r>
            <a:r>
              <a:rPr lang="en-US" dirty="0" err="1"/>
              <a:t>nedostatečnými</a:t>
            </a:r>
            <a:r>
              <a:rPr lang="en-US" dirty="0"/>
              <a:t> </a:t>
            </a:r>
            <a:r>
              <a:rPr lang="en-US" dirty="0" err="1"/>
              <a:t>nebo</a:t>
            </a:r>
            <a:r>
              <a:rPr lang="en-US" dirty="0"/>
              <a:t> </a:t>
            </a:r>
            <a:r>
              <a:rPr lang="en-US" dirty="0" err="1"/>
              <a:t>rozpornými</a:t>
            </a:r>
            <a:r>
              <a:rPr lang="en-US" dirty="0"/>
              <a:t> </a:t>
            </a:r>
            <a:r>
              <a:rPr lang="en-US" dirty="0" err="1"/>
              <a:t>důkazy</a:t>
            </a:r>
            <a:r>
              <a:rPr lang="en-US" dirty="0"/>
              <a:t>. </a:t>
            </a:r>
            <a:r>
              <a:rPr lang="en-US" dirty="0" err="1"/>
              <a:t>Není</a:t>
            </a:r>
            <a:r>
              <a:rPr lang="en-US" dirty="0"/>
              <a:t> </a:t>
            </a:r>
            <a:r>
              <a:rPr lang="en-US" dirty="0" err="1"/>
              <a:t>nutné</a:t>
            </a:r>
            <a:r>
              <a:rPr lang="en-US" dirty="0"/>
              <a:t> </a:t>
            </a:r>
            <a:r>
              <a:rPr lang="en-US" dirty="0" err="1"/>
              <a:t>zacházet</a:t>
            </a:r>
            <a:r>
              <a:rPr lang="en-US" dirty="0"/>
              <a:t> do </a:t>
            </a:r>
            <a:r>
              <a:rPr lang="en-US" dirty="0" err="1"/>
              <a:t>kombinatoriky</a:t>
            </a:r>
            <a:r>
              <a:rPr lang="en-US" dirty="0"/>
              <a:t> ACMG. VUS </a:t>
            </a:r>
            <a:r>
              <a:rPr lang="en-US" dirty="0" err="1"/>
              <a:t>jsou</a:t>
            </a:r>
            <a:r>
              <a:rPr lang="en-US" dirty="0"/>
              <a:t> v </a:t>
            </a:r>
            <a:r>
              <a:rPr lang="en-US" dirty="0" err="1"/>
              <a:t>současnosti</a:t>
            </a:r>
            <a:r>
              <a:rPr lang="en-US" dirty="0"/>
              <a:t> </a:t>
            </a:r>
            <a:r>
              <a:rPr lang="en-US" dirty="0" err="1"/>
              <a:t>velký</a:t>
            </a:r>
            <a:r>
              <a:rPr lang="en-US" dirty="0"/>
              <a:t> </a:t>
            </a:r>
            <a:r>
              <a:rPr lang="en-US" dirty="0" err="1"/>
              <a:t>problém</a:t>
            </a:r>
            <a:r>
              <a:rPr lang="en-US" dirty="0"/>
              <a:t>, </a:t>
            </a:r>
            <a:r>
              <a:rPr lang="en-US" dirty="0" err="1"/>
              <a:t>ať</a:t>
            </a:r>
            <a:r>
              <a:rPr lang="en-US" dirty="0"/>
              <a:t> </a:t>
            </a:r>
            <a:r>
              <a:rPr lang="en-US" dirty="0" err="1"/>
              <a:t>už</a:t>
            </a:r>
            <a:r>
              <a:rPr lang="en-US" dirty="0"/>
              <a:t> </a:t>
            </a:r>
            <a:r>
              <a:rPr lang="en-US" dirty="0" err="1"/>
              <a:t>kvůli</a:t>
            </a:r>
            <a:r>
              <a:rPr lang="en-US" dirty="0"/>
              <a:t> </a:t>
            </a:r>
            <a:r>
              <a:rPr lang="en-US" dirty="0" err="1"/>
              <a:t>nedostatku</a:t>
            </a:r>
            <a:r>
              <a:rPr lang="en-US" dirty="0"/>
              <a:t> </a:t>
            </a:r>
            <a:r>
              <a:rPr lang="en-US" dirty="0" err="1"/>
              <a:t>dat</a:t>
            </a:r>
            <a:r>
              <a:rPr lang="en-US" dirty="0"/>
              <a:t>, </a:t>
            </a:r>
            <a:r>
              <a:rPr lang="en-US" dirty="0" err="1"/>
              <a:t>nebo</a:t>
            </a:r>
            <a:r>
              <a:rPr lang="en-US" dirty="0"/>
              <a:t> </a:t>
            </a:r>
            <a:r>
              <a:rPr lang="en-US" dirty="0" err="1"/>
              <a:t>kvůli</a:t>
            </a:r>
            <a:r>
              <a:rPr lang="en-US" dirty="0"/>
              <a:t> </a:t>
            </a:r>
            <a:r>
              <a:rPr lang="en-US" dirty="0" err="1"/>
              <a:t>neúplnému</a:t>
            </a:r>
            <a:r>
              <a:rPr lang="en-US" dirty="0"/>
              <a:t> </a:t>
            </a:r>
            <a:r>
              <a:rPr lang="en-US" dirty="0" err="1"/>
              <a:t>či</a:t>
            </a:r>
            <a:r>
              <a:rPr lang="en-US" dirty="0"/>
              <a:t> </a:t>
            </a:r>
            <a:r>
              <a:rPr lang="en-US" dirty="0" err="1"/>
              <a:t>nepřesnému</a:t>
            </a:r>
            <a:r>
              <a:rPr lang="en-US" dirty="0"/>
              <a:t> </a:t>
            </a:r>
            <a:r>
              <a:rPr lang="en-US" dirty="0" err="1"/>
              <a:t>vyhodnocení</a:t>
            </a:r>
            <a:r>
              <a:rPr lang="en-US" dirty="0"/>
              <a:t> </a:t>
            </a:r>
            <a:r>
              <a:rPr lang="en-US" dirty="0" err="1"/>
              <a:t>dostupných</a:t>
            </a:r>
            <a:r>
              <a:rPr lang="en-US" dirty="0"/>
              <a:t> </a:t>
            </a:r>
            <a:r>
              <a:rPr lang="en-US" dirty="0" err="1"/>
              <a:t>důkazů</a:t>
            </a:r>
            <a:r>
              <a:rPr lang="en-US" dirty="0"/>
              <a:t>. ARIANE </a:t>
            </a:r>
            <a:r>
              <a:rPr lang="en-US" dirty="0" err="1"/>
              <a:t>může</a:t>
            </a:r>
            <a:r>
              <a:rPr lang="en-US" dirty="0"/>
              <a:t> </a:t>
            </a:r>
            <a:r>
              <a:rPr lang="en-US" dirty="0" err="1"/>
              <a:t>pomoci</a:t>
            </a:r>
            <a:r>
              <a:rPr lang="en-US" dirty="0"/>
              <a:t> v </a:t>
            </a:r>
            <a:r>
              <a:rPr lang="en-US" dirty="0" err="1"/>
              <a:t>obou</a:t>
            </a:r>
            <a:r>
              <a:rPr lang="en-US" dirty="0"/>
              <a:t> </a:t>
            </a:r>
            <a:r>
              <a:rPr lang="en-US" dirty="0" err="1"/>
              <a:t>případech</a:t>
            </a:r>
            <a:r>
              <a:rPr lang="en-US" dirty="0"/>
              <a:t> </a:t>
            </a:r>
            <a:r>
              <a:rPr lang="en-US" dirty="0" err="1"/>
              <a:t>tím</a:t>
            </a:r>
            <a:r>
              <a:rPr lang="en-US" dirty="0"/>
              <a:t>, </a:t>
            </a:r>
            <a:r>
              <a:rPr lang="en-US" dirty="0" err="1"/>
              <a:t>že</a:t>
            </a:r>
            <a:r>
              <a:rPr lang="en-US" dirty="0"/>
              <a:t> </a:t>
            </a:r>
            <a:r>
              <a:rPr lang="en-US" dirty="0" err="1"/>
              <a:t>zpřístupní</a:t>
            </a:r>
            <a:r>
              <a:rPr lang="en-US" dirty="0"/>
              <a:t> </a:t>
            </a:r>
            <a:r>
              <a:rPr lang="en-US" dirty="0" err="1"/>
              <a:t>konzistentnější</a:t>
            </a:r>
            <a:r>
              <a:rPr lang="en-US" dirty="0"/>
              <a:t> a </a:t>
            </a:r>
            <a:r>
              <a:rPr lang="en-US" dirty="0" err="1"/>
              <a:t>důkladnější</a:t>
            </a:r>
            <a:r>
              <a:rPr lang="en-US" dirty="0"/>
              <a:t> </a:t>
            </a:r>
            <a:r>
              <a:rPr lang="en-US" dirty="0" err="1"/>
              <a:t>vyhodnocení</a:t>
            </a:r>
            <a:r>
              <a:rPr lang="en-US" dirty="0"/>
              <a:t> a </a:t>
            </a:r>
            <a:r>
              <a:rPr lang="en-US" dirty="0" err="1"/>
              <a:t>potenciálně</a:t>
            </a:r>
            <a:r>
              <a:rPr lang="en-US" dirty="0"/>
              <a:t> </a:t>
            </a:r>
            <a:r>
              <a:rPr lang="en-US" dirty="0" err="1"/>
              <a:t>sníží</a:t>
            </a:r>
            <a:r>
              <a:rPr lang="en-US" dirty="0"/>
              <a:t> </a:t>
            </a:r>
            <a:r>
              <a:rPr lang="en-US" dirty="0" err="1"/>
              <a:t>počet</a:t>
            </a:r>
            <a:r>
              <a:rPr lang="en-US" dirty="0"/>
              <a:t> variant, </a:t>
            </a:r>
            <a:r>
              <a:rPr lang="en-US" dirty="0" err="1"/>
              <a:t>které</a:t>
            </a:r>
            <a:r>
              <a:rPr lang="en-US" dirty="0"/>
              <a:t> </a:t>
            </a:r>
            <a:r>
              <a:rPr lang="en-US" dirty="0" err="1"/>
              <a:t>zůstávají</a:t>
            </a:r>
            <a:r>
              <a:rPr lang="en-US" dirty="0"/>
              <a:t> </a:t>
            </a:r>
            <a:r>
              <a:rPr lang="en-US" dirty="0" err="1"/>
              <a:t>klasifikované</a:t>
            </a:r>
            <a:r>
              <a:rPr lang="en-US" dirty="0"/>
              <a:t> </a:t>
            </a:r>
            <a:r>
              <a:rPr lang="en-US" dirty="0" err="1"/>
              <a:t>jako</a:t>
            </a:r>
            <a:r>
              <a:rPr lang="en-US" dirty="0"/>
              <a:t> VUS.</a:t>
            </a:r>
          </a:p>
          <a:p>
            <a:endParaRPr lang="en-US" dirty="0"/>
          </a:p>
          <a:p>
            <a:r>
              <a:rPr lang="en-US" dirty="0"/>
              <a:t>ENIGMA je </a:t>
            </a:r>
            <a:r>
              <a:rPr lang="en-US" dirty="0" err="1"/>
              <a:t>mezinárodní</a:t>
            </a:r>
            <a:r>
              <a:rPr lang="en-US" dirty="0"/>
              <a:t> </a:t>
            </a:r>
            <a:r>
              <a:rPr lang="en-US" dirty="0" err="1"/>
              <a:t>expertní</a:t>
            </a:r>
            <a:r>
              <a:rPr lang="en-US" dirty="0"/>
              <a:t> panel, </a:t>
            </a:r>
            <a:r>
              <a:rPr lang="en-US" dirty="0" err="1"/>
              <a:t>který</a:t>
            </a:r>
            <a:r>
              <a:rPr lang="en-US" dirty="0"/>
              <a:t> </a:t>
            </a:r>
            <a:r>
              <a:rPr lang="en-US" dirty="0" err="1"/>
              <a:t>pravidla</a:t>
            </a:r>
            <a:r>
              <a:rPr lang="en-US" dirty="0"/>
              <a:t> </a:t>
            </a:r>
            <a:r>
              <a:rPr lang="en-US" dirty="0" err="1"/>
              <a:t>zpřesnil</a:t>
            </a:r>
            <a:r>
              <a:rPr lang="en-US" dirty="0"/>
              <a:t> pro BRCA1 a BRCA2.</a:t>
            </a:r>
          </a:p>
          <a:p>
            <a:endParaRPr lang="en-US" dirty="0"/>
          </a:p>
          <a:p>
            <a:r>
              <a:rPr lang="en-US" dirty="0" err="1"/>
              <a:t>Poslední</a:t>
            </a:r>
            <a:r>
              <a:rPr lang="en-US" dirty="0"/>
              <a:t> box je </a:t>
            </a:r>
            <a:r>
              <a:rPr lang="en-US" dirty="0" err="1"/>
              <a:t>přechod</a:t>
            </a:r>
            <a:r>
              <a:rPr lang="en-US" dirty="0"/>
              <a:t> </a:t>
            </a:r>
            <a:r>
              <a:rPr lang="en-US" dirty="0" err="1"/>
              <a:t>na</a:t>
            </a:r>
            <a:r>
              <a:rPr lang="en-US" dirty="0"/>
              <a:t> </a:t>
            </a:r>
            <a:r>
              <a:rPr lang="en-US" dirty="0" err="1"/>
              <a:t>další</a:t>
            </a:r>
            <a:r>
              <a:rPr lang="en-US" dirty="0"/>
              <a:t> slide: </a:t>
            </a:r>
            <a:r>
              <a:rPr lang="en-US" dirty="0" err="1"/>
              <a:t>část</a:t>
            </a:r>
            <a:r>
              <a:rPr lang="en-US" dirty="0"/>
              <a:t> evidence </a:t>
            </a:r>
            <a:r>
              <a:rPr lang="en-US" dirty="0" err="1"/>
              <a:t>lze</a:t>
            </a:r>
            <a:r>
              <a:rPr lang="en-US" dirty="0"/>
              <a:t> </a:t>
            </a:r>
            <a:r>
              <a:rPr lang="en-US" dirty="0" err="1"/>
              <a:t>zpracovat</a:t>
            </a:r>
            <a:r>
              <a:rPr lang="en-US" dirty="0"/>
              <a:t> </a:t>
            </a:r>
            <a:r>
              <a:rPr lang="en-US" dirty="0" err="1"/>
              <a:t>automaticky</a:t>
            </a:r>
            <a:r>
              <a:rPr lang="en-US" dirty="0"/>
              <a:t> a </a:t>
            </a:r>
            <a:r>
              <a:rPr lang="en-US" dirty="0" err="1"/>
              <a:t>část</a:t>
            </a:r>
            <a:r>
              <a:rPr lang="en-US" dirty="0"/>
              <a:t> </a:t>
            </a:r>
            <a:r>
              <a:rPr lang="en-US" dirty="0" err="1"/>
              <a:t>stále</a:t>
            </a:r>
            <a:r>
              <a:rPr lang="en-US" dirty="0"/>
              <a:t> </a:t>
            </a:r>
            <a:r>
              <a:rPr lang="en-US" dirty="0" err="1"/>
              <a:t>vyžaduje</a:t>
            </a:r>
            <a:r>
              <a:rPr lang="en-US" dirty="0"/>
              <a:t> </a:t>
            </a:r>
            <a:r>
              <a:rPr lang="en-US" dirty="0" err="1"/>
              <a:t>ruční</a:t>
            </a:r>
            <a:r>
              <a:rPr lang="en-US" dirty="0"/>
              <a:t> </a:t>
            </a:r>
            <a:r>
              <a:rPr lang="en-US" dirty="0" err="1"/>
              <a:t>odborné</a:t>
            </a:r>
            <a:r>
              <a:rPr lang="en-US" dirty="0"/>
              <a:t> </a:t>
            </a:r>
            <a:r>
              <a:rPr lang="en-US" dirty="0" err="1"/>
              <a:t>posouzení</a:t>
            </a:r>
            <a:r>
              <a:rPr lang="en-US" dirty="0"/>
              <a:t>.</a:t>
            </a:r>
          </a:p>
        </p:txBody>
      </p:sp>
      <p:sp>
        <p:nvSpPr>
          <p:cNvPr id="4" name="Slide Number Placeholder 3">
            <a:extLst>
              <a:ext uri="{FF2B5EF4-FFF2-40B4-BE49-F238E27FC236}">
                <a16:creationId xmlns:a16="http://schemas.microsoft.com/office/drawing/2014/main" id="{7E6ED98A-8032-1ECE-5AD0-D5FB9F7CD18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56690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Tady zdůraznit, že ARIANE už je funkční aplikace, ne návrh nebo pilot.
</a:t>
            </a:r>
            <a:r>
              <a:rPr lang="en-US"/>
              <a:t>
Aplikace</a:t>
            </a:r>
            <a:r>
              <a:rPr lang="en-US" dirty="0"/>
              <a:t> automatizuje jen ta kritéria, která lze spolehlivě vyhodnotit z dostupných dat.
BRCA1 a BRCA2 jsou </a:t>
            </a:r>
            <a:r>
              <a:rPr lang="en-US" dirty="0" err="1"/>
              <a:t>první</a:t>
            </a:r>
            <a:r>
              <a:rPr lang="en-US" dirty="0"/>
              <a:t> </a:t>
            </a:r>
            <a:r>
              <a:rPr lang="en-US" dirty="0" err="1"/>
              <a:t>implementace</a:t>
            </a:r>
            <a:r>
              <a:rPr lang="en-US" dirty="0"/>
              <a:t>. Jsou vhodné pro začátek, protože mají detailně popsaná expertní pravidla a velké množství dostupných dat.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Hlavní sdělení: první část projektu už automatizuje pravidla založená na strukturovaných datech. Další fáze míří na evidenci, která se skrývá v publikacích.
AI </a:t>
            </a:r>
            <a:r>
              <a:rPr lang="en-US" dirty="0" err="1"/>
              <a:t>není</a:t>
            </a:r>
            <a:r>
              <a:rPr lang="en-US" dirty="0"/>
              <a:t> </a:t>
            </a:r>
            <a:r>
              <a:rPr lang="en-US" dirty="0" err="1"/>
              <a:t>není</a:t>
            </a:r>
            <a:r>
              <a:rPr lang="en-US" dirty="0"/>
              <a:t> to </a:t>
            </a:r>
            <a:r>
              <a:rPr lang="en-US" dirty="0" err="1"/>
              <a:t>hlavní</a:t>
            </a:r>
            <a:r>
              <a:rPr lang="en-US" dirty="0"/>
              <a:t> I </a:t>
            </a:r>
            <a:r>
              <a:rPr lang="en-US" dirty="0" err="1"/>
              <a:t>když</a:t>
            </a:r>
            <a:r>
              <a:rPr lang="en-US" dirty="0"/>
              <a:t> je to buzzword. Jazykové modely jsou prostředek pro vyhledání a strukturování evidence, nikoli náhrada </a:t>
            </a:r>
            <a:r>
              <a:rPr lang="en-US" dirty="0" err="1"/>
              <a:t>odborného</a:t>
            </a:r>
            <a:r>
              <a:rPr lang="en-US" dirty="0"/>
              <a:t> </a:t>
            </a:r>
            <a:r>
              <a:rPr lang="en-US" dirty="0" err="1"/>
              <a:t>rozhodnutí</a:t>
            </a:r>
            <a:r>
              <a:rPr lang="en-US" dirty="0"/>
              <a:t> – </a:t>
            </a:r>
            <a:r>
              <a:rPr lang="en-US" dirty="0" err="1"/>
              <a:t>tohle</a:t>
            </a:r>
            <a:r>
              <a:rPr lang="en-US" dirty="0"/>
              <a:t> je </a:t>
            </a:r>
            <a:r>
              <a:rPr lang="en-US" dirty="0" err="1"/>
              <a:t>hrozně</a:t>
            </a:r>
            <a:r>
              <a:rPr lang="en-US" dirty="0"/>
              <a:t> </a:t>
            </a:r>
            <a:r>
              <a:rPr lang="en-US" dirty="0" err="1"/>
              <a:t>důležité</a:t>
            </a:r>
            <a:r>
              <a:rPr lang="en-US" dirty="0"/>
              <a:t> I z </a:t>
            </a:r>
            <a:r>
              <a:rPr lang="en-US" dirty="0" err="1"/>
              <a:t>etických</a:t>
            </a:r>
            <a:r>
              <a:rPr lang="en-US" dirty="0"/>
              <a:t> </a:t>
            </a:r>
            <a:r>
              <a:rPr lang="en-US" dirty="0" err="1"/>
              <a:t>důvodů</a:t>
            </a:r>
            <a:r>
              <a:rPr lang="en-US" dirty="0"/>
              <a:t>.
Zdůraznit dohledatelnost: každý vytěžený údaj má zůstat propojený s původním zdrojem a má být předložen expertovi k posouzení.
BRCA1 a BRCA2 </a:t>
            </a:r>
            <a:r>
              <a:rPr lang="en-US" dirty="0" err="1"/>
              <a:t>jsou</a:t>
            </a:r>
            <a:r>
              <a:rPr lang="en-US" dirty="0"/>
              <a:t> </a:t>
            </a:r>
            <a:r>
              <a:rPr lang="en-US" dirty="0" err="1"/>
              <a:t>vhodný</a:t>
            </a:r>
            <a:r>
              <a:rPr lang="en-US" dirty="0"/>
              <a:t> první případ, protože existuje dostatek ručně zkurátorované literatury, proti které lze systém vyvíjet a hodnotit.
Dlouhodobě má jít o obecný rámec, který lze rozšířit na další geny podle dostupnosti kvalitních genově specifických pravidel.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FAF38C-FF42-4CB1-B9EA-0EB5B95EB83F}" type="slidenum">
              <a:rPr lang="en-US" smtClean="0"/>
              <a:t>6</a:t>
            </a:fld>
            <a:endParaRPr lang="en-US"/>
          </a:p>
        </p:txBody>
      </p:sp>
    </p:spTree>
    <p:extLst>
      <p:ext uri="{BB962C8B-B14F-4D97-AF65-F5344CB8AC3E}">
        <p14:creationId xmlns:p14="http://schemas.microsoft.com/office/powerpoint/2010/main" val="2055046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77635-F53D-254D-DF64-6E2B88D384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9AB681D-CB6F-0EB7-DBD9-49B27D1A8B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6887EF-2B17-1196-0543-CA934508D430}"/>
              </a:ext>
            </a:extLst>
          </p:cNvPr>
          <p:cNvSpPr>
            <a:spLocks noGrp="1"/>
          </p:cNvSpPr>
          <p:nvPr>
            <p:ph type="dt" sz="half" idx="10"/>
          </p:nvPr>
        </p:nvSpPr>
        <p:spPr/>
        <p:txBody>
          <a:bodyPr/>
          <a:lstStyle/>
          <a:p>
            <a:fld id="{56C7C647-8E80-4E6F-93AF-5D50231B1C81}" type="datetimeFigureOut">
              <a:rPr lang="en-US" smtClean="0"/>
              <a:t>9/2/2026</a:t>
            </a:fld>
            <a:endParaRPr lang="en-US"/>
          </a:p>
        </p:txBody>
      </p:sp>
      <p:sp>
        <p:nvSpPr>
          <p:cNvPr id="5" name="Footer Placeholder 4">
            <a:extLst>
              <a:ext uri="{FF2B5EF4-FFF2-40B4-BE49-F238E27FC236}">
                <a16:creationId xmlns:a16="http://schemas.microsoft.com/office/drawing/2014/main" id="{7D5605FC-4F2B-684E-B502-CF6CF64FC1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048A62-2F04-A103-51F3-F01A55153633}"/>
              </a:ext>
            </a:extLst>
          </p:cNvPr>
          <p:cNvSpPr>
            <a:spLocks noGrp="1"/>
          </p:cNvSpPr>
          <p:nvPr>
            <p:ph type="sldNum" sz="quarter" idx="12"/>
          </p:nvPr>
        </p:nvSpPr>
        <p:spPr/>
        <p:txBody>
          <a:bodyPr/>
          <a:lstStyle/>
          <a:p>
            <a:fld id="{CF403D7B-CA60-4432-BAC4-2C579961A6C8}" type="slidenum">
              <a:rPr lang="en-US" smtClean="0"/>
              <a:t>‹#›</a:t>
            </a:fld>
            <a:endParaRPr lang="en-US"/>
          </a:p>
        </p:txBody>
      </p:sp>
    </p:spTree>
    <p:extLst>
      <p:ext uri="{BB962C8B-B14F-4D97-AF65-F5344CB8AC3E}">
        <p14:creationId xmlns:p14="http://schemas.microsoft.com/office/powerpoint/2010/main" val="1758270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41E42-734E-5B6A-23F3-D98A36EDE3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4BCDF4-AF54-F4E3-EB9E-E367E7671E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F07185-B8A8-7B11-2F8B-3C6653A814AF}"/>
              </a:ext>
            </a:extLst>
          </p:cNvPr>
          <p:cNvSpPr>
            <a:spLocks noGrp="1"/>
          </p:cNvSpPr>
          <p:nvPr>
            <p:ph type="dt" sz="half" idx="10"/>
          </p:nvPr>
        </p:nvSpPr>
        <p:spPr/>
        <p:txBody>
          <a:bodyPr/>
          <a:lstStyle/>
          <a:p>
            <a:fld id="{56C7C647-8E80-4E6F-93AF-5D50231B1C81}" type="datetimeFigureOut">
              <a:rPr lang="en-US" smtClean="0"/>
              <a:t>9/2/2026</a:t>
            </a:fld>
            <a:endParaRPr lang="en-US"/>
          </a:p>
        </p:txBody>
      </p:sp>
      <p:sp>
        <p:nvSpPr>
          <p:cNvPr id="5" name="Footer Placeholder 4">
            <a:extLst>
              <a:ext uri="{FF2B5EF4-FFF2-40B4-BE49-F238E27FC236}">
                <a16:creationId xmlns:a16="http://schemas.microsoft.com/office/drawing/2014/main" id="{AF9071C3-BE86-C8BD-180B-2C960C76F9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3DC4F-36D4-D651-508C-609377974C62}"/>
              </a:ext>
            </a:extLst>
          </p:cNvPr>
          <p:cNvSpPr>
            <a:spLocks noGrp="1"/>
          </p:cNvSpPr>
          <p:nvPr>
            <p:ph type="sldNum" sz="quarter" idx="12"/>
          </p:nvPr>
        </p:nvSpPr>
        <p:spPr/>
        <p:txBody>
          <a:bodyPr/>
          <a:lstStyle/>
          <a:p>
            <a:fld id="{CF403D7B-CA60-4432-BAC4-2C579961A6C8}" type="slidenum">
              <a:rPr lang="en-US" smtClean="0"/>
              <a:t>‹#›</a:t>
            </a:fld>
            <a:endParaRPr lang="en-US"/>
          </a:p>
        </p:txBody>
      </p:sp>
    </p:spTree>
    <p:extLst>
      <p:ext uri="{BB962C8B-B14F-4D97-AF65-F5344CB8AC3E}">
        <p14:creationId xmlns:p14="http://schemas.microsoft.com/office/powerpoint/2010/main" val="985878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2795C-8DC8-BC8B-3D02-120D0EF7E3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1AB956-055D-113D-A07F-C0112A6ECE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E240A4-E289-098C-0F29-AFF5925636CF}"/>
              </a:ext>
            </a:extLst>
          </p:cNvPr>
          <p:cNvSpPr>
            <a:spLocks noGrp="1"/>
          </p:cNvSpPr>
          <p:nvPr>
            <p:ph type="dt" sz="half" idx="10"/>
          </p:nvPr>
        </p:nvSpPr>
        <p:spPr/>
        <p:txBody>
          <a:bodyPr/>
          <a:lstStyle/>
          <a:p>
            <a:fld id="{56C7C647-8E80-4E6F-93AF-5D50231B1C81}" type="datetimeFigureOut">
              <a:rPr lang="en-US" smtClean="0"/>
              <a:t>9/2/2026</a:t>
            </a:fld>
            <a:endParaRPr lang="en-US"/>
          </a:p>
        </p:txBody>
      </p:sp>
      <p:sp>
        <p:nvSpPr>
          <p:cNvPr id="5" name="Footer Placeholder 4">
            <a:extLst>
              <a:ext uri="{FF2B5EF4-FFF2-40B4-BE49-F238E27FC236}">
                <a16:creationId xmlns:a16="http://schemas.microsoft.com/office/drawing/2014/main" id="{9039B794-0651-5489-41D7-70A7069135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B68022-FD59-1FB9-8CD5-E4C190036815}"/>
              </a:ext>
            </a:extLst>
          </p:cNvPr>
          <p:cNvSpPr>
            <a:spLocks noGrp="1"/>
          </p:cNvSpPr>
          <p:nvPr>
            <p:ph type="sldNum" sz="quarter" idx="12"/>
          </p:nvPr>
        </p:nvSpPr>
        <p:spPr/>
        <p:txBody>
          <a:bodyPr/>
          <a:lstStyle/>
          <a:p>
            <a:fld id="{CF403D7B-CA60-4432-BAC4-2C579961A6C8}" type="slidenum">
              <a:rPr lang="en-US" smtClean="0"/>
              <a:t>‹#›</a:t>
            </a:fld>
            <a:endParaRPr lang="en-US"/>
          </a:p>
        </p:txBody>
      </p:sp>
    </p:spTree>
    <p:extLst>
      <p:ext uri="{BB962C8B-B14F-4D97-AF65-F5344CB8AC3E}">
        <p14:creationId xmlns:p14="http://schemas.microsoft.com/office/powerpoint/2010/main" val="3896226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0E961-8F74-D8AE-6A6B-796E41E563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E76044-9F29-F764-64E1-6DBE087916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F5E954-6D37-C586-071E-2F89F2E4EC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7EB409-72BE-2197-823A-D4DA62D939AA}"/>
              </a:ext>
            </a:extLst>
          </p:cNvPr>
          <p:cNvSpPr>
            <a:spLocks noGrp="1"/>
          </p:cNvSpPr>
          <p:nvPr>
            <p:ph type="dt" sz="half" idx="10"/>
          </p:nvPr>
        </p:nvSpPr>
        <p:spPr/>
        <p:txBody>
          <a:bodyPr/>
          <a:lstStyle/>
          <a:p>
            <a:fld id="{56C7C647-8E80-4E6F-93AF-5D50231B1C81}" type="datetimeFigureOut">
              <a:rPr lang="en-US" smtClean="0"/>
              <a:t>9/2/2026</a:t>
            </a:fld>
            <a:endParaRPr lang="en-US"/>
          </a:p>
        </p:txBody>
      </p:sp>
      <p:sp>
        <p:nvSpPr>
          <p:cNvPr id="6" name="Footer Placeholder 5">
            <a:extLst>
              <a:ext uri="{FF2B5EF4-FFF2-40B4-BE49-F238E27FC236}">
                <a16:creationId xmlns:a16="http://schemas.microsoft.com/office/drawing/2014/main" id="{1F56372A-031F-A125-A90F-A28FDBC519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C19DB1-8714-50E7-01CD-1473FAE21B08}"/>
              </a:ext>
            </a:extLst>
          </p:cNvPr>
          <p:cNvSpPr>
            <a:spLocks noGrp="1"/>
          </p:cNvSpPr>
          <p:nvPr>
            <p:ph type="sldNum" sz="quarter" idx="12"/>
          </p:nvPr>
        </p:nvSpPr>
        <p:spPr/>
        <p:txBody>
          <a:bodyPr/>
          <a:lstStyle/>
          <a:p>
            <a:fld id="{CF403D7B-CA60-4432-BAC4-2C579961A6C8}" type="slidenum">
              <a:rPr lang="en-US" smtClean="0"/>
              <a:t>‹#›</a:t>
            </a:fld>
            <a:endParaRPr lang="en-US"/>
          </a:p>
        </p:txBody>
      </p:sp>
    </p:spTree>
    <p:extLst>
      <p:ext uri="{BB962C8B-B14F-4D97-AF65-F5344CB8AC3E}">
        <p14:creationId xmlns:p14="http://schemas.microsoft.com/office/powerpoint/2010/main" val="500263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75044-1BF0-9871-3303-B046259DA9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56856D-291B-EA53-ACF8-1DB6C957AF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54FB2A-594F-8060-66C2-E88DCB74C3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293A9E-9B5E-EAEA-4225-C56743B18A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15BAA0-4A93-3D71-0D3F-6D4DBB2E98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86BFF1-1891-F9C5-816F-2E3845AA87F1}"/>
              </a:ext>
            </a:extLst>
          </p:cNvPr>
          <p:cNvSpPr>
            <a:spLocks noGrp="1"/>
          </p:cNvSpPr>
          <p:nvPr>
            <p:ph type="dt" sz="half" idx="10"/>
          </p:nvPr>
        </p:nvSpPr>
        <p:spPr/>
        <p:txBody>
          <a:bodyPr/>
          <a:lstStyle/>
          <a:p>
            <a:fld id="{56C7C647-8E80-4E6F-93AF-5D50231B1C81}" type="datetimeFigureOut">
              <a:rPr lang="en-US" smtClean="0"/>
              <a:t>9/2/2026</a:t>
            </a:fld>
            <a:endParaRPr lang="en-US"/>
          </a:p>
        </p:txBody>
      </p:sp>
      <p:sp>
        <p:nvSpPr>
          <p:cNvPr id="8" name="Footer Placeholder 7">
            <a:extLst>
              <a:ext uri="{FF2B5EF4-FFF2-40B4-BE49-F238E27FC236}">
                <a16:creationId xmlns:a16="http://schemas.microsoft.com/office/drawing/2014/main" id="{907A3515-49DE-89F6-E61E-A0F3793B21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3ADC78-A842-F0C2-6371-6DD1C88B0EFD}"/>
              </a:ext>
            </a:extLst>
          </p:cNvPr>
          <p:cNvSpPr>
            <a:spLocks noGrp="1"/>
          </p:cNvSpPr>
          <p:nvPr>
            <p:ph type="sldNum" sz="quarter" idx="12"/>
          </p:nvPr>
        </p:nvSpPr>
        <p:spPr/>
        <p:txBody>
          <a:bodyPr/>
          <a:lstStyle/>
          <a:p>
            <a:fld id="{CF403D7B-CA60-4432-BAC4-2C579961A6C8}" type="slidenum">
              <a:rPr lang="en-US" smtClean="0"/>
              <a:t>‹#›</a:t>
            </a:fld>
            <a:endParaRPr lang="en-US"/>
          </a:p>
        </p:txBody>
      </p:sp>
    </p:spTree>
    <p:extLst>
      <p:ext uri="{BB962C8B-B14F-4D97-AF65-F5344CB8AC3E}">
        <p14:creationId xmlns:p14="http://schemas.microsoft.com/office/powerpoint/2010/main" val="1924608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4C337-7A55-1112-4399-62CD5B7B5F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AF0002-3850-B8A7-77B5-3233D7123238}"/>
              </a:ext>
            </a:extLst>
          </p:cNvPr>
          <p:cNvSpPr>
            <a:spLocks noGrp="1"/>
          </p:cNvSpPr>
          <p:nvPr>
            <p:ph type="dt" sz="half" idx="10"/>
          </p:nvPr>
        </p:nvSpPr>
        <p:spPr/>
        <p:txBody>
          <a:bodyPr/>
          <a:lstStyle/>
          <a:p>
            <a:fld id="{56C7C647-8E80-4E6F-93AF-5D50231B1C81}" type="datetimeFigureOut">
              <a:rPr lang="en-US" smtClean="0"/>
              <a:t>9/2/2026</a:t>
            </a:fld>
            <a:endParaRPr lang="en-US"/>
          </a:p>
        </p:txBody>
      </p:sp>
      <p:sp>
        <p:nvSpPr>
          <p:cNvPr id="4" name="Footer Placeholder 3">
            <a:extLst>
              <a:ext uri="{FF2B5EF4-FFF2-40B4-BE49-F238E27FC236}">
                <a16:creationId xmlns:a16="http://schemas.microsoft.com/office/drawing/2014/main" id="{C1827681-5719-007E-8782-EEA9E2F3F3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55115B-D425-7BE8-DD9B-028768475588}"/>
              </a:ext>
            </a:extLst>
          </p:cNvPr>
          <p:cNvSpPr>
            <a:spLocks noGrp="1"/>
          </p:cNvSpPr>
          <p:nvPr>
            <p:ph type="sldNum" sz="quarter" idx="12"/>
          </p:nvPr>
        </p:nvSpPr>
        <p:spPr/>
        <p:txBody>
          <a:bodyPr/>
          <a:lstStyle/>
          <a:p>
            <a:fld id="{CF403D7B-CA60-4432-BAC4-2C579961A6C8}" type="slidenum">
              <a:rPr lang="en-US" smtClean="0"/>
              <a:t>‹#›</a:t>
            </a:fld>
            <a:endParaRPr lang="en-US"/>
          </a:p>
        </p:txBody>
      </p:sp>
    </p:spTree>
    <p:extLst>
      <p:ext uri="{BB962C8B-B14F-4D97-AF65-F5344CB8AC3E}">
        <p14:creationId xmlns:p14="http://schemas.microsoft.com/office/powerpoint/2010/main" val="1810087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E47C36-5AA9-CEF8-1665-79195D4E004A}"/>
              </a:ext>
            </a:extLst>
          </p:cNvPr>
          <p:cNvSpPr>
            <a:spLocks noGrp="1"/>
          </p:cNvSpPr>
          <p:nvPr>
            <p:ph type="dt" sz="half" idx="10"/>
          </p:nvPr>
        </p:nvSpPr>
        <p:spPr/>
        <p:txBody>
          <a:bodyPr/>
          <a:lstStyle/>
          <a:p>
            <a:fld id="{56C7C647-8E80-4E6F-93AF-5D50231B1C81}" type="datetimeFigureOut">
              <a:rPr lang="en-US" smtClean="0"/>
              <a:t>9/2/2026</a:t>
            </a:fld>
            <a:endParaRPr lang="en-US"/>
          </a:p>
        </p:txBody>
      </p:sp>
      <p:sp>
        <p:nvSpPr>
          <p:cNvPr id="3" name="Footer Placeholder 2">
            <a:extLst>
              <a:ext uri="{FF2B5EF4-FFF2-40B4-BE49-F238E27FC236}">
                <a16:creationId xmlns:a16="http://schemas.microsoft.com/office/drawing/2014/main" id="{6BC01FB0-5380-92C0-0C95-5E49317DCB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4B1854-4AD2-1E25-EFA0-425CE32AFFC2}"/>
              </a:ext>
            </a:extLst>
          </p:cNvPr>
          <p:cNvSpPr>
            <a:spLocks noGrp="1"/>
          </p:cNvSpPr>
          <p:nvPr>
            <p:ph type="sldNum" sz="quarter" idx="12"/>
          </p:nvPr>
        </p:nvSpPr>
        <p:spPr/>
        <p:txBody>
          <a:bodyPr/>
          <a:lstStyle/>
          <a:p>
            <a:fld id="{CF403D7B-CA60-4432-BAC4-2C579961A6C8}" type="slidenum">
              <a:rPr lang="en-US" smtClean="0"/>
              <a:t>‹#›</a:t>
            </a:fld>
            <a:endParaRPr lang="en-US"/>
          </a:p>
        </p:txBody>
      </p:sp>
    </p:spTree>
    <p:extLst>
      <p:ext uri="{BB962C8B-B14F-4D97-AF65-F5344CB8AC3E}">
        <p14:creationId xmlns:p14="http://schemas.microsoft.com/office/powerpoint/2010/main" val="3025516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03128-1A3C-51AC-3A3D-34B94DDB1B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75FDFD-9D93-29C4-775E-4E914BFD07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145E4F-F22B-9C72-1A3F-4DFDF4E04B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5E7654-D0A8-8B83-8E22-2E2EBF4AB957}"/>
              </a:ext>
            </a:extLst>
          </p:cNvPr>
          <p:cNvSpPr>
            <a:spLocks noGrp="1"/>
          </p:cNvSpPr>
          <p:nvPr>
            <p:ph type="dt" sz="half" idx="10"/>
          </p:nvPr>
        </p:nvSpPr>
        <p:spPr/>
        <p:txBody>
          <a:bodyPr/>
          <a:lstStyle/>
          <a:p>
            <a:fld id="{56C7C647-8E80-4E6F-93AF-5D50231B1C81}" type="datetimeFigureOut">
              <a:rPr lang="en-US" smtClean="0"/>
              <a:t>9/2/2026</a:t>
            </a:fld>
            <a:endParaRPr lang="en-US"/>
          </a:p>
        </p:txBody>
      </p:sp>
      <p:sp>
        <p:nvSpPr>
          <p:cNvPr id="6" name="Footer Placeholder 5">
            <a:extLst>
              <a:ext uri="{FF2B5EF4-FFF2-40B4-BE49-F238E27FC236}">
                <a16:creationId xmlns:a16="http://schemas.microsoft.com/office/drawing/2014/main" id="{7CBD2650-9342-D342-1E2D-D2A2459909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C7C5DB-E57B-6E96-FC24-8D701A82F14D}"/>
              </a:ext>
            </a:extLst>
          </p:cNvPr>
          <p:cNvSpPr>
            <a:spLocks noGrp="1"/>
          </p:cNvSpPr>
          <p:nvPr>
            <p:ph type="sldNum" sz="quarter" idx="12"/>
          </p:nvPr>
        </p:nvSpPr>
        <p:spPr/>
        <p:txBody>
          <a:bodyPr/>
          <a:lstStyle/>
          <a:p>
            <a:fld id="{CF403D7B-CA60-4432-BAC4-2C579961A6C8}" type="slidenum">
              <a:rPr lang="en-US" smtClean="0"/>
              <a:t>‹#›</a:t>
            </a:fld>
            <a:endParaRPr lang="en-US"/>
          </a:p>
        </p:txBody>
      </p:sp>
    </p:spTree>
    <p:extLst>
      <p:ext uri="{BB962C8B-B14F-4D97-AF65-F5344CB8AC3E}">
        <p14:creationId xmlns:p14="http://schemas.microsoft.com/office/powerpoint/2010/main" val="322800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814B1-3803-7C04-B2F0-71233CF6CB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A07591-4661-D278-D026-EA17A7F6BF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521F19-020B-DE0E-F4E9-16975E9640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AC0240-1E56-CD5F-691C-C1056F5DD528}"/>
              </a:ext>
            </a:extLst>
          </p:cNvPr>
          <p:cNvSpPr>
            <a:spLocks noGrp="1"/>
          </p:cNvSpPr>
          <p:nvPr>
            <p:ph type="dt" sz="half" idx="10"/>
          </p:nvPr>
        </p:nvSpPr>
        <p:spPr/>
        <p:txBody>
          <a:bodyPr/>
          <a:lstStyle/>
          <a:p>
            <a:fld id="{56C7C647-8E80-4E6F-93AF-5D50231B1C81}" type="datetimeFigureOut">
              <a:rPr lang="en-US" smtClean="0"/>
              <a:t>9/2/2026</a:t>
            </a:fld>
            <a:endParaRPr lang="en-US"/>
          </a:p>
        </p:txBody>
      </p:sp>
      <p:sp>
        <p:nvSpPr>
          <p:cNvPr id="6" name="Footer Placeholder 5">
            <a:extLst>
              <a:ext uri="{FF2B5EF4-FFF2-40B4-BE49-F238E27FC236}">
                <a16:creationId xmlns:a16="http://schemas.microsoft.com/office/drawing/2014/main" id="{1C648294-4BE7-3C55-4605-4B0C19A898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895A9A-0533-837F-06FB-2CEA04A31C82}"/>
              </a:ext>
            </a:extLst>
          </p:cNvPr>
          <p:cNvSpPr>
            <a:spLocks noGrp="1"/>
          </p:cNvSpPr>
          <p:nvPr>
            <p:ph type="sldNum" sz="quarter" idx="12"/>
          </p:nvPr>
        </p:nvSpPr>
        <p:spPr/>
        <p:txBody>
          <a:bodyPr/>
          <a:lstStyle/>
          <a:p>
            <a:fld id="{CF403D7B-CA60-4432-BAC4-2C579961A6C8}" type="slidenum">
              <a:rPr lang="en-US" smtClean="0"/>
              <a:t>‹#›</a:t>
            </a:fld>
            <a:endParaRPr lang="en-US"/>
          </a:p>
        </p:txBody>
      </p:sp>
    </p:spTree>
    <p:extLst>
      <p:ext uri="{BB962C8B-B14F-4D97-AF65-F5344CB8AC3E}">
        <p14:creationId xmlns:p14="http://schemas.microsoft.com/office/powerpoint/2010/main" val="2483175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33C55-4494-7EA5-ECBE-D095BCC40BA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12B577-CCEB-1C9F-302E-83266F8DBC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15AB17-B6E5-0326-738A-FCBB485C3558}"/>
              </a:ext>
            </a:extLst>
          </p:cNvPr>
          <p:cNvSpPr>
            <a:spLocks noGrp="1"/>
          </p:cNvSpPr>
          <p:nvPr>
            <p:ph type="dt" sz="half" idx="10"/>
          </p:nvPr>
        </p:nvSpPr>
        <p:spPr/>
        <p:txBody>
          <a:bodyPr/>
          <a:lstStyle/>
          <a:p>
            <a:fld id="{56C7C647-8E80-4E6F-93AF-5D50231B1C81}" type="datetimeFigureOut">
              <a:rPr lang="en-US" smtClean="0"/>
              <a:t>9/2/2026</a:t>
            </a:fld>
            <a:endParaRPr lang="en-US"/>
          </a:p>
        </p:txBody>
      </p:sp>
      <p:sp>
        <p:nvSpPr>
          <p:cNvPr id="5" name="Footer Placeholder 4">
            <a:extLst>
              <a:ext uri="{FF2B5EF4-FFF2-40B4-BE49-F238E27FC236}">
                <a16:creationId xmlns:a16="http://schemas.microsoft.com/office/drawing/2014/main" id="{F6917E6E-39F1-4AAB-DAD1-B504B95EFC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48E69B-98EE-0731-6AF8-1CA25517CA75}"/>
              </a:ext>
            </a:extLst>
          </p:cNvPr>
          <p:cNvSpPr>
            <a:spLocks noGrp="1"/>
          </p:cNvSpPr>
          <p:nvPr>
            <p:ph type="sldNum" sz="quarter" idx="12"/>
          </p:nvPr>
        </p:nvSpPr>
        <p:spPr/>
        <p:txBody>
          <a:bodyPr/>
          <a:lstStyle/>
          <a:p>
            <a:fld id="{CF403D7B-CA60-4432-BAC4-2C579961A6C8}" type="slidenum">
              <a:rPr lang="en-US" smtClean="0"/>
              <a:t>‹#›</a:t>
            </a:fld>
            <a:endParaRPr lang="en-US"/>
          </a:p>
        </p:txBody>
      </p:sp>
    </p:spTree>
    <p:extLst>
      <p:ext uri="{BB962C8B-B14F-4D97-AF65-F5344CB8AC3E}">
        <p14:creationId xmlns:p14="http://schemas.microsoft.com/office/powerpoint/2010/main" val="2423094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94C513-C677-EB7D-DDDA-AEAAACCBCF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32F261-12BE-F948-AE5A-9E56C6A72C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25183B-99DB-BACF-B449-2427BE0FB0A6}"/>
              </a:ext>
            </a:extLst>
          </p:cNvPr>
          <p:cNvSpPr>
            <a:spLocks noGrp="1"/>
          </p:cNvSpPr>
          <p:nvPr>
            <p:ph type="dt" sz="half" idx="10"/>
          </p:nvPr>
        </p:nvSpPr>
        <p:spPr/>
        <p:txBody>
          <a:bodyPr/>
          <a:lstStyle/>
          <a:p>
            <a:fld id="{56C7C647-8E80-4E6F-93AF-5D50231B1C81}" type="datetimeFigureOut">
              <a:rPr lang="en-US" smtClean="0"/>
              <a:t>9/2/2026</a:t>
            </a:fld>
            <a:endParaRPr lang="en-US"/>
          </a:p>
        </p:txBody>
      </p:sp>
      <p:sp>
        <p:nvSpPr>
          <p:cNvPr id="5" name="Footer Placeholder 4">
            <a:extLst>
              <a:ext uri="{FF2B5EF4-FFF2-40B4-BE49-F238E27FC236}">
                <a16:creationId xmlns:a16="http://schemas.microsoft.com/office/drawing/2014/main" id="{53283958-26A1-B985-3587-7FD4FB3278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C66661-87EE-3C6F-C56E-3C7BB2D24675}"/>
              </a:ext>
            </a:extLst>
          </p:cNvPr>
          <p:cNvSpPr>
            <a:spLocks noGrp="1"/>
          </p:cNvSpPr>
          <p:nvPr>
            <p:ph type="sldNum" sz="quarter" idx="12"/>
          </p:nvPr>
        </p:nvSpPr>
        <p:spPr/>
        <p:txBody>
          <a:bodyPr/>
          <a:lstStyle/>
          <a:p>
            <a:fld id="{CF403D7B-CA60-4432-BAC4-2C579961A6C8}" type="slidenum">
              <a:rPr lang="en-US" smtClean="0"/>
              <a:t>‹#›</a:t>
            </a:fld>
            <a:endParaRPr lang="en-US"/>
          </a:p>
        </p:txBody>
      </p:sp>
    </p:spTree>
    <p:extLst>
      <p:ext uri="{BB962C8B-B14F-4D97-AF65-F5344CB8AC3E}">
        <p14:creationId xmlns:p14="http://schemas.microsoft.com/office/powerpoint/2010/main" val="1633596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2505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808830-2FA1-3B4D-617C-5AF4ED24E9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D5589C-B85F-B6E6-4EFE-3F0EDFB818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D9C539-F747-494D-6823-139EB3A38C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C7C647-8E80-4E6F-93AF-5D50231B1C81}" type="datetimeFigureOut">
              <a:rPr lang="en-US" smtClean="0"/>
              <a:t>9/2/2026</a:t>
            </a:fld>
            <a:endParaRPr lang="en-US"/>
          </a:p>
        </p:txBody>
      </p:sp>
      <p:sp>
        <p:nvSpPr>
          <p:cNvPr id="5" name="Footer Placeholder 4">
            <a:extLst>
              <a:ext uri="{FF2B5EF4-FFF2-40B4-BE49-F238E27FC236}">
                <a16:creationId xmlns:a16="http://schemas.microsoft.com/office/drawing/2014/main" id="{33DC0A02-984D-6BB3-2EB0-6FE25A61EB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D03BF0-2A3E-B638-01B5-A8642DB58B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403D7B-CA60-4432-BAC4-2C579961A6C8}" type="slidenum">
              <a:rPr lang="en-US" smtClean="0"/>
              <a:t>‹#›</a:t>
            </a:fld>
            <a:endParaRPr lang="en-US"/>
          </a:p>
        </p:txBody>
      </p:sp>
    </p:spTree>
    <p:extLst>
      <p:ext uri="{BB962C8B-B14F-4D97-AF65-F5344CB8AC3E}">
        <p14:creationId xmlns:p14="http://schemas.microsoft.com/office/powerpoint/2010/main" val="10902139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ARIANE%20-%20BRCA1_2%20Variant%20Classification.mp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26C08-F18C-D73A-2D2F-092B5C45813A}"/>
              </a:ext>
            </a:extLst>
          </p:cNvPr>
          <p:cNvSpPr>
            <a:spLocks noGrp="1"/>
          </p:cNvSpPr>
          <p:nvPr>
            <p:ph type="ctrTitle"/>
          </p:nvPr>
        </p:nvSpPr>
        <p:spPr/>
        <p:txBody>
          <a:bodyPr/>
          <a:lstStyle/>
          <a:p>
            <a:r>
              <a:rPr lang="en-US" dirty="0">
                <a:latin typeface="Georgia" panose="02040502050405020303" pitchFamily="18" charset="0"/>
              </a:rPr>
              <a:t>ARIANE</a:t>
            </a:r>
          </a:p>
        </p:txBody>
      </p:sp>
      <p:sp>
        <p:nvSpPr>
          <p:cNvPr id="3" name="Subtitle 2">
            <a:extLst>
              <a:ext uri="{FF2B5EF4-FFF2-40B4-BE49-F238E27FC236}">
                <a16:creationId xmlns:a16="http://schemas.microsoft.com/office/drawing/2014/main" id="{9B91CD63-9B5E-773B-3022-DA583D9738C7}"/>
              </a:ext>
            </a:extLst>
          </p:cNvPr>
          <p:cNvSpPr>
            <a:spLocks noGrp="1"/>
          </p:cNvSpPr>
          <p:nvPr>
            <p:ph type="subTitle" idx="1"/>
          </p:nvPr>
        </p:nvSpPr>
        <p:spPr/>
        <p:txBody>
          <a:bodyPr/>
          <a:lstStyle/>
          <a:p>
            <a:pPr>
              <a:lnSpc>
                <a:spcPct val="100000"/>
              </a:lnSpc>
            </a:pPr>
            <a:r>
              <a:rPr lang="en-US" sz="1400" dirty="0">
                <a:latin typeface="Arial" panose="020B0604020202020204" pitchFamily="34" charset="0"/>
                <a:cs typeface="Arial" panose="020B0604020202020204" pitchFamily="34" charset="0"/>
              </a:rPr>
              <a:t>Automated ACMG Rule-based Interpretation and Annotation </a:t>
            </a:r>
            <a:r>
              <a:rPr lang="en-US" sz="1400" dirty="0" err="1">
                <a:latin typeface="Arial" panose="020B0604020202020204" pitchFamily="34" charset="0"/>
                <a:cs typeface="Arial" panose="020B0604020202020204" pitchFamily="34" charset="0"/>
              </a:rPr>
              <a:t>ENgine</a:t>
            </a:r>
            <a:endParaRPr lang="en-US" sz="1400" dirty="0">
              <a:latin typeface="Arial" panose="020B0604020202020204" pitchFamily="34" charset="0"/>
              <a:cs typeface="Arial" panose="020B0604020202020204" pitchFamily="34" charset="0"/>
            </a:endParaRPr>
          </a:p>
          <a:p>
            <a:pPr>
              <a:lnSpc>
                <a:spcPct val="100000"/>
              </a:lnSpc>
            </a:pPr>
            <a:r>
              <a:rPr lang="en-US" sz="1400" dirty="0">
                <a:latin typeface="Arial" panose="020B0604020202020204" pitchFamily="34" charset="0"/>
                <a:cs typeface="Arial" panose="020B0604020202020204" pitchFamily="34" charset="0"/>
              </a:rPr>
              <a:t>BRCA1/2 variant classification following ENIGMA VCEP v1.2</a:t>
            </a:r>
          </a:p>
          <a:p>
            <a:endParaRPr lang="en-US" dirty="0"/>
          </a:p>
        </p:txBody>
      </p:sp>
      <p:pic>
        <p:nvPicPr>
          <p:cNvPr id="5" name="Image 0" descr="/mnt/data/ariane_deck_author_identity/images/uochb-iocb-prague-logo.png">
            <a:extLst>
              <a:ext uri="{FF2B5EF4-FFF2-40B4-BE49-F238E27FC236}">
                <a16:creationId xmlns:a16="http://schemas.microsoft.com/office/drawing/2014/main" id="{BA878323-8B3D-618D-0EB6-18F5FFD0CF59}"/>
              </a:ext>
            </a:extLst>
          </p:cNvPr>
          <p:cNvPicPr>
            <a:picLocks noChangeAspect="1"/>
          </p:cNvPicPr>
          <p:nvPr/>
        </p:nvPicPr>
        <p:blipFill>
          <a:blip r:embed="rId2"/>
          <a:stretch>
            <a:fillRect/>
          </a:stretch>
        </p:blipFill>
        <p:spPr>
          <a:xfrm>
            <a:off x="10609346" y="6196307"/>
            <a:ext cx="1376132" cy="493776"/>
          </a:xfrm>
          <a:prstGeom prst="rect">
            <a:avLst/>
          </a:prstGeom>
        </p:spPr>
      </p:pic>
      <p:sp>
        <p:nvSpPr>
          <p:cNvPr id="7" name="TextBox 6">
            <a:extLst>
              <a:ext uri="{FF2B5EF4-FFF2-40B4-BE49-F238E27FC236}">
                <a16:creationId xmlns:a16="http://schemas.microsoft.com/office/drawing/2014/main" id="{9181B598-259C-2921-E431-94730014A03D}"/>
              </a:ext>
            </a:extLst>
          </p:cNvPr>
          <p:cNvSpPr txBox="1"/>
          <p:nvPr/>
        </p:nvSpPr>
        <p:spPr>
          <a:xfrm>
            <a:off x="6094616" y="6196307"/>
            <a:ext cx="6097384" cy="498598"/>
          </a:xfrm>
          <a:prstGeom prst="rect">
            <a:avLst/>
          </a:prstGeom>
          <a:noFill/>
        </p:spPr>
        <p:txBody>
          <a:bodyPr wrap="square">
            <a:spAutoFit/>
          </a:bodyPr>
          <a:lstStyle/>
          <a:p>
            <a:pPr marL="0" indent="0" algn="l">
              <a:buNone/>
            </a:pPr>
            <a:r>
              <a:rPr lang="en-US" sz="880" dirty="0">
                <a:solidFill>
                  <a:srgbClr val="1A2A31"/>
                </a:solidFill>
                <a:latin typeface="Arial" pitchFamily="34" charset="0"/>
                <a:ea typeface="Arial" pitchFamily="34" charset="-122"/>
                <a:cs typeface="Arial" pitchFamily="34" charset="-120"/>
              </a:rPr>
              <a:t>prof. </a:t>
            </a:r>
            <a:r>
              <a:rPr lang="en-US" sz="880" dirty="0" err="1">
                <a:solidFill>
                  <a:srgbClr val="1A2A31"/>
                </a:solidFill>
                <a:latin typeface="Arial" pitchFamily="34" charset="0"/>
                <a:ea typeface="Arial" pitchFamily="34" charset="-122"/>
                <a:cs typeface="Arial" pitchFamily="34" charset="-120"/>
              </a:rPr>
              <a:t>MUDr</a:t>
            </a:r>
            <a:r>
              <a:rPr lang="en-US" sz="880" dirty="0">
                <a:solidFill>
                  <a:srgbClr val="1A2A31"/>
                </a:solidFill>
                <a:latin typeface="Arial" pitchFamily="34" charset="0"/>
                <a:ea typeface="Arial" pitchFamily="34" charset="-122"/>
                <a:cs typeface="Arial" pitchFamily="34" charset="-120"/>
              </a:rPr>
              <a:t>. Zdeněk </a:t>
            </a:r>
            <a:r>
              <a:rPr lang="en-US" sz="880" dirty="0" err="1">
                <a:solidFill>
                  <a:srgbClr val="1A2A31"/>
                </a:solidFill>
                <a:latin typeface="Arial" pitchFamily="34" charset="0"/>
                <a:ea typeface="Arial" pitchFamily="34" charset="-122"/>
                <a:cs typeface="Arial" pitchFamily="34" charset="-120"/>
              </a:rPr>
              <a:t>Kleibl</a:t>
            </a:r>
            <a:r>
              <a:rPr lang="en-US" sz="880" dirty="0">
                <a:solidFill>
                  <a:srgbClr val="1A2A31"/>
                </a:solidFill>
                <a:latin typeface="Arial" pitchFamily="34" charset="0"/>
                <a:ea typeface="Arial" pitchFamily="34" charset="-122"/>
                <a:cs typeface="Arial" pitchFamily="34" charset="-120"/>
              </a:rPr>
              <a:t>, Ph.D.</a:t>
            </a:r>
            <a:endParaRPr lang="en-US" sz="880" dirty="0"/>
          </a:p>
          <a:p>
            <a:pPr marL="0" indent="0" algn="l">
              <a:buNone/>
            </a:pPr>
            <a:r>
              <a:rPr lang="en-US" sz="880" dirty="0" err="1">
                <a:solidFill>
                  <a:srgbClr val="1A2A31"/>
                </a:solidFill>
                <a:latin typeface="Arial" pitchFamily="34" charset="0"/>
                <a:ea typeface="Arial" pitchFamily="34" charset="-122"/>
                <a:cs typeface="Arial" pitchFamily="34" charset="-120"/>
              </a:rPr>
              <a:t>RNDr</a:t>
            </a:r>
            <a:r>
              <a:rPr lang="en-US" sz="880" dirty="0">
                <a:solidFill>
                  <a:srgbClr val="1A2A31"/>
                </a:solidFill>
                <a:latin typeface="Arial" pitchFamily="34" charset="0"/>
                <a:ea typeface="Arial" pitchFamily="34" charset="-122"/>
                <a:cs typeface="Arial" pitchFamily="34" charset="-120"/>
              </a:rPr>
              <a:t>. Jana Soukupová, Ph.D.</a:t>
            </a:r>
            <a:endParaRPr lang="en-US" sz="880" dirty="0"/>
          </a:p>
          <a:p>
            <a:pPr marL="0" indent="0" algn="l">
              <a:buNone/>
            </a:pPr>
            <a:r>
              <a:rPr lang="en-US" sz="880" dirty="0" err="1">
                <a:solidFill>
                  <a:srgbClr val="1A2A31"/>
                </a:solidFill>
                <a:latin typeface="Arial" pitchFamily="34" charset="0"/>
                <a:ea typeface="Arial" pitchFamily="34" charset="-122"/>
                <a:cs typeface="Arial" pitchFamily="34" charset="-120"/>
              </a:rPr>
              <a:t>Ústav</a:t>
            </a:r>
            <a:r>
              <a:rPr lang="en-US" sz="880" dirty="0">
                <a:solidFill>
                  <a:srgbClr val="1A2A31"/>
                </a:solidFill>
                <a:latin typeface="Arial" pitchFamily="34" charset="0"/>
                <a:ea typeface="Arial" pitchFamily="34" charset="-122"/>
                <a:cs typeface="Arial" pitchFamily="34" charset="-120"/>
              </a:rPr>
              <a:t> </a:t>
            </a:r>
            <a:r>
              <a:rPr lang="en-US" sz="880" dirty="0" err="1">
                <a:solidFill>
                  <a:srgbClr val="1A2A31"/>
                </a:solidFill>
                <a:latin typeface="Arial" pitchFamily="34" charset="0"/>
                <a:ea typeface="Arial" pitchFamily="34" charset="-122"/>
                <a:cs typeface="Arial" pitchFamily="34" charset="-120"/>
              </a:rPr>
              <a:t>biochemie</a:t>
            </a:r>
            <a:r>
              <a:rPr lang="en-US" sz="880" dirty="0">
                <a:solidFill>
                  <a:srgbClr val="1A2A31"/>
                </a:solidFill>
                <a:latin typeface="Arial" pitchFamily="34" charset="0"/>
                <a:ea typeface="Arial" pitchFamily="34" charset="-122"/>
                <a:cs typeface="Arial" pitchFamily="34" charset="-120"/>
              </a:rPr>
              <a:t> a </a:t>
            </a:r>
            <a:r>
              <a:rPr lang="en-US" sz="880" dirty="0" err="1">
                <a:solidFill>
                  <a:srgbClr val="1A2A31"/>
                </a:solidFill>
                <a:latin typeface="Arial" pitchFamily="34" charset="0"/>
                <a:ea typeface="Arial" pitchFamily="34" charset="-122"/>
                <a:cs typeface="Arial" pitchFamily="34" charset="-120"/>
              </a:rPr>
              <a:t>experimentální</a:t>
            </a:r>
            <a:r>
              <a:rPr lang="en-US" sz="880" dirty="0">
                <a:solidFill>
                  <a:srgbClr val="1A2A31"/>
                </a:solidFill>
                <a:latin typeface="Arial" pitchFamily="34" charset="0"/>
                <a:ea typeface="Arial" pitchFamily="34" charset="-122"/>
                <a:cs typeface="Arial" pitchFamily="34" charset="-120"/>
              </a:rPr>
              <a:t> </a:t>
            </a:r>
            <a:r>
              <a:rPr lang="en-US" sz="880" dirty="0" err="1">
                <a:solidFill>
                  <a:srgbClr val="1A2A31"/>
                </a:solidFill>
                <a:latin typeface="Arial" pitchFamily="34" charset="0"/>
                <a:ea typeface="Arial" pitchFamily="34" charset="-122"/>
                <a:cs typeface="Arial" pitchFamily="34" charset="-120"/>
              </a:rPr>
              <a:t>onkologie</a:t>
            </a:r>
            <a:r>
              <a:rPr lang="en-US" sz="880" dirty="0">
                <a:solidFill>
                  <a:srgbClr val="1A2A31"/>
                </a:solidFill>
                <a:latin typeface="Arial" pitchFamily="34" charset="0"/>
                <a:ea typeface="Arial" pitchFamily="34" charset="-122"/>
                <a:cs typeface="Arial" pitchFamily="34" charset="-120"/>
              </a:rPr>
              <a:t>, 1. </a:t>
            </a:r>
            <a:r>
              <a:rPr lang="en-US" sz="880" dirty="0" err="1">
                <a:solidFill>
                  <a:srgbClr val="1A2A31"/>
                </a:solidFill>
                <a:latin typeface="Arial" pitchFamily="34" charset="0"/>
                <a:ea typeface="Arial" pitchFamily="34" charset="-122"/>
                <a:cs typeface="Arial" pitchFamily="34" charset="-120"/>
              </a:rPr>
              <a:t>lékařská</a:t>
            </a:r>
            <a:r>
              <a:rPr lang="en-US" sz="880" dirty="0">
                <a:solidFill>
                  <a:srgbClr val="1A2A31"/>
                </a:solidFill>
                <a:latin typeface="Arial" pitchFamily="34" charset="0"/>
                <a:ea typeface="Arial" pitchFamily="34" charset="-122"/>
                <a:cs typeface="Arial" pitchFamily="34" charset="-120"/>
              </a:rPr>
              <a:t> </a:t>
            </a:r>
            <a:r>
              <a:rPr lang="en-US" sz="880" dirty="0" err="1">
                <a:solidFill>
                  <a:srgbClr val="1A2A31"/>
                </a:solidFill>
                <a:latin typeface="Arial" pitchFamily="34" charset="0"/>
                <a:ea typeface="Arial" pitchFamily="34" charset="-122"/>
                <a:cs typeface="Arial" pitchFamily="34" charset="-120"/>
              </a:rPr>
              <a:t>fakulta</a:t>
            </a:r>
            <a:r>
              <a:rPr lang="en-US" sz="880" dirty="0">
                <a:solidFill>
                  <a:srgbClr val="1A2A31"/>
                </a:solidFill>
                <a:latin typeface="Arial" pitchFamily="34" charset="0"/>
                <a:ea typeface="Arial" pitchFamily="34" charset="-122"/>
                <a:cs typeface="Arial" pitchFamily="34" charset="-120"/>
              </a:rPr>
              <a:t> </a:t>
            </a:r>
            <a:r>
              <a:rPr lang="en-US" sz="880" dirty="0" err="1">
                <a:solidFill>
                  <a:srgbClr val="1A2A31"/>
                </a:solidFill>
                <a:latin typeface="Arial" pitchFamily="34" charset="0"/>
                <a:ea typeface="Arial" pitchFamily="34" charset="-122"/>
                <a:cs typeface="Arial" pitchFamily="34" charset="-120"/>
              </a:rPr>
              <a:t>Univerzity</a:t>
            </a:r>
            <a:r>
              <a:rPr lang="en-US" sz="880" dirty="0">
                <a:solidFill>
                  <a:srgbClr val="1A2A31"/>
                </a:solidFill>
                <a:latin typeface="Arial" pitchFamily="34" charset="0"/>
                <a:ea typeface="Arial" pitchFamily="34" charset="-122"/>
                <a:cs typeface="Arial" pitchFamily="34" charset="-120"/>
              </a:rPr>
              <a:t> Karlovy</a:t>
            </a:r>
            <a:endParaRPr lang="en-US" sz="880" dirty="0"/>
          </a:p>
        </p:txBody>
      </p:sp>
      <p:sp>
        <p:nvSpPr>
          <p:cNvPr id="9" name="TextBox 8">
            <a:extLst>
              <a:ext uri="{FF2B5EF4-FFF2-40B4-BE49-F238E27FC236}">
                <a16:creationId xmlns:a16="http://schemas.microsoft.com/office/drawing/2014/main" id="{8D764C0C-976A-F033-70D5-C41E1134A64C}"/>
              </a:ext>
            </a:extLst>
          </p:cNvPr>
          <p:cNvSpPr txBox="1"/>
          <p:nvPr/>
        </p:nvSpPr>
        <p:spPr>
          <a:xfrm>
            <a:off x="4319067" y="6212363"/>
            <a:ext cx="1569027" cy="230832"/>
          </a:xfrm>
          <a:prstGeom prst="rect">
            <a:avLst/>
          </a:prstGeom>
          <a:noFill/>
        </p:spPr>
        <p:txBody>
          <a:bodyPr wrap="square">
            <a:spAutoFit/>
          </a:bodyPr>
          <a:lstStyle/>
          <a:p>
            <a:pPr marL="0" indent="0" algn="r">
              <a:buNone/>
            </a:pPr>
            <a:r>
              <a:rPr lang="en-US" sz="900" b="1" dirty="0">
                <a:solidFill>
                  <a:srgbClr val="1A2A31"/>
                </a:solidFill>
                <a:latin typeface="Arial" pitchFamily="34" charset="0"/>
                <a:ea typeface="Arial" pitchFamily="34" charset="-122"/>
                <a:cs typeface="Arial" pitchFamily="34" charset="-120"/>
              </a:rPr>
              <a:t>Kamila Clarová</a:t>
            </a:r>
            <a:endParaRPr lang="en-US" sz="900" dirty="0"/>
          </a:p>
        </p:txBody>
      </p:sp>
      <p:sp>
        <p:nvSpPr>
          <p:cNvPr id="11" name="Text 4">
            <a:extLst>
              <a:ext uri="{FF2B5EF4-FFF2-40B4-BE49-F238E27FC236}">
                <a16:creationId xmlns:a16="http://schemas.microsoft.com/office/drawing/2014/main" id="{91F2008F-CF2A-8569-FF18-95A8FF8CD1DA}"/>
              </a:ext>
            </a:extLst>
          </p:cNvPr>
          <p:cNvSpPr/>
          <p:nvPr/>
        </p:nvSpPr>
        <p:spPr>
          <a:xfrm>
            <a:off x="3643053" y="6498061"/>
            <a:ext cx="2140527" cy="137155"/>
          </a:xfrm>
          <a:prstGeom prst="rect">
            <a:avLst/>
          </a:prstGeom>
          <a:noFill/>
          <a:ln/>
        </p:spPr>
        <p:txBody>
          <a:bodyPr wrap="square" lIns="0" tIns="0" rIns="0" bIns="0" rtlCol="0" anchor="t">
            <a:normAutofit/>
          </a:bodyPr>
          <a:lstStyle/>
          <a:p>
            <a:pPr marL="0" indent="0" algn="r">
              <a:buNone/>
            </a:pPr>
            <a:r>
              <a:rPr lang="en-US" sz="800" dirty="0">
                <a:solidFill>
                  <a:srgbClr val="5B6E76"/>
                </a:solidFill>
                <a:latin typeface="Arial" pitchFamily="34" charset="0"/>
                <a:ea typeface="Arial" pitchFamily="34" charset="-122"/>
                <a:cs typeface="Arial" pitchFamily="34" charset="-120"/>
              </a:rPr>
              <a:t>Skupina Jiřího Vondráška</a:t>
            </a:r>
            <a:endParaRPr lang="en-US" sz="800" dirty="0"/>
          </a:p>
        </p:txBody>
      </p:sp>
      <p:sp>
        <p:nvSpPr>
          <p:cNvPr id="18" name="Shape 2">
            <a:extLst>
              <a:ext uri="{FF2B5EF4-FFF2-40B4-BE49-F238E27FC236}">
                <a16:creationId xmlns:a16="http://schemas.microsoft.com/office/drawing/2014/main" id="{B59F568F-AE42-4476-2B20-36EE80B7C38F}"/>
              </a:ext>
            </a:extLst>
          </p:cNvPr>
          <p:cNvSpPr/>
          <p:nvPr/>
        </p:nvSpPr>
        <p:spPr>
          <a:xfrm>
            <a:off x="5966374" y="6259202"/>
            <a:ext cx="0" cy="347472"/>
          </a:xfrm>
          <a:prstGeom prst="line">
            <a:avLst/>
          </a:prstGeom>
          <a:noFill/>
          <a:ln w="19050">
            <a:solidFill>
              <a:srgbClr val="15697A"/>
            </a:solidFill>
            <a:prstDash val="solid"/>
          </a:ln>
        </p:spPr>
        <p:txBody>
          <a:bodyPr/>
          <a:lstStyle/>
          <a:p>
            <a:endParaRPr lang="en-US"/>
          </a:p>
        </p:txBody>
      </p:sp>
    </p:spTree>
    <p:extLst>
      <p:ext uri="{BB962C8B-B14F-4D97-AF65-F5344CB8AC3E}">
        <p14:creationId xmlns:p14="http://schemas.microsoft.com/office/powerpoint/2010/main" val="811990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0">
            <a:extLst>
              <a:ext uri="{FF2B5EF4-FFF2-40B4-BE49-F238E27FC236}">
                <a16:creationId xmlns:a16="http://schemas.microsoft.com/office/drawing/2014/main" id="{98AA7BEB-EB74-3C28-1736-4B514C073F2D}"/>
              </a:ext>
            </a:extLst>
          </p:cNvPr>
          <p:cNvSpPr/>
          <p:nvPr/>
        </p:nvSpPr>
        <p:spPr>
          <a:xfrm>
            <a:off x="512064" y="338328"/>
            <a:ext cx="1463040" cy="164592"/>
          </a:xfrm>
          <a:prstGeom prst="rect">
            <a:avLst/>
          </a:prstGeom>
          <a:noFill/>
          <a:ln/>
        </p:spPr>
        <p:txBody>
          <a:bodyPr wrap="square" lIns="0" tIns="0" rIns="0" bIns="0" rtlCol="0" anchor="t">
            <a:normAutofit/>
          </a:bodyPr>
          <a:lstStyle/>
          <a:p>
            <a:pPr marL="0" indent="0" algn="l">
              <a:buNone/>
            </a:pPr>
            <a:r>
              <a:rPr lang="en-US" sz="750" kern="0" spc="120" dirty="0">
                <a:solidFill>
                  <a:srgbClr val="8A9BA1"/>
                </a:solidFill>
                <a:latin typeface="Courier New" pitchFamily="34" charset="0"/>
                <a:ea typeface="Courier New" pitchFamily="34" charset="-122"/>
                <a:cs typeface="Courier New" pitchFamily="34" charset="-120"/>
              </a:rPr>
              <a:t>Slide </a:t>
            </a:r>
            <a:r>
              <a:rPr lang="cs-CZ" sz="750" kern="0" spc="120" dirty="0">
                <a:solidFill>
                  <a:srgbClr val="8A9BA1"/>
                </a:solidFill>
                <a:latin typeface="Courier New" pitchFamily="34" charset="0"/>
                <a:ea typeface="Courier New" pitchFamily="34" charset="-122"/>
                <a:cs typeface="Courier New" pitchFamily="34" charset="-120"/>
              </a:rPr>
              <a:t>1</a:t>
            </a:r>
          </a:p>
          <a:p>
            <a:pPr marL="0" indent="0" algn="l">
              <a:buNone/>
            </a:pPr>
            <a:endParaRPr lang="en-US" sz="750" dirty="0"/>
          </a:p>
        </p:txBody>
      </p:sp>
      <p:sp>
        <p:nvSpPr>
          <p:cNvPr id="51" name="Text 1">
            <a:extLst>
              <a:ext uri="{FF2B5EF4-FFF2-40B4-BE49-F238E27FC236}">
                <a16:creationId xmlns:a16="http://schemas.microsoft.com/office/drawing/2014/main" id="{67EBEE3C-A2E2-4445-1249-CC96A70BBB38}"/>
              </a:ext>
            </a:extLst>
          </p:cNvPr>
          <p:cNvSpPr/>
          <p:nvPr/>
        </p:nvSpPr>
        <p:spPr>
          <a:xfrm>
            <a:off x="502920" y="566928"/>
            <a:ext cx="6400800" cy="530352"/>
          </a:xfrm>
          <a:prstGeom prst="rect">
            <a:avLst/>
          </a:prstGeom>
          <a:noFill/>
          <a:ln/>
        </p:spPr>
        <p:txBody>
          <a:bodyPr wrap="square" lIns="0" tIns="0" rIns="0" bIns="0" rtlCol="0" anchor="t">
            <a:normAutofit/>
          </a:bodyPr>
          <a:lstStyle/>
          <a:p>
            <a:pPr marL="0" indent="0" algn="l">
              <a:buNone/>
            </a:pPr>
            <a:r>
              <a:rPr lang="cs-CZ" sz="2750" dirty="0" err="1">
                <a:solidFill>
                  <a:srgbClr val="1A2A31"/>
                </a:solidFill>
                <a:latin typeface="Georgia" pitchFamily="34" charset="0"/>
                <a:ea typeface="Georgia" pitchFamily="34" charset="-122"/>
                <a:cs typeface="Georgia" pitchFamily="34" charset="-120"/>
              </a:rPr>
              <a:t>One</a:t>
            </a:r>
            <a:r>
              <a:rPr lang="cs-CZ" sz="2750" dirty="0">
                <a:solidFill>
                  <a:srgbClr val="1A2A31"/>
                </a:solidFill>
                <a:latin typeface="Georgia" pitchFamily="34" charset="0"/>
                <a:ea typeface="Georgia" pitchFamily="34" charset="-122"/>
                <a:cs typeface="Georgia" pitchFamily="34" charset="-120"/>
              </a:rPr>
              <a:t> </a:t>
            </a:r>
            <a:r>
              <a:rPr lang="cs-CZ" sz="2750" dirty="0" err="1">
                <a:solidFill>
                  <a:srgbClr val="1A2A31"/>
                </a:solidFill>
                <a:latin typeface="Georgia" pitchFamily="34" charset="0"/>
                <a:ea typeface="Georgia" pitchFamily="34" charset="-122"/>
                <a:cs typeface="Georgia" pitchFamily="34" charset="-120"/>
              </a:rPr>
              <a:t>letter</a:t>
            </a:r>
            <a:r>
              <a:rPr lang="cs-CZ" sz="2750" dirty="0">
                <a:solidFill>
                  <a:srgbClr val="1A2A31"/>
                </a:solidFill>
                <a:latin typeface="Georgia" pitchFamily="34" charset="0"/>
                <a:ea typeface="Georgia" pitchFamily="34" charset="-122"/>
                <a:cs typeface="Georgia" pitchFamily="34" charset="-120"/>
              </a:rPr>
              <a:t> </a:t>
            </a:r>
            <a:r>
              <a:rPr lang="cs-CZ" sz="2750" dirty="0" err="1">
                <a:solidFill>
                  <a:srgbClr val="1A2A31"/>
                </a:solidFill>
                <a:latin typeface="Georgia" pitchFamily="34" charset="0"/>
                <a:ea typeface="Georgia" pitchFamily="34" charset="-122"/>
                <a:cs typeface="Georgia" pitchFamily="34" charset="-120"/>
              </a:rPr>
              <a:t>three</a:t>
            </a:r>
            <a:r>
              <a:rPr lang="cs-CZ" sz="2750" dirty="0">
                <a:solidFill>
                  <a:srgbClr val="1A2A31"/>
                </a:solidFill>
                <a:latin typeface="Georgia" pitchFamily="34" charset="0"/>
                <a:ea typeface="Georgia" pitchFamily="34" charset="-122"/>
                <a:cs typeface="Georgia" pitchFamily="34" charset="-120"/>
              </a:rPr>
              <a:t> </a:t>
            </a:r>
            <a:r>
              <a:rPr lang="cs-CZ" sz="2750" dirty="0" err="1">
                <a:solidFill>
                  <a:srgbClr val="1A2A31"/>
                </a:solidFill>
                <a:latin typeface="Georgia" pitchFamily="34" charset="0"/>
                <a:ea typeface="Georgia" pitchFamily="34" charset="-122"/>
                <a:cs typeface="Georgia" pitchFamily="34" charset="-120"/>
              </a:rPr>
              <a:t>different</a:t>
            </a:r>
            <a:r>
              <a:rPr lang="cs-CZ" sz="2750" dirty="0">
                <a:solidFill>
                  <a:srgbClr val="1A2A31"/>
                </a:solidFill>
                <a:latin typeface="Georgia" pitchFamily="34" charset="0"/>
                <a:ea typeface="Georgia" pitchFamily="34" charset="-122"/>
                <a:cs typeface="Georgia" pitchFamily="34" charset="-120"/>
              </a:rPr>
              <a:t> </a:t>
            </a:r>
            <a:r>
              <a:rPr lang="cs-CZ" sz="2750" dirty="0" err="1">
                <a:solidFill>
                  <a:srgbClr val="1A2A31"/>
                </a:solidFill>
                <a:latin typeface="Georgia" pitchFamily="34" charset="0"/>
                <a:ea typeface="Georgia" pitchFamily="34" charset="-122"/>
                <a:cs typeface="Georgia" pitchFamily="34" charset="-120"/>
              </a:rPr>
              <a:t>consequences</a:t>
            </a:r>
            <a:endParaRPr lang="en-US" sz="2750" dirty="0"/>
          </a:p>
        </p:txBody>
      </p:sp>
      <p:sp>
        <p:nvSpPr>
          <p:cNvPr id="53" name="Shape 2">
            <a:extLst>
              <a:ext uri="{FF2B5EF4-FFF2-40B4-BE49-F238E27FC236}">
                <a16:creationId xmlns:a16="http://schemas.microsoft.com/office/drawing/2014/main" id="{4C22CE2F-D5EC-8A6F-9020-78F80694C245}"/>
              </a:ext>
            </a:extLst>
          </p:cNvPr>
          <p:cNvSpPr/>
          <p:nvPr/>
        </p:nvSpPr>
        <p:spPr>
          <a:xfrm>
            <a:off x="502920" y="1161288"/>
            <a:ext cx="566928" cy="0"/>
          </a:xfrm>
          <a:prstGeom prst="line">
            <a:avLst/>
          </a:prstGeom>
          <a:noFill/>
          <a:ln w="19050">
            <a:solidFill>
              <a:srgbClr val="15697A"/>
            </a:solidFill>
            <a:prstDash val="solid"/>
          </a:ln>
        </p:spPr>
        <p:txBody>
          <a:bodyPr/>
          <a:lstStyle/>
          <a:p>
            <a:endParaRPr lang="en-US"/>
          </a:p>
        </p:txBody>
      </p:sp>
      <p:pic>
        <p:nvPicPr>
          <p:cNvPr id="55" name="Image 0" descr="/mnt/data/ariane_deck_author_identity/images/uochb-iocb-prague-logo.png">
            <a:extLst>
              <a:ext uri="{FF2B5EF4-FFF2-40B4-BE49-F238E27FC236}">
                <a16:creationId xmlns:a16="http://schemas.microsoft.com/office/drawing/2014/main" id="{B763ECA7-59C8-DFD5-8615-6592F58B0050}"/>
              </a:ext>
            </a:extLst>
          </p:cNvPr>
          <p:cNvPicPr>
            <a:picLocks noChangeAspect="1"/>
          </p:cNvPicPr>
          <p:nvPr/>
        </p:nvPicPr>
        <p:blipFill>
          <a:blip r:embed="rId3"/>
          <a:stretch>
            <a:fillRect/>
          </a:stretch>
        </p:blipFill>
        <p:spPr>
          <a:xfrm>
            <a:off x="10152146" y="310896"/>
            <a:ext cx="1376132" cy="493776"/>
          </a:xfrm>
          <a:prstGeom prst="rect">
            <a:avLst/>
          </a:prstGeom>
        </p:spPr>
      </p:pic>
      <p:sp>
        <p:nvSpPr>
          <p:cNvPr id="57" name="Text 3">
            <a:extLst>
              <a:ext uri="{FF2B5EF4-FFF2-40B4-BE49-F238E27FC236}">
                <a16:creationId xmlns:a16="http://schemas.microsoft.com/office/drawing/2014/main" id="{7A6B6D10-4A5D-C77B-8135-F282D1EBA632}"/>
              </a:ext>
            </a:extLst>
          </p:cNvPr>
          <p:cNvSpPr/>
          <p:nvPr/>
        </p:nvSpPr>
        <p:spPr>
          <a:xfrm>
            <a:off x="8595360" y="850392"/>
            <a:ext cx="3063240" cy="182880"/>
          </a:xfrm>
          <a:prstGeom prst="rect">
            <a:avLst/>
          </a:prstGeom>
          <a:noFill/>
          <a:ln/>
        </p:spPr>
        <p:txBody>
          <a:bodyPr wrap="square" lIns="0" tIns="0" rIns="0" bIns="0" rtlCol="0" anchor="t">
            <a:normAutofit/>
          </a:bodyPr>
          <a:lstStyle/>
          <a:p>
            <a:pPr marL="0" indent="0" algn="r">
              <a:buNone/>
            </a:pPr>
            <a:r>
              <a:rPr lang="en-US" sz="900" b="1" dirty="0">
                <a:solidFill>
                  <a:srgbClr val="1A2A31"/>
                </a:solidFill>
                <a:latin typeface="Arial" pitchFamily="34" charset="0"/>
                <a:ea typeface="Arial" pitchFamily="34" charset="-122"/>
                <a:cs typeface="Arial" pitchFamily="34" charset="-120"/>
              </a:rPr>
              <a:t>Kamila Clarová</a:t>
            </a:r>
            <a:endParaRPr lang="en-US" sz="900" dirty="0"/>
          </a:p>
        </p:txBody>
      </p:sp>
      <p:sp>
        <p:nvSpPr>
          <p:cNvPr id="59" name="Text 4">
            <a:extLst>
              <a:ext uri="{FF2B5EF4-FFF2-40B4-BE49-F238E27FC236}">
                <a16:creationId xmlns:a16="http://schemas.microsoft.com/office/drawing/2014/main" id="{47149D6C-92B5-1633-D968-2F8EB4B7560D}"/>
              </a:ext>
            </a:extLst>
          </p:cNvPr>
          <p:cNvSpPr/>
          <p:nvPr/>
        </p:nvSpPr>
        <p:spPr>
          <a:xfrm>
            <a:off x="8229600" y="1051560"/>
            <a:ext cx="3429000" cy="182880"/>
          </a:xfrm>
          <a:prstGeom prst="rect">
            <a:avLst/>
          </a:prstGeom>
          <a:noFill/>
          <a:ln/>
        </p:spPr>
        <p:txBody>
          <a:bodyPr wrap="square" lIns="0" tIns="0" rIns="0" bIns="0" rtlCol="0" anchor="t">
            <a:normAutofit/>
          </a:bodyPr>
          <a:lstStyle/>
          <a:p>
            <a:pPr marL="0" indent="0" algn="r">
              <a:buNone/>
            </a:pPr>
            <a:r>
              <a:rPr lang="en-US" sz="800" dirty="0">
                <a:solidFill>
                  <a:srgbClr val="5B6E76"/>
                </a:solidFill>
                <a:latin typeface="Arial" pitchFamily="34" charset="0"/>
                <a:ea typeface="Arial" pitchFamily="34" charset="-122"/>
                <a:cs typeface="Arial" pitchFamily="34" charset="-120"/>
              </a:rPr>
              <a:t>Jiří Vondrášek Group</a:t>
            </a:r>
            <a:endParaRPr lang="en-US" sz="800" dirty="0"/>
          </a:p>
        </p:txBody>
      </p:sp>
      <p:sp>
        <p:nvSpPr>
          <p:cNvPr id="2" name="Rounded Rectangle 7">
            <a:extLst>
              <a:ext uri="{FF2B5EF4-FFF2-40B4-BE49-F238E27FC236}">
                <a16:creationId xmlns:a16="http://schemas.microsoft.com/office/drawing/2014/main" id="{A4E05ABF-3A48-A38A-76CD-B348CF2AB191}"/>
              </a:ext>
            </a:extLst>
          </p:cNvPr>
          <p:cNvSpPr/>
          <p:nvPr/>
        </p:nvSpPr>
        <p:spPr>
          <a:xfrm>
            <a:off x="566928" y="1591056"/>
            <a:ext cx="11073384" cy="676656"/>
          </a:xfrm>
          <a:prstGeom prst="roundRect">
            <a:avLst>
              <a:gd name="adj" fmla="val 7000"/>
            </a:avLst>
          </a:prstGeom>
          <a:solidFill>
            <a:srgbClr val="F5F8F8"/>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3" name="TextBox 2">
            <a:extLst>
              <a:ext uri="{FF2B5EF4-FFF2-40B4-BE49-F238E27FC236}">
                <a16:creationId xmlns:a16="http://schemas.microsoft.com/office/drawing/2014/main" id="{549786B9-5492-8824-BB58-362C4374B4A6}"/>
              </a:ext>
            </a:extLst>
          </p:cNvPr>
          <p:cNvSpPr txBox="1"/>
          <p:nvPr/>
        </p:nvSpPr>
        <p:spPr>
          <a:xfrm>
            <a:off x="5984748" y="1851730"/>
            <a:ext cx="1554480" cy="182880"/>
          </a:xfrm>
          <a:prstGeom prst="rect">
            <a:avLst/>
          </a:prstGeom>
          <a:noFill/>
        </p:spPr>
        <p:txBody>
          <a:bodyPr wrap="square" lIns="0" tIns="0" rIns="0" bIns="0" anchor="t">
            <a:spAutoFit/>
          </a:bodyPr>
          <a:lstStyle/>
          <a:p>
            <a:pPr algn="l">
              <a:spcAft>
                <a:spcPts val="0"/>
              </a:spcAft>
            </a:pPr>
            <a:r>
              <a:rPr sz="950" b="0" spc="150" dirty="0">
                <a:solidFill>
                  <a:srgbClr val="15697A"/>
                </a:solidFill>
                <a:latin typeface="Consolas"/>
              </a:rPr>
              <a:t>NORMALLY</a:t>
            </a:r>
          </a:p>
        </p:txBody>
      </p:sp>
      <p:cxnSp>
        <p:nvCxnSpPr>
          <p:cNvPr id="4" name="Connector 9">
            <a:extLst>
              <a:ext uri="{FF2B5EF4-FFF2-40B4-BE49-F238E27FC236}">
                <a16:creationId xmlns:a16="http://schemas.microsoft.com/office/drawing/2014/main" id="{2AA83185-85E8-5E44-3683-F8F0D01CA5EA}"/>
              </a:ext>
            </a:extLst>
          </p:cNvPr>
          <p:cNvCxnSpPr/>
          <p:nvPr/>
        </p:nvCxnSpPr>
        <p:spPr>
          <a:xfrm flipH="1" flipV="1">
            <a:off x="7295357" y="1963789"/>
            <a:ext cx="35387" cy="97795"/>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5" name="Connector 10">
            <a:extLst>
              <a:ext uri="{FF2B5EF4-FFF2-40B4-BE49-F238E27FC236}">
                <a16:creationId xmlns:a16="http://schemas.microsoft.com/office/drawing/2014/main" id="{8C5D11B7-3FF7-B44A-A402-EA2E1525428D}"/>
              </a:ext>
            </a:extLst>
          </p:cNvPr>
          <p:cNvCxnSpPr/>
          <p:nvPr/>
        </p:nvCxnSpPr>
        <p:spPr>
          <a:xfrm flipV="1">
            <a:off x="7295357" y="1861742"/>
            <a:ext cx="41285" cy="102047"/>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6" name="Connector 11">
            <a:extLst>
              <a:ext uri="{FF2B5EF4-FFF2-40B4-BE49-F238E27FC236}">
                <a16:creationId xmlns:a16="http://schemas.microsoft.com/office/drawing/2014/main" id="{418FFA2D-EAAE-C7C8-CBDB-5A87755CCD24}"/>
              </a:ext>
            </a:extLst>
          </p:cNvPr>
          <p:cNvCxnSpPr/>
          <p:nvPr/>
        </p:nvCxnSpPr>
        <p:spPr>
          <a:xfrm flipV="1">
            <a:off x="7336642" y="1793711"/>
            <a:ext cx="94366" cy="68031"/>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7" name="Connector 12">
            <a:extLst>
              <a:ext uri="{FF2B5EF4-FFF2-40B4-BE49-F238E27FC236}">
                <a16:creationId xmlns:a16="http://schemas.microsoft.com/office/drawing/2014/main" id="{D1C5BFBF-7251-6B03-2F31-2BDA8C002927}"/>
              </a:ext>
            </a:extLst>
          </p:cNvPr>
          <p:cNvCxnSpPr/>
          <p:nvPr/>
        </p:nvCxnSpPr>
        <p:spPr>
          <a:xfrm flipV="1">
            <a:off x="7431008" y="1768199"/>
            <a:ext cx="129754" cy="25512"/>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8" name="Connector 13">
            <a:extLst>
              <a:ext uri="{FF2B5EF4-FFF2-40B4-BE49-F238E27FC236}">
                <a16:creationId xmlns:a16="http://schemas.microsoft.com/office/drawing/2014/main" id="{5D40367B-9A19-7566-804B-746AFC4FA4CC}"/>
              </a:ext>
            </a:extLst>
          </p:cNvPr>
          <p:cNvCxnSpPr/>
          <p:nvPr/>
        </p:nvCxnSpPr>
        <p:spPr>
          <a:xfrm>
            <a:off x="7560762" y="1768199"/>
            <a:ext cx="123855" cy="25512"/>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9" name="Connector 14">
            <a:extLst>
              <a:ext uri="{FF2B5EF4-FFF2-40B4-BE49-F238E27FC236}">
                <a16:creationId xmlns:a16="http://schemas.microsoft.com/office/drawing/2014/main" id="{1454BF6B-7FBD-A6A7-E4FE-71209E31391E}"/>
              </a:ext>
            </a:extLst>
          </p:cNvPr>
          <p:cNvCxnSpPr/>
          <p:nvPr/>
        </p:nvCxnSpPr>
        <p:spPr>
          <a:xfrm>
            <a:off x="7684617" y="1793711"/>
            <a:ext cx="82570" cy="68031"/>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10" name="Connector 15">
            <a:extLst>
              <a:ext uri="{FF2B5EF4-FFF2-40B4-BE49-F238E27FC236}">
                <a16:creationId xmlns:a16="http://schemas.microsoft.com/office/drawing/2014/main" id="{F1297560-3E7A-9DED-0A6F-4176E61806EB}"/>
              </a:ext>
            </a:extLst>
          </p:cNvPr>
          <p:cNvCxnSpPr/>
          <p:nvPr/>
        </p:nvCxnSpPr>
        <p:spPr>
          <a:xfrm>
            <a:off x="7767187" y="1861742"/>
            <a:ext cx="17694" cy="97795"/>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11" name="Connector 16">
            <a:extLst>
              <a:ext uri="{FF2B5EF4-FFF2-40B4-BE49-F238E27FC236}">
                <a16:creationId xmlns:a16="http://schemas.microsoft.com/office/drawing/2014/main" id="{728CEA26-7246-1C56-F386-49C2376E154E}"/>
              </a:ext>
            </a:extLst>
          </p:cNvPr>
          <p:cNvCxnSpPr/>
          <p:nvPr/>
        </p:nvCxnSpPr>
        <p:spPr>
          <a:xfrm flipH="1">
            <a:off x="7714107" y="1959537"/>
            <a:ext cx="70774" cy="72284"/>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12" name="Connector 17">
            <a:extLst>
              <a:ext uri="{FF2B5EF4-FFF2-40B4-BE49-F238E27FC236}">
                <a16:creationId xmlns:a16="http://schemas.microsoft.com/office/drawing/2014/main" id="{A29CE9F0-179C-50F1-3053-3CE9E8C60A7A}"/>
              </a:ext>
            </a:extLst>
          </p:cNvPr>
          <p:cNvCxnSpPr/>
          <p:nvPr/>
        </p:nvCxnSpPr>
        <p:spPr>
          <a:xfrm flipH="1">
            <a:off x="7596149" y="2031821"/>
            <a:ext cx="117958" cy="25511"/>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13" name="Connector 18">
            <a:extLst>
              <a:ext uri="{FF2B5EF4-FFF2-40B4-BE49-F238E27FC236}">
                <a16:creationId xmlns:a16="http://schemas.microsoft.com/office/drawing/2014/main" id="{3FD91B25-D25B-781D-DA25-5F08F16CBEBA}"/>
              </a:ext>
            </a:extLst>
          </p:cNvPr>
          <p:cNvCxnSpPr/>
          <p:nvPr/>
        </p:nvCxnSpPr>
        <p:spPr>
          <a:xfrm flipH="1" flipV="1">
            <a:off x="7495885" y="2014813"/>
            <a:ext cx="100264" cy="42519"/>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14" name="Connector 19">
            <a:extLst>
              <a:ext uri="{FF2B5EF4-FFF2-40B4-BE49-F238E27FC236}">
                <a16:creationId xmlns:a16="http://schemas.microsoft.com/office/drawing/2014/main" id="{900CC125-8972-6EAB-AA55-CF9BBEAE3E8A}"/>
              </a:ext>
            </a:extLst>
          </p:cNvPr>
          <p:cNvCxnSpPr/>
          <p:nvPr/>
        </p:nvCxnSpPr>
        <p:spPr>
          <a:xfrm flipH="1" flipV="1">
            <a:off x="7489987" y="1925522"/>
            <a:ext cx="5898" cy="89291"/>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50601C89-7253-8761-76AB-D2C33A1690DE}"/>
              </a:ext>
            </a:extLst>
          </p:cNvPr>
          <p:cNvSpPr/>
          <p:nvPr/>
        </p:nvSpPr>
        <p:spPr>
          <a:xfrm>
            <a:off x="7269022" y="1999862"/>
            <a:ext cx="123444" cy="123444"/>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6" name="Oval 15">
            <a:extLst>
              <a:ext uri="{FF2B5EF4-FFF2-40B4-BE49-F238E27FC236}">
                <a16:creationId xmlns:a16="http://schemas.microsoft.com/office/drawing/2014/main" id="{C59B8300-6553-DE28-3315-644EA6247799}"/>
              </a:ext>
            </a:extLst>
          </p:cNvPr>
          <p:cNvSpPr/>
          <p:nvPr/>
        </p:nvSpPr>
        <p:spPr>
          <a:xfrm>
            <a:off x="7233635" y="1902067"/>
            <a:ext cx="123444" cy="123444"/>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7" name="Oval 16">
            <a:extLst>
              <a:ext uri="{FF2B5EF4-FFF2-40B4-BE49-F238E27FC236}">
                <a16:creationId xmlns:a16="http://schemas.microsoft.com/office/drawing/2014/main" id="{F22AE5E9-0636-1340-ADA2-12D674830AD0}"/>
              </a:ext>
            </a:extLst>
          </p:cNvPr>
          <p:cNvSpPr/>
          <p:nvPr/>
        </p:nvSpPr>
        <p:spPr>
          <a:xfrm>
            <a:off x="7274920" y="1800020"/>
            <a:ext cx="123444" cy="123444"/>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8" name="Oval 17">
            <a:extLst>
              <a:ext uri="{FF2B5EF4-FFF2-40B4-BE49-F238E27FC236}">
                <a16:creationId xmlns:a16="http://schemas.microsoft.com/office/drawing/2014/main" id="{BDD764FC-EB11-5698-5C53-6EA79B98BE7F}"/>
              </a:ext>
            </a:extLst>
          </p:cNvPr>
          <p:cNvSpPr/>
          <p:nvPr/>
        </p:nvSpPr>
        <p:spPr>
          <a:xfrm>
            <a:off x="7369286" y="1731989"/>
            <a:ext cx="123444" cy="123444"/>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9" name="Oval 18">
            <a:extLst>
              <a:ext uri="{FF2B5EF4-FFF2-40B4-BE49-F238E27FC236}">
                <a16:creationId xmlns:a16="http://schemas.microsoft.com/office/drawing/2014/main" id="{5DFCEBE7-0D68-975F-DEC3-5D529874CD42}"/>
              </a:ext>
            </a:extLst>
          </p:cNvPr>
          <p:cNvSpPr/>
          <p:nvPr/>
        </p:nvSpPr>
        <p:spPr>
          <a:xfrm>
            <a:off x="7499040" y="1706477"/>
            <a:ext cx="123444" cy="123444"/>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0" name="Oval 19">
            <a:extLst>
              <a:ext uri="{FF2B5EF4-FFF2-40B4-BE49-F238E27FC236}">
                <a16:creationId xmlns:a16="http://schemas.microsoft.com/office/drawing/2014/main" id="{4BA72258-5A4B-57DE-BF1E-BE0E0E715368}"/>
              </a:ext>
            </a:extLst>
          </p:cNvPr>
          <p:cNvSpPr/>
          <p:nvPr/>
        </p:nvSpPr>
        <p:spPr>
          <a:xfrm>
            <a:off x="7622895" y="1731989"/>
            <a:ext cx="123444" cy="123444"/>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1" name="Oval 20">
            <a:extLst>
              <a:ext uri="{FF2B5EF4-FFF2-40B4-BE49-F238E27FC236}">
                <a16:creationId xmlns:a16="http://schemas.microsoft.com/office/drawing/2014/main" id="{2D56DF2C-BA3E-C498-6599-B10B3EEEA3D1}"/>
              </a:ext>
            </a:extLst>
          </p:cNvPr>
          <p:cNvSpPr/>
          <p:nvPr/>
        </p:nvSpPr>
        <p:spPr>
          <a:xfrm>
            <a:off x="7705465" y="1800020"/>
            <a:ext cx="123444" cy="123444"/>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2" name="Oval 21">
            <a:extLst>
              <a:ext uri="{FF2B5EF4-FFF2-40B4-BE49-F238E27FC236}">
                <a16:creationId xmlns:a16="http://schemas.microsoft.com/office/drawing/2014/main" id="{3A3DA7D8-A523-771B-0ACF-2A22BAE80800}"/>
              </a:ext>
            </a:extLst>
          </p:cNvPr>
          <p:cNvSpPr/>
          <p:nvPr/>
        </p:nvSpPr>
        <p:spPr>
          <a:xfrm>
            <a:off x="7723159" y="1897815"/>
            <a:ext cx="123444" cy="123444"/>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3" name="Oval 22">
            <a:extLst>
              <a:ext uri="{FF2B5EF4-FFF2-40B4-BE49-F238E27FC236}">
                <a16:creationId xmlns:a16="http://schemas.microsoft.com/office/drawing/2014/main" id="{204C9426-D4A1-8681-05E0-C363FE1ABC93}"/>
              </a:ext>
            </a:extLst>
          </p:cNvPr>
          <p:cNvSpPr/>
          <p:nvPr/>
        </p:nvSpPr>
        <p:spPr>
          <a:xfrm>
            <a:off x="7652385" y="1970099"/>
            <a:ext cx="123444" cy="123444"/>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4" name="Oval 23">
            <a:extLst>
              <a:ext uri="{FF2B5EF4-FFF2-40B4-BE49-F238E27FC236}">
                <a16:creationId xmlns:a16="http://schemas.microsoft.com/office/drawing/2014/main" id="{FB8DEE3B-D30B-9E2A-1F30-8D1E7ECB7278}"/>
              </a:ext>
            </a:extLst>
          </p:cNvPr>
          <p:cNvSpPr/>
          <p:nvPr/>
        </p:nvSpPr>
        <p:spPr>
          <a:xfrm>
            <a:off x="7534427" y="1995610"/>
            <a:ext cx="123444" cy="123444"/>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5" name="Oval 24">
            <a:extLst>
              <a:ext uri="{FF2B5EF4-FFF2-40B4-BE49-F238E27FC236}">
                <a16:creationId xmlns:a16="http://schemas.microsoft.com/office/drawing/2014/main" id="{2D605753-B4E8-3BB9-F0DA-DB65DFA4D201}"/>
              </a:ext>
            </a:extLst>
          </p:cNvPr>
          <p:cNvSpPr/>
          <p:nvPr/>
        </p:nvSpPr>
        <p:spPr>
          <a:xfrm>
            <a:off x="7434163" y="1953091"/>
            <a:ext cx="123444" cy="123444"/>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6" name="Oval 25">
            <a:extLst>
              <a:ext uri="{FF2B5EF4-FFF2-40B4-BE49-F238E27FC236}">
                <a16:creationId xmlns:a16="http://schemas.microsoft.com/office/drawing/2014/main" id="{6EA7FCB1-92CE-3530-19A2-25AEB39292F8}"/>
              </a:ext>
            </a:extLst>
          </p:cNvPr>
          <p:cNvSpPr/>
          <p:nvPr/>
        </p:nvSpPr>
        <p:spPr>
          <a:xfrm>
            <a:off x="7428265" y="1863800"/>
            <a:ext cx="123444" cy="123444"/>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7" name="TextBox 26">
            <a:extLst>
              <a:ext uri="{FF2B5EF4-FFF2-40B4-BE49-F238E27FC236}">
                <a16:creationId xmlns:a16="http://schemas.microsoft.com/office/drawing/2014/main" id="{BA3D5902-A3F4-186E-6D32-226E18A01902}"/>
              </a:ext>
            </a:extLst>
          </p:cNvPr>
          <p:cNvSpPr txBox="1"/>
          <p:nvPr/>
        </p:nvSpPr>
        <p:spPr>
          <a:xfrm>
            <a:off x="8078724" y="1833442"/>
            <a:ext cx="3006182" cy="184666"/>
          </a:xfrm>
          <a:prstGeom prst="rect">
            <a:avLst/>
          </a:prstGeom>
          <a:noFill/>
        </p:spPr>
        <p:txBody>
          <a:bodyPr wrap="square" lIns="0" tIns="0" rIns="0" bIns="0" anchor="t">
            <a:spAutoFit/>
          </a:bodyPr>
          <a:lstStyle/>
          <a:p>
            <a:pPr algn="l">
              <a:spcAft>
                <a:spcPts val="0"/>
              </a:spcAft>
            </a:pPr>
            <a:r>
              <a:rPr sz="1200" b="0" dirty="0">
                <a:solidFill>
                  <a:srgbClr val="1A2A31"/>
                </a:solidFill>
                <a:latin typeface="Segoe UI"/>
              </a:rPr>
              <a:t>the protein folds correctly and works</a:t>
            </a:r>
          </a:p>
        </p:txBody>
      </p:sp>
      <p:sp>
        <p:nvSpPr>
          <p:cNvPr id="28" name="Rounded Rectangle 33">
            <a:extLst>
              <a:ext uri="{FF2B5EF4-FFF2-40B4-BE49-F238E27FC236}">
                <a16:creationId xmlns:a16="http://schemas.microsoft.com/office/drawing/2014/main" id="{AAE204C7-8DFE-BEA6-6E28-BAC6A4D1B6C5}"/>
              </a:ext>
            </a:extLst>
          </p:cNvPr>
          <p:cNvSpPr/>
          <p:nvPr/>
        </p:nvSpPr>
        <p:spPr>
          <a:xfrm>
            <a:off x="566928" y="2359152"/>
            <a:ext cx="3596640" cy="3803904"/>
          </a:xfrm>
          <a:prstGeom prst="roundRect">
            <a:avLst>
              <a:gd name="adj" fmla="val 45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9" name="Oval 28">
            <a:extLst>
              <a:ext uri="{FF2B5EF4-FFF2-40B4-BE49-F238E27FC236}">
                <a16:creationId xmlns:a16="http://schemas.microsoft.com/office/drawing/2014/main" id="{C7FCC925-773C-459A-1E7F-6255B4555097}"/>
              </a:ext>
            </a:extLst>
          </p:cNvPr>
          <p:cNvSpPr/>
          <p:nvPr/>
        </p:nvSpPr>
        <p:spPr>
          <a:xfrm>
            <a:off x="804672" y="2523744"/>
            <a:ext cx="274320" cy="274320"/>
          </a:xfrm>
          <a:prstGeom prst="ellipse">
            <a:avLst/>
          </a:prstGeom>
          <a:solidFill>
            <a:srgbClr val="15697A"/>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30" name="TextBox 29">
            <a:extLst>
              <a:ext uri="{FF2B5EF4-FFF2-40B4-BE49-F238E27FC236}">
                <a16:creationId xmlns:a16="http://schemas.microsoft.com/office/drawing/2014/main" id="{9FDE03BE-4F6C-E84E-F90C-216C45855206}"/>
              </a:ext>
            </a:extLst>
          </p:cNvPr>
          <p:cNvSpPr txBox="1"/>
          <p:nvPr/>
        </p:nvSpPr>
        <p:spPr>
          <a:xfrm>
            <a:off x="804672" y="2578608"/>
            <a:ext cx="274320" cy="182880"/>
          </a:xfrm>
          <a:prstGeom prst="rect">
            <a:avLst/>
          </a:prstGeom>
          <a:noFill/>
        </p:spPr>
        <p:txBody>
          <a:bodyPr wrap="square" lIns="0" tIns="0" rIns="0" bIns="0" anchor="t">
            <a:spAutoFit/>
          </a:bodyPr>
          <a:lstStyle/>
          <a:p>
            <a:pPr algn="ctr">
              <a:spcAft>
                <a:spcPts val="0"/>
              </a:spcAft>
            </a:pPr>
            <a:r>
              <a:rPr sz="1100" b="1">
                <a:solidFill>
                  <a:srgbClr val="FFFFFF"/>
                </a:solidFill>
                <a:latin typeface="Segoe UI"/>
              </a:rPr>
              <a:t>1</a:t>
            </a:r>
          </a:p>
        </p:txBody>
      </p:sp>
      <p:sp>
        <p:nvSpPr>
          <p:cNvPr id="31" name="TextBox 30">
            <a:extLst>
              <a:ext uri="{FF2B5EF4-FFF2-40B4-BE49-F238E27FC236}">
                <a16:creationId xmlns:a16="http://schemas.microsoft.com/office/drawing/2014/main" id="{CDB8B136-A2D6-6F95-F52F-C1302EA570A5}"/>
              </a:ext>
            </a:extLst>
          </p:cNvPr>
          <p:cNvSpPr txBox="1"/>
          <p:nvPr/>
        </p:nvSpPr>
        <p:spPr>
          <a:xfrm>
            <a:off x="801623" y="2816352"/>
            <a:ext cx="2267712" cy="164592"/>
          </a:xfrm>
          <a:prstGeom prst="rect">
            <a:avLst/>
          </a:prstGeom>
          <a:noFill/>
        </p:spPr>
        <p:txBody>
          <a:bodyPr wrap="square" lIns="0" tIns="0" rIns="0" bIns="0" anchor="t">
            <a:spAutoFit/>
          </a:bodyPr>
          <a:lstStyle/>
          <a:p>
            <a:pPr algn="ctr">
              <a:spcAft>
                <a:spcPts val="0"/>
              </a:spcAft>
            </a:pPr>
            <a:r>
              <a:rPr sz="750" b="0" spc="90">
                <a:solidFill>
                  <a:srgbClr val="8A9BA1"/>
                </a:solidFill>
                <a:latin typeface="Consolas"/>
              </a:rPr>
              <a:t>KEPT</a:t>
            </a:r>
          </a:p>
        </p:txBody>
      </p:sp>
      <p:sp>
        <p:nvSpPr>
          <p:cNvPr id="32" name="TextBox 31">
            <a:extLst>
              <a:ext uri="{FF2B5EF4-FFF2-40B4-BE49-F238E27FC236}">
                <a16:creationId xmlns:a16="http://schemas.microsoft.com/office/drawing/2014/main" id="{FB5B3D0B-D46D-96D2-A850-CFA124922058}"/>
              </a:ext>
            </a:extLst>
          </p:cNvPr>
          <p:cNvSpPr txBox="1"/>
          <p:nvPr/>
        </p:nvSpPr>
        <p:spPr>
          <a:xfrm>
            <a:off x="2987040" y="2816352"/>
            <a:ext cx="1261872" cy="164592"/>
          </a:xfrm>
          <a:prstGeom prst="rect">
            <a:avLst/>
          </a:prstGeom>
          <a:noFill/>
        </p:spPr>
        <p:txBody>
          <a:bodyPr wrap="square" lIns="0" tIns="0" rIns="0" bIns="0" anchor="t">
            <a:spAutoFit/>
          </a:bodyPr>
          <a:lstStyle/>
          <a:p>
            <a:pPr algn="ctr">
              <a:spcAft>
                <a:spcPts val="0"/>
              </a:spcAft>
            </a:pPr>
            <a:r>
              <a:rPr sz="750" b="0" spc="90">
                <a:solidFill>
                  <a:srgbClr val="8A9BA1"/>
                </a:solidFill>
                <a:latin typeface="Consolas"/>
              </a:rPr>
              <a:t>CUT OUT</a:t>
            </a:r>
          </a:p>
        </p:txBody>
      </p:sp>
      <p:sp>
        <p:nvSpPr>
          <p:cNvPr id="33" name="Rounded Rectangle 38">
            <a:extLst>
              <a:ext uri="{FF2B5EF4-FFF2-40B4-BE49-F238E27FC236}">
                <a16:creationId xmlns:a16="http://schemas.microsoft.com/office/drawing/2014/main" id="{80200FDA-BFD0-0EC2-284B-3555539DAA30}"/>
              </a:ext>
            </a:extLst>
          </p:cNvPr>
          <p:cNvSpPr/>
          <p:nvPr/>
        </p:nvSpPr>
        <p:spPr>
          <a:xfrm>
            <a:off x="801623"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34" name="TextBox 33">
            <a:extLst>
              <a:ext uri="{FF2B5EF4-FFF2-40B4-BE49-F238E27FC236}">
                <a16:creationId xmlns:a16="http://schemas.microsoft.com/office/drawing/2014/main" id="{A52F7B79-7F19-F186-5601-49A5ADBDD0B0}"/>
              </a:ext>
            </a:extLst>
          </p:cNvPr>
          <p:cNvSpPr txBox="1"/>
          <p:nvPr/>
        </p:nvSpPr>
        <p:spPr>
          <a:xfrm>
            <a:off x="801623"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A</a:t>
            </a:r>
          </a:p>
        </p:txBody>
      </p:sp>
      <p:sp>
        <p:nvSpPr>
          <p:cNvPr id="35" name="Rounded Rectangle 40">
            <a:extLst>
              <a:ext uri="{FF2B5EF4-FFF2-40B4-BE49-F238E27FC236}">
                <a16:creationId xmlns:a16="http://schemas.microsoft.com/office/drawing/2014/main" id="{7EEE7C6F-F5C9-9671-14C2-0E3CB57654AB}"/>
              </a:ext>
            </a:extLst>
          </p:cNvPr>
          <p:cNvSpPr/>
          <p:nvPr/>
        </p:nvSpPr>
        <p:spPr>
          <a:xfrm>
            <a:off x="1130807" y="3035808"/>
            <a:ext cx="292608" cy="365760"/>
          </a:xfrm>
          <a:prstGeom prst="roundRect">
            <a:avLst>
              <a:gd name="adj" fmla="val 14000"/>
            </a:avLst>
          </a:prstGeom>
          <a:solidFill>
            <a:srgbClr val="FAF5E6"/>
          </a:solidFill>
          <a:ln w="22225">
            <a:solidFill>
              <a:srgbClr val="B9AE7C"/>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36" name="TextBox 35">
            <a:extLst>
              <a:ext uri="{FF2B5EF4-FFF2-40B4-BE49-F238E27FC236}">
                <a16:creationId xmlns:a16="http://schemas.microsoft.com/office/drawing/2014/main" id="{B1267D4C-A2C1-60AC-9473-EC77D220778A}"/>
              </a:ext>
            </a:extLst>
          </p:cNvPr>
          <p:cNvSpPr txBox="1"/>
          <p:nvPr/>
        </p:nvSpPr>
        <p:spPr>
          <a:xfrm>
            <a:off x="1130807" y="3127248"/>
            <a:ext cx="292608" cy="219456"/>
          </a:xfrm>
          <a:prstGeom prst="rect">
            <a:avLst/>
          </a:prstGeom>
          <a:noFill/>
        </p:spPr>
        <p:txBody>
          <a:bodyPr wrap="square" lIns="0" tIns="0" rIns="0" bIns="0" anchor="t">
            <a:spAutoFit/>
          </a:bodyPr>
          <a:lstStyle/>
          <a:p>
            <a:pPr algn="ctr">
              <a:spcAft>
                <a:spcPts val="0"/>
              </a:spcAft>
            </a:pPr>
            <a:r>
              <a:rPr sz="1500" b="1">
                <a:solidFill>
                  <a:srgbClr val="8A7A3C"/>
                </a:solidFill>
                <a:latin typeface="Consolas"/>
              </a:rPr>
              <a:t>G</a:t>
            </a:r>
          </a:p>
        </p:txBody>
      </p:sp>
      <p:sp>
        <p:nvSpPr>
          <p:cNvPr id="37" name="TextBox 36">
            <a:extLst>
              <a:ext uri="{FF2B5EF4-FFF2-40B4-BE49-F238E27FC236}">
                <a16:creationId xmlns:a16="http://schemas.microsoft.com/office/drawing/2014/main" id="{F206BB35-D476-E3C1-290B-D7BA226FD500}"/>
              </a:ext>
            </a:extLst>
          </p:cNvPr>
          <p:cNvSpPr txBox="1"/>
          <p:nvPr/>
        </p:nvSpPr>
        <p:spPr>
          <a:xfrm>
            <a:off x="856487" y="3438144"/>
            <a:ext cx="841247" cy="164592"/>
          </a:xfrm>
          <a:prstGeom prst="rect">
            <a:avLst/>
          </a:prstGeom>
          <a:noFill/>
        </p:spPr>
        <p:txBody>
          <a:bodyPr wrap="square" lIns="0" tIns="0" rIns="0" bIns="0" anchor="t">
            <a:spAutoFit/>
          </a:bodyPr>
          <a:lstStyle/>
          <a:p>
            <a:pPr algn="ctr">
              <a:spcAft>
                <a:spcPts val="0"/>
              </a:spcAft>
            </a:pPr>
            <a:r>
              <a:rPr sz="850" b="0">
                <a:solidFill>
                  <a:srgbClr val="8A7A3C"/>
                </a:solidFill>
                <a:latin typeface="Consolas"/>
              </a:rPr>
              <a:t>T → G</a:t>
            </a:r>
          </a:p>
        </p:txBody>
      </p:sp>
      <p:sp>
        <p:nvSpPr>
          <p:cNvPr id="38" name="Rounded Rectangle 43">
            <a:extLst>
              <a:ext uri="{FF2B5EF4-FFF2-40B4-BE49-F238E27FC236}">
                <a16:creationId xmlns:a16="http://schemas.microsoft.com/office/drawing/2014/main" id="{B08302DE-440D-F8B4-72BE-6DE9D043107F}"/>
              </a:ext>
            </a:extLst>
          </p:cNvPr>
          <p:cNvSpPr/>
          <p:nvPr/>
        </p:nvSpPr>
        <p:spPr>
          <a:xfrm>
            <a:off x="1459991"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39" name="TextBox 38">
            <a:extLst>
              <a:ext uri="{FF2B5EF4-FFF2-40B4-BE49-F238E27FC236}">
                <a16:creationId xmlns:a16="http://schemas.microsoft.com/office/drawing/2014/main" id="{88CD6951-788E-D7A5-E9AC-52CE10753A15}"/>
              </a:ext>
            </a:extLst>
          </p:cNvPr>
          <p:cNvSpPr txBox="1"/>
          <p:nvPr/>
        </p:nvSpPr>
        <p:spPr>
          <a:xfrm>
            <a:off x="1459991"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C</a:t>
            </a:r>
          </a:p>
        </p:txBody>
      </p:sp>
      <p:sp>
        <p:nvSpPr>
          <p:cNvPr id="40" name="Rounded Rectangle 45">
            <a:extLst>
              <a:ext uri="{FF2B5EF4-FFF2-40B4-BE49-F238E27FC236}">
                <a16:creationId xmlns:a16="http://schemas.microsoft.com/office/drawing/2014/main" id="{4D1450C1-4701-43B4-9F91-253D15BE57B8}"/>
              </a:ext>
            </a:extLst>
          </p:cNvPr>
          <p:cNvSpPr/>
          <p:nvPr/>
        </p:nvSpPr>
        <p:spPr>
          <a:xfrm>
            <a:off x="1789176"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41" name="TextBox 40">
            <a:extLst>
              <a:ext uri="{FF2B5EF4-FFF2-40B4-BE49-F238E27FC236}">
                <a16:creationId xmlns:a16="http://schemas.microsoft.com/office/drawing/2014/main" id="{C1E3AFF4-981B-F7FE-D7E2-E8BEECDF3B4B}"/>
              </a:ext>
            </a:extLst>
          </p:cNvPr>
          <p:cNvSpPr txBox="1"/>
          <p:nvPr/>
        </p:nvSpPr>
        <p:spPr>
          <a:xfrm>
            <a:off x="1789176"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G</a:t>
            </a:r>
          </a:p>
        </p:txBody>
      </p:sp>
      <p:sp>
        <p:nvSpPr>
          <p:cNvPr id="42" name="Rounded Rectangle 47">
            <a:extLst>
              <a:ext uri="{FF2B5EF4-FFF2-40B4-BE49-F238E27FC236}">
                <a16:creationId xmlns:a16="http://schemas.microsoft.com/office/drawing/2014/main" id="{ADFEEA54-08D8-9F21-8710-1AD8DE1DB285}"/>
              </a:ext>
            </a:extLst>
          </p:cNvPr>
          <p:cNvSpPr/>
          <p:nvPr/>
        </p:nvSpPr>
        <p:spPr>
          <a:xfrm>
            <a:off x="2118360"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43" name="TextBox 42">
            <a:extLst>
              <a:ext uri="{FF2B5EF4-FFF2-40B4-BE49-F238E27FC236}">
                <a16:creationId xmlns:a16="http://schemas.microsoft.com/office/drawing/2014/main" id="{D4AFC85E-F263-B558-617D-980E7BD6F582}"/>
              </a:ext>
            </a:extLst>
          </p:cNvPr>
          <p:cNvSpPr txBox="1"/>
          <p:nvPr/>
        </p:nvSpPr>
        <p:spPr>
          <a:xfrm>
            <a:off x="2118360"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C</a:t>
            </a:r>
          </a:p>
        </p:txBody>
      </p:sp>
      <p:sp>
        <p:nvSpPr>
          <p:cNvPr id="44" name="Rounded Rectangle 49">
            <a:extLst>
              <a:ext uri="{FF2B5EF4-FFF2-40B4-BE49-F238E27FC236}">
                <a16:creationId xmlns:a16="http://schemas.microsoft.com/office/drawing/2014/main" id="{46573C94-4A1A-9F05-50CE-1265B608AABC}"/>
              </a:ext>
            </a:extLst>
          </p:cNvPr>
          <p:cNvSpPr/>
          <p:nvPr/>
        </p:nvSpPr>
        <p:spPr>
          <a:xfrm>
            <a:off x="2447543"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45" name="TextBox 44">
            <a:extLst>
              <a:ext uri="{FF2B5EF4-FFF2-40B4-BE49-F238E27FC236}">
                <a16:creationId xmlns:a16="http://schemas.microsoft.com/office/drawing/2014/main" id="{C49F3634-A287-5617-BEFE-92F8D9EE1FB1}"/>
              </a:ext>
            </a:extLst>
          </p:cNvPr>
          <p:cNvSpPr txBox="1"/>
          <p:nvPr/>
        </p:nvSpPr>
        <p:spPr>
          <a:xfrm>
            <a:off x="2447543"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A</a:t>
            </a:r>
          </a:p>
        </p:txBody>
      </p:sp>
      <p:sp>
        <p:nvSpPr>
          <p:cNvPr id="46" name="Rounded Rectangle 51">
            <a:extLst>
              <a:ext uri="{FF2B5EF4-FFF2-40B4-BE49-F238E27FC236}">
                <a16:creationId xmlns:a16="http://schemas.microsoft.com/office/drawing/2014/main" id="{8498EF85-942F-8F75-8A59-AFE9DF0E44E1}"/>
              </a:ext>
            </a:extLst>
          </p:cNvPr>
          <p:cNvSpPr/>
          <p:nvPr/>
        </p:nvSpPr>
        <p:spPr>
          <a:xfrm>
            <a:off x="2776728"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47" name="TextBox 46">
            <a:extLst>
              <a:ext uri="{FF2B5EF4-FFF2-40B4-BE49-F238E27FC236}">
                <a16:creationId xmlns:a16="http://schemas.microsoft.com/office/drawing/2014/main" id="{D2B668B8-8D8F-AB6F-6AFE-89ABED2E3C04}"/>
              </a:ext>
            </a:extLst>
          </p:cNvPr>
          <p:cNvSpPr txBox="1"/>
          <p:nvPr/>
        </p:nvSpPr>
        <p:spPr>
          <a:xfrm>
            <a:off x="2776728"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G</a:t>
            </a:r>
          </a:p>
        </p:txBody>
      </p:sp>
      <p:sp>
        <p:nvSpPr>
          <p:cNvPr id="48" name="Rounded Rectangle 53">
            <a:extLst>
              <a:ext uri="{FF2B5EF4-FFF2-40B4-BE49-F238E27FC236}">
                <a16:creationId xmlns:a16="http://schemas.microsoft.com/office/drawing/2014/main" id="{78163EC8-4987-55A1-B145-65B2B8E836B1}"/>
              </a:ext>
            </a:extLst>
          </p:cNvPr>
          <p:cNvSpPr/>
          <p:nvPr/>
        </p:nvSpPr>
        <p:spPr>
          <a:xfrm>
            <a:off x="3307080" y="3035808"/>
            <a:ext cx="292608" cy="365760"/>
          </a:xfrm>
          <a:prstGeom prst="roundRect">
            <a:avLst>
              <a:gd name="adj" fmla="val 14000"/>
            </a:avLst>
          </a:prstGeom>
          <a:solidFill>
            <a:srgbClr val="F7F9F9"/>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50" name="TextBox 49">
            <a:extLst>
              <a:ext uri="{FF2B5EF4-FFF2-40B4-BE49-F238E27FC236}">
                <a16:creationId xmlns:a16="http://schemas.microsoft.com/office/drawing/2014/main" id="{2BC9468E-5953-645B-E73B-9548F79E6402}"/>
              </a:ext>
            </a:extLst>
          </p:cNvPr>
          <p:cNvSpPr txBox="1"/>
          <p:nvPr/>
        </p:nvSpPr>
        <p:spPr>
          <a:xfrm>
            <a:off x="3307080" y="3127248"/>
            <a:ext cx="292608" cy="219456"/>
          </a:xfrm>
          <a:prstGeom prst="rect">
            <a:avLst/>
          </a:prstGeom>
          <a:noFill/>
        </p:spPr>
        <p:txBody>
          <a:bodyPr wrap="square" lIns="0" tIns="0" rIns="0" bIns="0" anchor="t">
            <a:spAutoFit/>
          </a:bodyPr>
          <a:lstStyle/>
          <a:p>
            <a:pPr algn="ctr">
              <a:spcAft>
                <a:spcPts val="0"/>
              </a:spcAft>
            </a:pPr>
            <a:r>
              <a:rPr sz="1350" b="0">
                <a:solidFill>
                  <a:srgbClr val="B4C0C4"/>
                </a:solidFill>
                <a:latin typeface="Consolas"/>
              </a:rPr>
              <a:t>G</a:t>
            </a:r>
          </a:p>
        </p:txBody>
      </p:sp>
      <p:sp>
        <p:nvSpPr>
          <p:cNvPr id="52" name="Rounded Rectangle 55">
            <a:extLst>
              <a:ext uri="{FF2B5EF4-FFF2-40B4-BE49-F238E27FC236}">
                <a16:creationId xmlns:a16="http://schemas.microsoft.com/office/drawing/2014/main" id="{0C3F8CAD-A911-9087-36BE-52C00A971550}"/>
              </a:ext>
            </a:extLst>
          </p:cNvPr>
          <p:cNvSpPr/>
          <p:nvPr/>
        </p:nvSpPr>
        <p:spPr>
          <a:xfrm>
            <a:off x="3636264" y="3035808"/>
            <a:ext cx="292608" cy="365760"/>
          </a:xfrm>
          <a:prstGeom prst="roundRect">
            <a:avLst>
              <a:gd name="adj" fmla="val 14000"/>
            </a:avLst>
          </a:prstGeom>
          <a:solidFill>
            <a:srgbClr val="F7F9F9"/>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54" name="TextBox 53">
            <a:extLst>
              <a:ext uri="{FF2B5EF4-FFF2-40B4-BE49-F238E27FC236}">
                <a16:creationId xmlns:a16="http://schemas.microsoft.com/office/drawing/2014/main" id="{3DD1B9BE-FA6E-CB14-AB32-7A3E502729AA}"/>
              </a:ext>
            </a:extLst>
          </p:cNvPr>
          <p:cNvSpPr txBox="1"/>
          <p:nvPr/>
        </p:nvSpPr>
        <p:spPr>
          <a:xfrm>
            <a:off x="3636264" y="3127248"/>
            <a:ext cx="292608" cy="219456"/>
          </a:xfrm>
          <a:prstGeom prst="rect">
            <a:avLst/>
          </a:prstGeom>
          <a:noFill/>
        </p:spPr>
        <p:txBody>
          <a:bodyPr wrap="square" lIns="0" tIns="0" rIns="0" bIns="0" anchor="t">
            <a:spAutoFit/>
          </a:bodyPr>
          <a:lstStyle/>
          <a:p>
            <a:pPr algn="ctr">
              <a:spcAft>
                <a:spcPts val="0"/>
              </a:spcAft>
            </a:pPr>
            <a:r>
              <a:rPr sz="1350" b="0">
                <a:solidFill>
                  <a:srgbClr val="B4C0C4"/>
                </a:solidFill>
                <a:latin typeface="Consolas"/>
              </a:rPr>
              <a:t>T</a:t>
            </a:r>
          </a:p>
        </p:txBody>
      </p:sp>
      <p:cxnSp>
        <p:nvCxnSpPr>
          <p:cNvPr id="56" name="Connector 57">
            <a:extLst>
              <a:ext uri="{FF2B5EF4-FFF2-40B4-BE49-F238E27FC236}">
                <a16:creationId xmlns:a16="http://schemas.microsoft.com/office/drawing/2014/main" id="{2BF48F0C-A575-BFF4-93EA-0868CF7E5810}"/>
              </a:ext>
            </a:extLst>
          </p:cNvPr>
          <p:cNvCxnSpPr/>
          <p:nvPr/>
        </p:nvCxnSpPr>
        <p:spPr>
          <a:xfrm>
            <a:off x="3188208" y="2953512"/>
            <a:ext cx="0" cy="530352"/>
          </a:xfrm>
          <a:prstGeom prst="line">
            <a:avLst/>
          </a:prstGeom>
          <a:ln w="19050">
            <a:solidFill>
              <a:srgbClr val="B0554A"/>
            </a:solidFill>
            <a:prstDash val="sysDot"/>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B0E456D6-7EC8-E8AE-B7B2-C362CE1EC820}"/>
              </a:ext>
            </a:extLst>
          </p:cNvPr>
          <p:cNvSpPr txBox="1"/>
          <p:nvPr/>
        </p:nvSpPr>
        <p:spPr>
          <a:xfrm>
            <a:off x="2776728" y="3438144"/>
            <a:ext cx="822960" cy="164592"/>
          </a:xfrm>
          <a:prstGeom prst="rect">
            <a:avLst/>
          </a:prstGeom>
          <a:noFill/>
        </p:spPr>
        <p:txBody>
          <a:bodyPr wrap="square" lIns="0" tIns="0" rIns="0" bIns="0" anchor="t">
            <a:spAutoFit/>
          </a:bodyPr>
          <a:lstStyle/>
          <a:p>
            <a:pPr algn="ctr">
              <a:spcAft>
                <a:spcPts val="0"/>
              </a:spcAft>
            </a:pPr>
            <a:r>
              <a:rPr sz="850" b="0">
                <a:solidFill>
                  <a:srgbClr val="B0554A"/>
                </a:solidFill>
                <a:latin typeface="Consolas"/>
              </a:rPr>
              <a:t>cut</a:t>
            </a:r>
          </a:p>
        </p:txBody>
      </p:sp>
      <p:sp>
        <p:nvSpPr>
          <p:cNvPr id="60" name="Freeform 59">
            <a:extLst>
              <a:ext uri="{FF2B5EF4-FFF2-40B4-BE49-F238E27FC236}">
                <a16:creationId xmlns:a16="http://schemas.microsoft.com/office/drawing/2014/main" id="{601BD372-63D5-FAF8-C76F-10E0C34FA5A6}"/>
              </a:ext>
            </a:extLst>
          </p:cNvPr>
          <p:cNvSpPr/>
          <p:nvPr/>
        </p:nvSpPr>
        <p:spPr>
          <a:xfrm>
            <a:off x="755903" y="3657600"/>
            <a:ext cx="3218689" cy="914400"/>
          </a:xfrm>
          <a:custGeom>
            <a:avLst/>
            <a:gdLst/>
            <a:ahLst/>
            <a:cxnLst/>
            <a:rect l="l" t="t" r="r" b="b"/>
            <a:pathLst>
              <a:path w="3218689" h="914400">
                <a:moveTo>
                  <a:pt x="0" y="0"/>
                </a:moveTo>
                <a:lnTo>
                  <a:pt x="3218689" y="0"/>
                </a:lnTo>
                <a:lnTo>
                  <a:pt x="2523745" y="914400"/>
                </a:lnTo>
                <a:lnTo>
                  <a:pt x="694944" y="914400"/>
                </a:lnTo>
                <a:close/>
              </a:path>
            </a:pathLst>
          </a:custGeom>
          <a:solidFill>
            <a:srgbClr val="E8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62" name="TextBox 61">
            <a:extLst>
              <a:ext uri="{FF2B5EF4-FFF2-40B4-BE49-F238E27FC236}">
                <a16:creationId xmlns:a16="http://schemas.microsoft.com/office/drawing/2014/main" id="{A729E995-23D6-5DC2-12F1-C2200AB13439}"/>
              </a:ext>
            </a:extLst>
          </p:cNvPr>
          <p:cNvSpPr txBox="1"/>
          <p:nvPr/>
        </p:nvSpPr>
        <p:spPr>
          <a:xfrm>
            <a:off x="880993" y="3767328"/>
            <a:ext cx="2968508" cy="123111"/>
          </a:xfrm>
          <a:prstGeom prst="rect">
            <a:avLst/>
          </a:prstGeom>
          <a:noFill/>
        </p:spPr>
        <p:txBody>
          <a:bodyPr wrap="square" lIns="0" tIns="0" rIns="0" bIns="0" anchor="t">
            <a:spAutoFit/>
          </a:bodyPr>
          <a:lstStyle/>
          <a:p>
            <a:pPr algn="ctr">
              <a:spcAft>
                <a:spcPts val="0"/>
              </a:spcAft>
            </a:pPr>
            <a:r>
              <a:rPr sz="800" b="0" spc="70" dirty="0">
                <a:solidFill>
                  <a:srgbClr val="5B6E76"/>
                </a:solidFill>
                <a:latin typeface="Arial" panose="020B0604020202020204" pitchFamily="34" charset="0"/>
                <a:cs typeface="Arial" panose="020B0604020202020204" pitchFamily="34" charset="0"/>
              </a:rPr>
              <a:t>THE TEXT IS COPIED</a:t>
            </a:r>
          </a:p>
        </p:txBody>
      </p:sp>
      <p:sp>
        <p:nvSpPr>
          <p:cNvPr id="64" name="TextBox 63">
            <a:extLst>
              <a:ext uri="{FF2B5EF4-FFF2-40B4-BE49-F238E27FC236}">
                <a16:creationId xmlns:a16="http://schemas.microsoft.com/office/drawing/2014/main" id="{53B7C60F-AF18-B52C-9EE4-68FC0073D75C}"/>
              </a:ext>
            </a:extLst>
          </p:cNvPr>
          <p:cNvSpPr txBox="1"/>
          <p:nvPr/>
        </p:nvSpPr>
        <p:spPr>
          <a:xfrm>
            <a:off x="2090928" y="3899915"/>
            <a:ext cx="548640" cy="107722"/>
          </a:xfrm>
          <a:prstGeom prst="rect">
            <a:avLst/>
          </a:prstGeom>
          <a:noFill/>
        </p:spPr>
        <p:txBody>
          <a:bodyPr wrap="square" lIns="0" tIns="0" rIns="0" bIns="0" anchor="t">
            <a:spAutoFit/>
          </a:bodyPr>
          <a:lstStyle/>
          <a:p>
            <a:pPr algn="ctr">
              <a:spcAft>
                <a:spcPts val="0"/>
              </a:spcAft>
            </a:pPr>
            <a:r>
              <a:rPr sz="700" b="0">
                <a:solidFill>
                  <a:srgbClr val="8A9BA1"/>
                </a:solidFill>
                <a:latin typeface="Arial" panose="020B0604020202020204" pitchFamily="34" charset="0"/>
                <a:cs typeface="Arial" panose="020B0604020202020204" pitchFamily="34" charset="0"/>
              </a:rPr>
              <a:t>▾</a:t>
            </a:r>
          </a:p>
        </p:txBody>
      </p:sp>
      <p:sp>
        <p:nvSpPr>
          <p:cNvPr id="66" name="TextBox 65">
            <a:extLst>
              <a:ext uri="{FF2B5EF4-FFF2-40B4-BE49-F238E27FC236}">
                <a16:creationId xmlns:a16="http://schemas.microsoft.com/office/drawing/2014/main" id="{296F5751-42D5-FBAE-97E7-A31B0F1B38BC}"/>
              </a:ext>
            </a:extLst>
          </p:cNvPr>
          <p:cNvSpPr txBox="1"/>
          <p:nvPr/>
        </p:nvSpPr>
        <p:spPr>
          <a:xfrm>
            <a:off x="1079052" y="4027932"/>
            <a:ext cx="2572390" cy="123111"/>
          </a:xfrm>
          <a:prstGeom prst="rect">
            <a:avLst/>
          </a:prstGeom>
          <a:noFill/>
        </p:spPr>
        <p:txBody>
          <a:bodyPr wrap="square" lIns="0" tIns="0" rIns="0" bIns="0" anchor="t">
            <a:spAutoFit/>
          </a:bodyPr>
          <a:lstStyle/>
          <a:p>
            <a:pPr algn="ctr">
              <a:spcAft>
                <a:spcPts val="0"/>
              </a:spcAft>
            </a:pPr>
            <a:r>
              <a:rPr sz="800" b="0" spc="70">
                <a:solidFill>
                  <a:srgbClr val="5B6E76"/>
                </a:solidFill>
                <a:latin typeface="Arial" panose="020B0604020202020204" pitchFamily="34" charset="0"/>
                <a:cs typeface="Arial" panose="020B0604020202020204" pitchFamily="34" charset="0"/>
              </a:rPr>
              <a:t>PIECES CUT AND TAPED</a:t>
            </a:r>
          </a:p>
        </p:txBody>
      </p:sp>
      <p:sp>
        <p:nvSpPr>
          <p:cNvPr id="68" name="TextBox 67">
            <a:extLst>
              <a:ext uri="{FF2B5EF4-FFF2-40B4-BE49-F238E27FC236}">
                <a16:creationId xmlns:a16="http://schemas.microsoft.com/office/drawing/2014/main" id="{EE300149-C53F-1ECE-D047-8DEA183941BE}"/>
              </a:ext>
            </a:extLst>
          </p:cNvPr>
          <p:cNvSpPr txBox="1"/>
          <p:nvPr/>
        </p:nvSpPr>
        <p:spPr>
          <a:xfrm>
            <a:off x="2090928" y="4160520"/>
            <a:ext cx="548640" cy="107722"/>
          </a:xfrm>
          <a:prstGeom prst="rect">
            <a:avLst/>
          </a:prstGeom>
          <a:noFill/>
        </p:spPr>
        <p:txBody>
          <a:bodyPr wrap="square" lIns="0" tIns="0" rIns="0" bIns="0" anchor="t">
            <a:spAutoFit/>
          </a:bodyPr>
          <a:lstStyle/>
          <a:p>
            <a:pPr algn="ctr">
              <a:spcAft>
                <a:spcPts val="0"/>
              </a:spcAft>
            </a:pPr>
            <a:r>
              <a:rPr sz="700" b="0">
                <a:solidFill>
                  <a:srgbClr val="8A9BA1"/>
                </a:solidFill>
                <a:latin typeface="Arial" panose="020B0604020202020204" pitchFamily="34" charset="0"/>
                <a:cs typeface="Arial" panose="020B0604020202020204" pitchFamily="34" charset="0"/>
              </a:rPr>
              <a:t>▾</a:t>
            </a:r>
          </a:p>
        </p:txBody>
      </p:sp>
      <p:sp>
        <p:nvSpPr>
          <p:cNvPr id="70" name="TextBox 69">
            <a:extLst>
              <a:ext uri="{FF2B5EF4-FFF2-40B4-BE49-F238E27FC236}">
                <a16:creationId xmlns:a16="http://schemas.microsoft.com/office/drawing/2014/main" id="{E30318F4-FC49-0773-4A87-4E6567FF4ADA}"/>
              </a:ext>
            </a:extLst>
          </p:cNvPr>
          <p:cNvSpPr txBox="1"/>
          <p:nvPr/>
        </p:nvSpPr>
        <p:spPr>
          <a:xfrm>
            <a:off x="1277112" y="4288536"/>
            <a:ext cx="2176271" cy="123111"/>
          </a:xfrm>
          <a:prstGeom prst="rect">
            <a:avLst/>
          </a:prstGeom>
          <a:noFill/>
        </p:spPr>
        <p:txBody>
          <a:bodyPr wrap="square" lIns="0" tIns="0" rIns="0" bIns="0" anchor="t">
            <a:spAutoFit/>
          </a:bodyPr>
          <a:lstStyle/>
          <a:p>
            <a:pPr algn="ctr">
              <a:spcAft>
                <a:spcPts val="0"/>
              </a:spcAft>
            </a:pPr>
            <a:r>
              <a:rPr sz="800" b="0" spc="70">
                <a:solidFill>
                  <a:srgbClr val="5B6E76"/>
                </a:solidFill>
                <a:latin typeface="Arial" panose="020B0604020202020204" pitchFamily="34" charset="0"/>
                <a:cs typeface="Arial" panose="020B0604020202020204" pitchFamily="34" charset="0"/>
              </a:rPr>
              <a:t>THE PROTEIN IS BUILT</a:t>
            </a:r>
          </a:p>
        </p:txBody>
      </p:sp>
      <p:cxnSp>
        <p:nvCxnSpPr>
          <p:cNvPr id="72" name="Connector 65">
            <a:extLst>
              <a:ext uri="{FF2B5EF4-FFF2-40B4-BE49-F238E27FC236}">
                <a16:creationId xmlns:a16="http://schemas.microsoft.com/office/drawing/2014/main" id="{3B3CB8A5-C414-52FC-4E6B-86897767C5DC}"/>
              </a:ext>
            </a:extLst>
          </p:cNvPr>
          <p:cNvCxnSpPr/>
          <p:nvPr/>
        </p:nvCxnSpPr>
        <p:spPr>
          <a:xfrm flipH="1" flipV="1">
            <a:off x="1942520" y="5005197"/>
            <a:ext cx="55139" cy="131445"/>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74" name="Connector 66">
            <a:extLst>
              <a:ext uri="{FF2B5EF4-FFF2-40B4-BE49-F238E27FC236}">
                <a16:creationId xmlns:a16="http://schemas.microsoft.com/office/drawing/2014/main" id="{29B7BE70-6E3D-E6DC-77FD-5131DDCA7DCC}"/>
              </a:ext>
            </a:extLst>
          </p:cNvPr>
          <p:cNvCxnSpPr/>
          <p:nvPr/>
        </p:nvCxnSpPr>
        <p:spPr>
          <a:xfrm flipV="1">
            <a:off x="1942520" y="4868037"/>
            <a:ext cx="64328" cy="137160"/>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76" name="Connector 67">
            <a:extLst>
              <a:ext uri="{FF2B5EF4-FFF2-40B4-BE49-F238E27FC236}">
                <a16:creationId xmlns:a16="http://schemas.microsoft.com/office/drawing/2014/main" id="{F8D14FB0-227A-84A4-1EC7-9B37575173D1}"/>
              </a:ext>
            </a:extLst>
          </p:cNvPr>
          <p:cNvCxnSpPr/>
          <p:nvPr/>
        </p:nvCxnSpPr>
        <p:spPr>
          <a:xfrm flipV="1">
            <a:off x="2006848" y="4776597"/>
            <a:ext cx="147036" cy="91440"/>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78" name="Connector 68">
            <a:extLst>
              <a:ext uri="{FF2B5EF4-FFF2-40B4-BE49-F238E27FC236}">
                <a16:creationId xmlns:a16="http://schemas.microsoft.com/office/drawing/2014/main" id="{C415A00E-A6E3-00FF-684B-44733CBE96FF}"/>
              </a:ext>
            </a:extLst>
          </p:cNvPr>
          <p:cNvCxnSpPr/>
          <p:nvPr/>
        </p:nvCxnSpPr>
        <p:spPr>
          <a:xfrm flipV="1">
            <a:off x="2153884" y="4742306"/>
            <a:ext cx="202174" cy="34291"/>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80" name="Connector 69">
            <a:extLst>
              <a:ext uri="{FF2B5EF4-FFF2-40B4-BE49-F238E27FC236}">
                <a16:creationId xmlns:a16="http://schemas.microsoft.com/office/drawing/2014/main" id="{8E5E53FC-9E34-2E2C-FF2E-4D2AC65C62F6}"/>
              </a:ext>
            </a:extLst>
          </p:cNvPr>
          <p:cNvCxnSpPr/>
          <p:nvPr/>
        </p:nvCxnSpPr>
        <p:spPr>
          <a:xfrm>
            <a:off x="2356058" y="4742306"/>
            <a:ext cx="192984" cy="34291"/>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82" name="Connector 70">
            <a:extLst>
              <a:ext uri="{FF2B5EF4-FFF2-40B4-BE49-F238E27FC236}">
                <a16:creationId xmlns:a16="http://schemas.microsoft.com/office/drawing/2014/main" id="{797EEA2F-49E4-5C26-F325-64608D99A39E}"/>
              </a:ext>
            </a:extLst>
          </p:cNvPr>
          <p:cNvCxnSpPr/>
          <p:nvPr/>
        </p:nvCxnSpPr>
        <p:spPr>
          <a:xfrm>
            <a:off x="2549042" y="4776597"/>
            <a:ext cx="128656" cy="91440"/>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84" name="Connector 71">
            <a:extLst>
              <a:ext uri="{FF2B5EF4-FFF2-40B4-BE49-F238E27FC236}">
                <a16:creationId xmlns:a16="http://schemas.microsoft.com/office/drawing/2014/main" id="{FAAFCD16-63D7-F606-10B5-B29888FEDAF6}"/>
              </a:ext>
            </a:extLst>
          </p:cNvPr>
          <p:cNvCxnSpPr/>
          <p:nvPr/>
        </p:nvCxnSpPr>
        <p:spPr>
          <a:xfrm>
            <a:off x="2677698" y="4868037"/>
            <a:ext cx="27569" cy="131444"/>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86" name="Connector 72">
            <a:extLst>
              <a:ext uri="{FF2B5EF4-FFF2-40B4-BE49-F238E27FC236}">
                <a16:creationId xmlns:a16="http://schemas.microsoft.com/office/drawing/2014/main" id="{C77FD1EF-FF55-8D87-D454-A383AFB0E322}"/>
              </a:ext>
            </a:extLst>
          </p:cNvPr>
          <p:cNvCxnSpPr/>
          <p:nvPr/>
        </p:nvCxnSpPr>
        <p:spPr>
          <a:xfrm flipH="1">
            <a:off x="2594990" y="4999481"/>
            <a:ext cx="110277" cy="97156"/>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88" name="Connector 73">
            <a:extLst>
              <a:ext uri="{FF2B5EF4-FFF2-40B4-BE49-F238E27FC236}">
                <a16:creationId xmlns:a16="http://schemas.microsoft.com/office/drawing/2014/main" id="{EC569D3E-E3C6-0F2E-1AEE-14DDBD4A9A64}"/>
              </a:ext>
            </a:extLst>
          </p:cNvPr>
          <p:cNvCxnSpPr/>
          <p:nvPr/>
        </p:nvCxnSpPr>
        <p:spPr>
          <a:xfrm flipH="1">
            <a:off x="2411196" y="5096637"/>
            <a:ext cx="183794" cy="34290"/>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90" name="Connector 74">
            <a:extLst>
              <a:ext uri="{FF2B5EF4-FFF2-40B4-BE49-F238E27FC236}">
                <a16:creationId xmlns:a16="http://schemas.microsoft.com/office/drawing/2014/main" id="{8EFA0193-8667-9147-6C26-2513CEE7B632}"/>
              </a:ext>
            </a:extLst>
          </p:cNvPr>
          <p:cNvCxnSpPr/>
          <p:nvPr/>
        </p:nvCxnSpPr>
        <p:spPr>
          <a:xfrm flipH="1" flipV="1">
            <a:off x="2254971" y="5073777"/>
            <a:ext cx="156225" cy="57150"/>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92" name="Connector 75">
            <a:extLst>
              <a:ext uri="{FF2B5EF4-FFF2-40B4-BE49-F238E27FC236}">
                <a16:creationId xmlns:a16="http://schemas.microsoft.com/office/drawing/2014/main" id="{09C5141B-B0A2-0669-3E71-9A32D7D72076}"/>
              </a:ext>
            </a:extLst>
          </p:cNvPr>
          <p:cNvCxnSpPr/>
          <p:nvPr/>
        </p:nvCxnSpPr>
        <p:spPr>
          <a:xfrm flipH="1" flipV="1">
            <a:off x="2245781" y="4953762"/>
            <a:ext cx="9190" cy="120015"/>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sp>
        <p:nvSpPr>
          <p:cNvPr id="94" name="Oval 93">
            <a:extLst>
              <a:ext uri="{FF2B5EF4-FFF2-40B4-BE49-F238E27FC236}">
                <a16:creationId xmlns:a16="http://schemas.microsoft.com/office/drawing/2014/main" id="{7BADDB2D-1CCA-B819-AB05-89B4FA5B9449}"/>
              </a:ext>
            </a:extLst>
          </p:cNvPr>
          <p:cNvSpPr/>
          <p:nvPr/>
        </p:nvSpPr>
        <p:spPr>
          <a:xfrm>
            <a:off x="1926793" y="5065776"/>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96" name="Oval 95">
            <a:extLst>
              <a:ext uri="{FF2B5EF4-FFF2-40B4-BE49-F238E27FC236}">
                <a16:creationId xmlns:a16="http://schemas.microsoft.com/office/drawing/2014/main" id="{F2D218AA-CBCD-1062-EC00-8AA45EEF2174}"/>
              </a:ext>
            </a:extLst>
          </p:cNvPr>
          <p:cNvSpPr/>
          <p:nvPr/>
        </p:nvSpPr>
        <p:spPr>
          <a:xfrm>
            <a:off x="1871654" y="493433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98" name="Oval 97">
            <a:extLst>
              <a:ext uri="{FF2B5EF4-FFF2-40B4-BE49-F238E27FC236}">
                <a16:creationId xmlns:a16="http://schemas.microsoft.com/office/drawing/2014/main" id="{4A4FE4F0-2222-7A12-6D1D-58C87FE93C41}"/>
              </a:ext>
            </a:extLst>
          </p:cNvPr>
          <p:cNvSpPr/>
          <p:nvPr/>
        </p:nvSpPr>
        <p:spPr>
          <a:xfrm>
            <a:off x="1935982" y="479717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00" name="Oval 99">
            <a:extLst>
              <a:ext uri="{FF2B5EF4-FFF2-40B4-BE49-F238E27FC236}">
                <a16:creationId xmlns:a16="http://schemas.microsoft.com/office/drawing/2014/main" id="{AFED05FA-6D09-1AE0-99FE-FAA684C11C24}"/>
              </a:ext>
            </a:extLst>
          </p:cNvPr>
          <p:cNvSpPr/>
          <p:nvPr/>
        </p:nvSpPr>
        <p:spPr>
          <a:xfrm>
            <a:off x="2083018" y="470573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02" name="Oval 101">
            <a:extLst>
              <a:ext uri="{FF2B5EF4-FFF2-40B4-BE49-F238E27FC236}">
                <a16:creationId xmlns:a16="http://schemas.microsoft.com/office/drawing/2014/main" id="{9B05DF66-6B19-4D57-6790-F7DDC44C6490}"/>
              </a:ext>
            </a:extLst>
          </p:cNvPr>
          <p:cNvSpPr/>
          <p:nvPr/>
        </p:nvSpPr>
        <p:spPr>
          <a:xfrm>
            <a:off x="2285192" y="467144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04" name="Oval 103">
            <a:extLst>
              <a:ext uri="{FF2B5EF4-FFF2-40B4-BE49-F238E27FC236}">
                <a16:creationId xmlns:a16="http://schemas.microsoft.com/office/drawing/2014/main" id="{DCF252CB-EF6F-7BFD-476C-E919933FABD6}"/>
              </a:ext>
            </a:extLst>
          </p:cNvPr>
          <p:cNvSpPr/>
          <p:nvPr/>
        </p:nvSpPr>
        <p:spPr>
          <a:xfrm>
            <a:off x="2478176" y="4705731"/>
            <a:ext cx="141732" cy="141732"/>
          </a:xfrm>
          <a:prstGeom prst="ellipse">
            <a:avLst/>
          </a:prstGeom>
          <a:solidFill>
            <a:srgbClr val="E3D8A6"/>
          </a:solidFill>
          <a:ln w="19050">
            <a:solidFill>
              <a:srgbClr val="B9AE7C"/>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06" name="Oval 105">
            <a:extLst>
              <a:ext uri="{FF2B5EF4-FFF2-40B4-BE49-F238E27FC236}">
                <a16:creationId xmlns:a16="http://schemas.microsoft.com/office/drawing/2014/main" id="{5E3F7C0A-9575-64A1-C63E-2B269CB3D26D}"/>
              </a:ext>
            </a:extLst>
          </p:cNvPr>
          <p:cNvSpPr/>
          <p:nvPr/>
        </p:nvSpPr>
        <p:spPr>
          <a:xfrm>
            <a:off x="2606832" y="479717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08" name="Oval 107">
            <a:extLst>
              <a:ext uri="{FF2B5EF4-FFF2-40B4-BE49-F238E27FC236}">
                <a16:creationId xmlns:a16="http://schemas.microsoft.com/office/drawing/2014/main" id="{CB2B8A07-DB83-9844-12D7-05B26407DD83}"/>
              </a:ext>
            </a:extLst>
          </p:cNvPr>
          <p:cNvSpPr/>
          <p:nvPr/>
        </p:nvSpPr>
        <p:spPr>
          <a:xfrm>
            <a:off x="2634401" y="4928616"/>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10" name="Oval 109">
            <a:extLst>
              <a:ext uri="{FF2B5EF4-FFF2-40B4-BE49-F238E27FC236}">
                <a16:creationId xmlns:a16="http://schemas.microsoft.com/office/drawing/2014/main" id="{7A50CE4D-EFD9-A929-A485-7764AC47B8AC}"/>
              </a:ext>
            </a:extLst>
          </p:cNvPr>
          <p:cNvSpPr/>
          <p:nvPr/>
        </p:nvSpPr>
        <p:spPr>
          <a:xfrm>
            <a:off x="2524124" y="502577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12" name="Oval 111">
            <a:extLst>
              <a:ext uri="{FF2B5EF4-FFF2-40B4-BE49-F238E27FC236}">
                <a16:creationId xmlns:a16="http://schemas.microsoft.com/office/drawing/2014/main" id="{85EE8A93-B3E9-6F0C-B257-8B0687DD7219}"/>
              </a:ext>
            </a:extLst>
          </p:cNvPr>
          <p:cNvSpPr/>
          <p:nvPr/>
        </p:nvSpPr>
        <p:spPr>
          <a:xfrm>
            <a:off x="2340330" y="506006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14" name="Oval 113">
            <a:extLst>
              <a:ext uri="{FF2B5EF4-FFF2-40B4-BE49-F238E27FC236}">
                <a16:creationId xmlns:a16="http://schemas.microsoft.com/office/drawing/2014/main" id="{3BA92796-E710-CAB9-2C60-9F0F402E7A98}"/>
              </a:ext>
            </a:extLst>
          </p:cNvPr>
          <p:cNvSpPr/>
          <p:nvPr/>
        </p:nvSpPr>
        <p:spPr>
          <a:xfrm>
            <a:off x="2184105" y="500291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16" name="Oval 115">
            <a:extLst>
              <a:ext uri="{FF2B5EF4-FFF2-40B4-BE49-F238E27FC236}">
                <a16:creationId xmlns:a16="http://schemas.microsoft.com/office/drawing/2014/main" id="{99F7BE8F-80F3-A3A7-EE3D-8A2AAD471C0E}"/>
              </a:ext>
            </a:extLst>
          </p:cNvPr>
          <p:cNvSpPr/>
          <p:nvPr/>
        </p:nvSpPr>
        <p:spPr>
          <a:xfrm>
            <a:off x="2174915" y="4882896"/>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18" name="TextBox 117">
            <a:extLst>
              <a:ext uri="{FF2B5EF4-FFF2-40B4-BE49-F238E27FC236}">
                <a16:creationId xmlns:a16="http://schemas.microsoft.com/office/drawing/2014/main" id="{25554E4E-AD4D-9240-978A-1C9C0BB8330A}"/>
              </a:ext>
            </a:extLst>
          </p:cNvPr>
          <p:cNvSpPr txBox="1"/>
          <p:nvPr/>
        </p:nvSpPr>
        <p:spPr>
          <a:xfrm>
            <a:off x="768096" y="5358383"/>
            <a:ext cx="3194304" cy="475488"/>
          </a:xfrm>
          <a:prstGeom prst="rect">
            <a:avLst/>
          </a:prstGeom>
          <a:noFill/>
        </p:spPr>
        <p:txBody>
          <a:bodyPr wrap="square" lIns="0" tIns="0" rIns="0" bIns="0" anchor="t">
            <a:spAutoFit/>
          </a:bodyPr>
          <a:lstStyle/>
          <a:p>
            <a:pPr algn="ctr">
              <a:lnSpc>
                <a:spcPct val="114000"/>
              </a:lnSpc>
              <a:spcAft>
                <a:spcPts val="0"/>
              </a:spcAft>
            </a:pPr>
            <a:r>
              <a:rPr sz="1500" b="1">
                <a:solidFill>
                  <a:srgbClr val="1A2A31"/>
                </a:solidFill>
                <a:latin typeface="Segoe UI"/>
              </a:rPr>
              <a:t>One part</a:t>
            </a:r>
          </a:p>
          <a:p>
            <a:pPr algn="ctr">
              <a:lnSpc>
                <a:spcPct val="114000"/>
              </a:lnSpc>
              <a:spcAft>
                <a:spcPts val="0"/>
              </a:spcAft>
            </a:pPr>
            <a:r>
              <a:rPr sz="1500" b="1">
                <a:solidFill>
                  <a:srgbClr val="1A2A31"/>
                </a:solidFill>
                <a:latin typeface="Segoe UI"/>
              </a:rPr>
              <a:t>is different</a:t>
            </a:r>
          </a:p>
        </p:txBody>
      </p:sp>
      <p:cxnSp>
        <p:nvCxnSpPr>
          <p:cNvPr id="120" name="Connector 89">
            <a:extLst>
              <a:ext uri="{FF2B5EF4-FFF2-40B4-BE49-F238E27FC236}">
                <a16:creationId xmlns:a16="http://schemas.microsoft.com/office/drawing/2014/main" id="{885087AD-864B-186E-29B4-DE4A79B408D0}"/>
              </a:ext>
            </a:extLst>
          </p:cNvPr>
          <p:cNvCxnSpPr/>
          <p:nvPr/>
        </p:nvCxnSpPr>
        <p:spPr>
          <a:xfrm>
            <a:off x="1069848" y="5870448"/>
            <a:ext cx="2590799" cy="0"/>
          </a:xfrm>
          <a:prstGeom prst="line">
            <a:avLst/>
          </a:prstGeom>
          <a:ln w="9525">
            <a:solidFill>
              <a:srgbClr val="DCE4E6"/>
            </a:solidFill>
          </a:ln>
        </p:spPr>
        <p:style>
          <a:lnRef idx="2">
            <a:schemeClr val="accent1"/>
          </a:lnRef>
          <a:fillRef idx="0">
            <a:schemeClr val="accent1"/>
          </a:fillRef>
          <a:effectRef idx="1">
            <a:schemeClr val="accent1"/>
          </a:effectRef>
          <a:fontRef idx="minor">
            <a:schemeClr val="tx1"/>
          </a:fontRef>
        </p:style>
      </p:cxnSp>
      <p:sp>
        <p:nvSpPr>
          <p:cNvPr id="122" name="TextBox 121">
            <a:extLst>
              <a:ext uri="{FF2B5EF4-FFF2-40B4-BE49-F238E27FC236}">
                <a16:creationId xmlns:a16="http://schemas.microsoft.com/office/drawing/2014/main" id="{DF3CD1B4-E6ED-F27E-B726-CC7F979B84AB}"/>
              </a:ext>
            </a:extLst>
          </p:cNvPr>
          <p:cNvSpPr txBox="1"/>
          <p:nvPr/>
        </p:nvSpPr>
        <p:spPr>
          <a:xfrm>
            <a:off x="768096" y="5925312"/>
            <a:ext cx="3194304" cy="182880"/>
          </a:xfrm>
          <a:prstGeom prst="rect">
            <a:avLst/>
          </a:prstGeom>
          <a:noFill/>
        </p:spPr>
        <p:txBody>
          <a:bodyPr wrap="square" lIns="0" tIns="0" rIns="0" bIns="0" anchor="t">
            <a:spAutoFit/>
          </a:bodyPr>
          <a:lstStyle/>
          <a:p>
            <a:pPr algn="ctr">
              <a:spcAft>
                <a:spcPts val="0"/>
              </a:spcAft>
            </a:pPr>
            <a:r>
              <a:rPr sz="900" b="0">
                <a:solidFill>
                  <a:srgbClr val="8A9BA1"/>
                </a:solidFill>
                <a:latin typeface="Consolas"/>
              </a:rPr>
              <a:t>BRCA1  c.181T&gt;G</a:t>
            </a:r>
          </a:p>
        </p:txBody>
      </p:sp>
      <p:sp>
        <p:nvSpPr>
          <p:cNvPr id="124" name="Rounded Rectangle 91">
            <a:extLst>
              <a:ext uri="{FF2B5EF4-FFF2-40B4-BE49-F238E27FC236}">
                <a16:creationId xmlns:a16="http://schemas.microsoft.com/office/drawing/2014/main" id="{AEEBC061-45F1-EE32-CC9E-AF3AB817BE30}"/>
              </a:ext>
            </a:extLst>
          </p:cNvPr>
          <p:cNvSpPr/>
          <p:nvPr/>
        </p:nvSpPr>
        <p:spPr>
          <a:xfrm>
            <a:off x="4305300" y="2359152"/>
            <a:ext cx="3596640" cy="3803904"/>
          </a:xfrm>
          <a:prstGeom prst="roundRect">
            <a:avLst>
              <a:gd name="adj" fmla="val 45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26" name="Oval 125">
            <a:extLst>
              <a:ext uri="{FF2B5EF4-FFF2-40B4-BE49-F238E27FC236}">
                <a16:creationId xmlns:a16="http://schemas.microsoft.com/office/drawing/2014/main" id="{64C45EB8-C4C8-56E2-4FB4-0EEB41BEBD05}"/>
              </a:ext>
            </a:extLst>
          </p:cNvPr>
          <p:cNvSpPr/>
          <p:nvPr/>
        </p:nvSpPr>
        <p:spPr>
          <a:xfrm>
            <a:off x="4543044" y="2523744"/>
            <a:ext cx="274320" cy="274320"/>
          </a:xfrm>
          <a:prstGeom prst="ellipse">
            <a:avLst/>
          </a:prstGeom>
          <a:solidFill>
            <a:srgbClr val="15697A"/>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28" name="TextBox 127">
            <a:extLst>
              <a:ext uri="{FF2B5EF4-FFF2-40B4-BE49-F238E27FC236}">
                <a16:creationId xmlns:a16="http://schemas.microsoft.com/office/drawing/2014/main" id="{E913ED96-2228-8156-36D9-158C8BA75DD5}"/>
              </a:ext>
            </a:extLst>
          </p:cNvPr>
          <p:cNvSpPr txBox="1"/>
          <p:nvPr/>
        </p:nvSpPr>
        <p:spPr>
          <a:xfrm>
            <a:off x="4543044" y="2578608"/>
            <a:ext cx="274320" cy="182880"/>
          </a:xfrm>
          <a:prstGeom prst="rect">
            <a:avLst/>
          </a:prstGeom>
          <a:noFill/>
        </p:spPr>
        <p:txBody>
          <a:bodyPr wrap="square" lIns="0" tIns="0" rIns="0" bIns="0" anchor="t">
            <a:spAutoFit/>
          </a:bodyPr>
          <a:lstStyle/>
          <a:p>
            <a:pPr algn="ctr">
              <a:spcAft>
                <a:spcPts val="0"/>
              </a:spcAft>
            </a:pPr>
            <a:r>
              <a:rPr sz="1100" b="1">
                <a:solidFill>
                  <a:srgbClr val="FFFFFF"/>
                </a:solidFill>
                <a:latin typeface="Segoe UI"/>
              </a:rPr>
              <a:t>2</a:t>
            </a:r>
          </a:p>
        </p:txBody>
      </p:sp>
      <p:sp>
        <p:nvSpPr>
          <p:cNvPr id="130" name="TextBox 129">
            <a:extLst>
              <a:ext uri="{FF2B5EF4-FFF2-40B4-BE49-F238E27FC236}">
                <a16:creationId xmlns:a16="http://schemas.microsoft.com/office/drawing/2014/main" id="{14863CB7-4DEA-7E97-7982-4053EFD5D72F}"/>
              </a:ext>
            </a:extLst>
          </p:cNvPr>
          <p:cNvSpPr txBox="1"/>
          <p:nvPr/>
        </p:nvSpPr>
        <p:spPr>
          <a:xfrm>
            <a:off x="4539996" y="2816352"/>
            <a:ext cx="2267712" cy="164592"/>
          </a:xfrm>
          <a:prstGeom prst="rect">
            <a:avLst/>
          </a:prstGeom>
          <a:noFill/>
        </p:spPr>
        <p:txBody>
          <a:bodyPr wrap="square" lIns="0" tIns="0" rIns="0" bIns="0" anchor="t">
            <a:spAutoFit/>
          </a:bodyPr>
          <a:lstStyle/>
          <a:p>
            <a:pPr algn="ctr">
              <a:spcAft>
                <a:spcPts val="0"/>
              </a:spcAft>
            </a:pPr>
            <a:r>
              <a:rPr sz="750" b="0" spc="90">
                <a:solidFill>
                  <a:srgbClr val="8A9BA1"/>
                </a:solidFill>
                <a:latin typeface="Consolas"/>
              </a:rPr>
              <a:t>KEPT</a:t>
            </a:r>
          </a:p>
        </p:txBody>
      </p:sp>
      <p:sp>
        <p:nvSpPr>
          <p:cNvPr id="132" name="TextBox 131">
            <a:extLst>
              <a:ext uri="{FF2B5EF4-FFF2-40B4-BE49-F238E27FC236}">
                <a16:creationId xmlns:a16="http://schemas.microsoft.com/office/drawing/2014/main" id="{432FA976-0052-81E9-6C19-99AD8DEF83AE}"/>
              </a:ext>
            </a:extLst>
          </p:cNvPr>
          <p:cNvSpPr txBox="1"/>
          <p:nvPr/>
        </p:nvSpPr>
        <p:spPr>
          <a:xfrm>
            <a:off x="6725412" y="2816352"/>
            <a:ext cx="1261872" cy="164592"/>
          </a:xfrm>
          <a:prstGeom prst="rect">
            <a:avLst/>
          </a:prstGeom>
          <a:noFill/>
        </p:spPr>
        <p:txBody>
          <a:bodyPr wrap="square" lIns="0" tIns="0" rIns="0" bIns="0" anchor="t">
            <a:spAutoFit/>
          </a:bodyPr>
          <a:lstStyle/>
          <a:p>
            <a:pPr algn="ctr">
              <a:spcAft>
                <a:spcPts val="0"/>
              </a:spcAft>
            </a:pPr>
            <a:r>
              <a:rPr sz="750" b="0" spc="90">
                <a:solidFill>
                  <a:srgbClr val="8A9BA1"/>
                </a:solidFill>
                <a:latin typeface="Consolas"/>
              </a:rPr>
              <a:t>CUT OUT</a:t>
            </a:r>
          </a:p>
        </p:txBody>
      </p:sp>
      <p:sp>
        <p:nvSpPr>
          <p:cNvPr id="134" name="Rounded Rectangle 96">
            <a:extLst>
              <a:ext uri="{FF2B5EF4-FFF2-40B4-BE49-F238E27FC236}">
                <a16:creationId xmlns:a16="http://schemas.microsoft.com/office/drawing/2014/main" id="{374FAA0F-E848-92EA-FC88-5BEC9FBD3B08}"/>
              </a:ext>
            </a:extLst>
          </p:cNvPr>
          <p:cNvSpPr/>
          <p:nvPr/>
        </p:nvSpPr>
        <p:spPr>
          <a:xfrm>
            <a:off x="4539996"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36" name="TextBox 135">
            <a:extLst>
              <a:ext uri="{FF2B5EF4-FFF2-40B4-BE49-F238E27FC236}">
                <a16:creationId xmlns:a16="http://schemas.microsoft.com/office/drawing/2014/main" id="{F5A47176-2400-39DD-FC79-B2BD6BBEA8A3}"/>
              </a:ext>
            </a:extLst>
          </p:cNvPr>
          <p:cNvSpPr txBox="1"/>
          <p:nvPr/>
        </p:nvSpPr>
        <p:spPr>
          <a:xfrm>
            <a:off x="4539996"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A</a:t>
            </a:r>
          </a:p>
        </p:txBody>
      </p:sp>
      <p:sp>
        <p:nvSpPr>
          <p:cNvPr id="138" name="Rounded Rectangle 98">
            <a:extLst>
              <a:ext uri="{FF2B5EF4-FFF2-40B4-BE49-F238E27FC236}">
                <a16:creationId xmlns:a16="http://schemas.microsoft.com/office/drawing/2014/main" id="{811AB4AE-63AC-DC84-12DC-8E62BFC5E8F4}"/>
              </a:ext>
            </a:extLst>
          </p:cNvPr>
          <p:cNvSpPr/>
          <p:nvPr/>
        </p:nvSpPr>
        <p:spPr>
          <a:xfrm>
            <a:off x="4869180"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40" name="TextBox 139">
            <a:extLst>
              <a:ext uri="{FF2B5EF4-FFF2-40B4-BE49-F238E27FC236}">
                <a16:creationId xmlns:a16="http://schemas.microsoft.com/office/drawing/2014/main" id="{8373C9F8-34CE-08B4-3F9C-DC1174E50DA6}"/>
              </a:ext>
            </a:extLst>
          </p:cNvPr>
          <p:cNvSpPr txBox="1"/>
          <p:nvPr/>
        </p:nvSpPr>
        <p:spPr>
          <a:xfrm>
            <a:off x="4869180"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T</a:t>
            </a:r>
          </a:p>
        </p:txBody>
      </p:sp>
      <p:sp>
        <p:nvSpPr>
          <p:cNvPr id="141" name="Rounded Rectangle 100">
            <a:extLst>
              <a:ext uri="{FF2B5EF4-FFF2-40B4-BE49-F238E27FC236}">
                <a16:creationId xmlns:a16="http://schemas.microsoft.com/office/drawing/2014/main" id="{607F23F6-12DC-01DD-65FD-60DC879E3E00}"/>
              </a:ext>
            </a:extLst>
          </p:cNvPr>
          <p:cNvSpPr/>
          <p:nvPr/>
        </p:nvSpPr>
        <p:spPr>
          <a:xfrm>
            <a:off x="5198364"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42" name="TextBox 141">
            <a:extLst>
              <a:ext uri="{FF2B5EF4-FFF2-40B4-BE49-F238E27FC236}">
                <a16:creationId xmlns:a16="http://schemas.microsoft.com/office/drawing/2014/main" id="{E422C0BA-7F88-0F2C-AB2E-DCB39553211E}"/>
              </a:ext>
            </a:extLst>
          </p:cNvPr>
          <p:cNvSpPr txBox="1"/>
          <p:nvPr/>
        </p:nvSpPr>
        <p:spPr>
          <a:xfrm>
            <a:off x="5198364"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C</a:t>
            </a:r>
          </a:p>
        </p:txBody>
      </p:sp>
      <p:sp>
        <p:nvSpPr>
          <p:cNvPr id="143" name="Rounded Rectangle 102">
            <a:extLst>
              <a:ext uri="{FF2B5EF4-FFF2-40B4-BE49-F238E27FC236}">
                <a16:creationId xmlns:a16="http://schemas.microsoft.com/office/drawing/2014/main" id="{2D9C5DCA-5059-5B35-17C5-F08772D191B5}"/>
              </a:ext>
            </a:extLst>
          </p:cNvPr>
          <p:cNvSpPr/>
          <p:nvPr/>
        </p:nvSpPr>
        <p:spPr>
          <a:xfrm>
            <a:off x="5527548"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44" name="TextBox 143">
            <a:extLst>
              <a:ext uri="{FF2B5EF4-FFF2-40B4-BE49-F238E27FC236}">
                <a16:creationId xmlns:a16="http://schemas.microsoft.com/office/drawing/2014/main" id="{4FB142A9-7E66-F56A-69DB-1EF4F5703E95}"/>
              </a:ext>
            </a:extLst>
          </p:cNvPr>
          <p:cNvSpPr txBox="1"/>
          <p:nvPr/>
        </p:nvSpPr>
        <p:spPr>
          <a:xfrm>
            <a:off x="5527548"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G</a:t>
            </a:r>
          </a:p>
        </p:txBody>
      </p:sp>
      <p:sp>
        <p:nvSpPr>
          <p:cNvPr id="145" name="Rounded Rectangle 104">
            <a:extLst>
              <a:ext uri="{FF2B5EF4-FFF2-40B4-BE49-F238E27FC236}">
                <a16:creationId xmlns:a16="http://schemas.microsoft.com/office/drawing/2014/main" id="{F456A3B1-D54D-5F67-3FDA-8E23E7CFE7E9}"/>
              </a:ext>
            </a:extLst>
          </p:cNvPr>
          <p:cNvSpPr/>
          <p:nvPr/>
        </p:nvSpPr>
        <p:spPr>
          <a:xfrm>
            <a:off x="5856731"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46" name="TextBox 145">
            <a:extLst>
              <a:ext uri="{FF2B5EF4-FFF2-40B4-BE49-F238E27FC236}">
                <a16:creationId xmlns:a16="http://schemas.microsoft.com/office/drawing/2014/main" id="{BCB346C6-814B-0EB2-49E3-F1BEBA0EE826}"/>
              </a:ext>
            </a:extLst>
          </p:cNvPr>
          <p:cNvSpPr txBox="1"/>
          <p:nvPr/>
        </p:nvSpPr>
        <p:spPr>
          <a:xfrm>
            <a:off x="5856731"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C</a:t>
            </a:r>
          </a:p>
        </p:txBody>
      </p:sp>
      <p:sp>
        <p:nvSpPr>
          <p:cNvPr id="147" name="Rounded Rectangle 106">
            <a:extLst>
              <a:ext uri="{FF2B5EF4-FFF2-40B4-BE49-F238E27FC236}">
                <a16:creationId xmlns:a16="http://schemas.microsoft.com/office/drawing/2014/main" id="{7FF0CB77-5895-FD28-5A52-B07108FF9AB7}"/>
              </a:ext>
            </a:extLst>
          </p:cNvPr>
          <p:cNvSpPr/>
          <p:nvPr/>
        </p:nvSpPr>
        <p:spPr>
          <a:xfrm>
            <a:off x="6185916"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48" name="TextBox 147">
            <a:extLst>
              <a:ext uri="{FF2B5EF4-FFF2-40B4-BE49-F238E27FC236}">
                <a16:creationId xmlns:a16="http://schemas.microsoft.com/office/drawing/2014/main" id="{0200A2D5-8809-D315-14DE-9E0CB6F916B4}"/>
              </a:ext>
            </a:extLst>
          </p:cNvPr>
          <p:cNvSpPr txBox="1"/>
          <p:nvPr/>
        </p:nvSpPr>
        <p:spPr>
          <a:xfrm>
            <a:off x="6185916"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A</a:t>
            </a:r>
          </a:p>
        </p:txBody>
      </p:sp>
      <p:sp>
        <p:nvSpPr>
          <p:cNvPr id="149" name="Rounded Rectangle 108">
            <a:extLst>
              <a:ext uri="{FF2B5EF4-FFF2-40B4-BE49-F238E27FC236}">
                <a16:creationId xmlns:a16="http://schemas.microsoft.com/office/drawing/2014/main" id="{BA149124-B655-7B27-12B2-7F75604CF5E3}"/>
              </a:ext>
            </a:extLst>
          </p:cNvPr>
          <p:cNvSpPr/>
          <p:nvPr/>
        </p:nvSpPr>
        <p:spPr>
          <a:xfrm>
            <a:off x="6515100"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50" name="TextBox 149">
            <a:extLst>
              <a:ext uri="{FF2B5EF4-FFF2-40B4-BE49-F238E27FC236}">
                <a16:creationId xmlns:a16="http://schemas.microsoft.com/office/drawing/2014/main" id="{0914C9A4-C3D3-17A9-0844-E8D803B286E9}"/>
              </a:ext>
            </a:extLst>
          </p:cNvPr>
          <p:cNvSpPr txBox="1"/>
          <p:nvPr/>
        </p:nvSpPr>
        <p:spPr>
          <a:xfrm>
            <a:off x="6515100"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G</a:t>
            </a:r>
          </a:p>
        </p:txBody>
      </p:sp>
      <p:sp>
        <p:nvSpPr>
          <p:cNvPr id="151" name="Rounded Rectangle 110">
            <a:extLst>
              <a:ext uri="{FF2B5EF4-FFF2-40B4-BE49-F238E27FC236}">
                <a16:creationId xmlns:a16="http://schemas.microsoft.com/office/drawing/2014/main" id="{25BC3784-B25B-50DC-9F3F-0BE3B6025C7E}"/>
              </a:ext>
            </a:extLst>
          </p:cNvPr>
          <p:cNvSpPr/>
          <p:nvPr/>
        </p:nvSpPr>
        <p:spPr>
          <a:xfrm>
            <a:off x="7045452" y="3035808"/>
            <a:ext cx="292608" cy="365760"/>
          </a:xfrm>
          <a:prstGeom prst="roundRect">
            <a:avLst>
              <a:gd name="adj" fmla="val 14000"/>
            </a:avLst>
          </a:prstGeom>
          <a:solidFill>
            <a:srgbClr val="FAF5E6"/>
          </a:solidFill>
          <a:ln w="22225">
            <a:solidFill>
              <a:srgbClr val="B9AE7C"/>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52" name="TextBox 151">
            <a:extLst>
              <a:ext uri="{FF2B5EF4-FFF2-40B4-BE49-F238E27FC236}">
                <a16:creationId xmlns:a16="http://schemas.microsoft.com/office/drawing/2014/main" id="{5BBF4A24-BBC7-517D-22AC-9856B7EDEA04}"/>
              </a:ext>
            </a:extLst>
          </p:cNvPr>
          <p:cNvSpPr txBox="1"/>
          <p:nvPr/>
        </p:nvSpPr>
        <p:spPr>
          <a:xfrm>
            <a:off x="7045452" y="3127248"/>
            <a:ext cx="292608" cy="219456"/>
          </a:xfrm>
          <a:prstGeom prst="rect">
            <a:avLst/>
          </a:prstGeom>
          <a:noFill/>
        </p:spPr>
        <p:txBody>
          <a:bodyPr wrap="square" lIns="0" tIns="0" rIns="0" bIns="0" anchor="t">
            <a:spAutoFit/>
          </a:bodyPr>
          <a:lstStyle/>
          <a:p>
            <a:pPr algn="ctr">
              <a:spcAft>
                <a:spcPts val="0"/>
              </a:spcAft>
            </a:pPr>
            <a:r>
              <a:rPr sz="1500" b="1">
                <a:solidFill>
                  <a:srgbClr val="8A7A3C"/>
                </a:solidFill>
                <a:latin typeface="Consolas"/>
              </a:rPr>
              <a:t>A</a:t>
            </a:r>
          </a:p>
        </p:txBody>
      </p:sp>
      <p:sp>
        <p:nvSpPr>
          <p:cNvPr id="153" name="TextBox 152">
            <a:extLst>
              <a:ext uri="{FF2B5EF4-FFF2-40B4-BE49-F238E27FC236}">
                <a16:creationId xmlns:a16="http://schemas.microsoft.com/office/drawing/2014/main" id="{12AD6886-5E6B-9431-CA08-46413F18BF66}"/>
              </a:ext>
            </a:extLst>
          </p:cNvPr>
          <p:cNvSpPr txBox="1"/>
          <p:nvPr/>
        </p:nvSpPr>
        <p:spPr>
          <a:xfrm>
            <a:off x="6771132" y="3438144"/>
            <a:ext cx="841247" cy="164592"/>
          </a:xfrm>
          <a:prstGeom prst="rect">
            <a:avLst/>
          </a:prstGeom>
          <a:noFill/>
        </p:spPr>
        <p:txBody>
          <a:bodyPr wrap="square" lIns="0" tIns="0" rIns="0" bIns="0" anchor="t">
            <a:spAutoFit/>
          </a:bodyPr>
          <a:lstStyle/>
          <a:p>
            <a:pPr algn="ctr">
              <a:spcAft>
                <a:spcPts val="0"/>
              </a:spcAft>
            </a:pPr>
            <a:r>
              <a:rPr sz="850" b="0">
                <a:solidFill>
                  <a:srgbClr val="8A7A3C"/>
                </a:solidFill>
                <a:latin typeface="Consolas"/>
              </a:rPr>
              <a:t>G → A</a:t>
            </a:r>
          </a:p>
        </p:txBody>
      </p:sp>
      <p:sp>
        <p:nvSpPr>
          <p:cNvPr id="154" name="Rounded Rectangle 113">
            <a:extLst>
              <a:ext uri="{FF2B5EF4-FFF2-40B4-BE49-F238E27FC236}">
                <a16:creationId xmlns:a16="http://schemas.microsoft.com/office/drawing/2014/main" id="{A8314AFA-5001-51F6-A9CE-8B5BB3A5A8B8}"/>
              </a:ext>
            </a:extLst>
          </p:cNvPr>
          <p:cNvSpPr/>
          <p:nvPr/>
        </p:nvSpPr>
        <p:spPr>
          <a:xfrm>
            <a:off x="7374636" y="3035808"/>
            <a:ext cx="292608" cy="365760"/>
          </a:xfrm>
          <a:prstGeom prst="roundRect">
            <a:avLst>
              <a:gd name="adj" fmla="val 14000"/>
            </a:avLst>
          </a:prstGeom>
          <a:solidFill>
            <a:srgbClr val="F7F9F9"/>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55" name="TextBox 154">
            <a:extLst>
              <a:ext uri="{FF2B5EF4-FFF2-40B4-BE49-F238E27FC236}">
                <a16:creationId xmlns:a16="http://schemas.microsoft.com/office/drawing/2014/main" id="{ECE08DBB-9702-4972-096F-88F75DC556BC}"/>
              </a:ext>
            </a:extLst>
          </p:cNvPr>
          <p:cNvSpPr txBox="1"/>
          <p:nvPr/>
        </p:nvSpPr>
        <p:spPr>
          <a:xfrm>
            <a:off x="7374636" y="3127248"/>
            <a:ext cx="292608" cy="219456"/>
          </a:xfrm>
          <a:prstGeom prst="rect">
            <a:avLst/>
          </a:prstGeom>
          <a:noFill/>
        </p:spPr>
        <p:txBody>
          <a:bodyPr wrap="square" lIns="0" tIns="0" rIns="0" bIns="0" anchor="t">
            <a:spAutoFit/>
          </a:bodyPr>
          <a:lstStyle/>
          <a:p>
            <a:pPr algn="ctr">
              <a:spcAft>
                <a:spcPts val="0"/>
              </a:spcAft>
            </a:pPr>
            <a:r>
              <a:rPr sz="1350" b="0">
                <a:solidFill>
                  <a:srgbClr val="B4C0C4"/>
                </a:solidFill>
                <a:latin typeface="Consolas"/>
              </a:rPr>
              <a:t>T</a:t>
            </a:r>
          </a:p>
        </p:txBody>
      </p:sp>
      <p:cxnSp>
        <p:nvCxnSpPr>
          <p:cNvPr id="156" name="Connector 115">
            <a:extLst>
              <a:ext uri="{FF2B5EF4-FFF2-40B4-BE49-F238E27FC236}">
                <a16:creationId xmlns:a16="http://schemas.microsoft.com/office/drawing/2014/main" id="{3E686242-A385-F799-F32B-F2DEBDF9365C}"/>
              </a:ext>
            </a:extLst>
          </p:cNvPr>
          <p:cNvCxnSpPr/>
          <p:nvPr/>
        </p:nvCxnSpPr>
        <p:spPr>
          <a:xfrm>
            <a:off x="6926580" y="2953512"/>
            <a:ext cx="0" cy="530352"/>
          </a:xfrm>
          <a:prstGeom prst="line">
            <a:avLst/>
          </a:prstGeom>
          <a:ln w="19050">
            <a:solidFill>
              <a:srgbClr val="B0554A"/>
            </a:solidFill>
            <a:prstDash val="sysDot"/>
          </a:ln>
        </p:spPr>
        <p:style>
          <a:lnRef idx="2">
            <a:schemeClr val="accent1"/>
          </a:lnRef>
          <a:fillRef idx="0">
            <a:schemeClr val="accent1"/>
          </a:fillRef>
          <a:effectRef idx="1">
            <a:schemeClr val="accent1"/>
          </a:effectRef>
          <a:fontRef idx="minor">
            <a:schemeClr val="tx1"/>
          </a:fontRef>
        </p:style>
      </p:cxnSp>
      <p:sp>
        <p:nvSpPr>
          <p:cNvPr id="157" name="TextBox 156">
            <a:extLst>
              <a:ext uri="{FF2B5EF4-FFF2-40B4-BE49-F238E27FC236}">
                <a16:creationId xmlns:a16="http://schemas.microsoft.com/office/drawing/2014/main" id="{A3C7B0EC-1F79-D61E-6140-8D96F95E7F39}"/>
              </a:ext>
            </a:extLst>
          </p:cNvPr>
          <p:cNvSpPr txBox="1"/>
          <p:nvPr/>
        </p:nvSpPr>
        <p:spPr>
          <a:xfrm>
            <a:off x="5966460" y="3438144"/>
            <a:ext cx="868680" cy="164592"/>
          </a:xfrm>
          <a:prstGeom prst="rect">
            <a:avLst/>
          </a:prstGeom>
          <a:noFill/>
        </p:spPr>
        <p:txBody>
          <a:bodyPr wrap="square" lIns="0" tIns="0" rIns="0" bIns="0" anchor="t">
            <a:spAutoFit/>
          </a:bodyPr>
          <a:lstStyle/>
          <a:p>
            <a:pPr algn="r">
              <a:spcAft>
                <a:spcPts val="0"/>
              </a:spcAft>
            </a:pPr>
            <a:r>
              <a:rPr sz="850" b="0">
                <a:solidFill>
                  <a:srgbClr val="B0554A"/>
                </a:solidFill>
                <a:latin typeface="Consolas"/>
              </a:rPr>
              <a:t>cut</a:t>
            </a:r>
          </a:p>
        </p:txBody>
      </p:sp>
      <p:sp>
        <p:nvSpPr>
          <p:cNvPr id="158" name="Freeform 117">
            <a:extLst>
              <a:ext uri="{FF2B5EF4-FFF2-40B4-BE49-F238E27FC236}">
                <a16:creationId xmlns:a16="http://schemas.microsoft.com/office/drawing/2014/main" id="{17A95B7A-9B76-0527-44CC-19DFBD5FEB8A}"/>
              </a:ext>
            </a:extLst>
          </p:cNvPr>
          <p:cNvSpPr/>
          <p:nvPr/>
        </p:nvSpPr>
        <p:spPr>
          <a:xfrm>
            <a:off x="4494275" y="3657600"/>
            <a:ext cx="3218689" cy="914400"/>
          </a:xfrm>
          <a:custGeom>
            <a:avLst/>
            <a:gdLst/>
            <a:ahLst/>
            <a:cxnLst/>
            <a:rect l="l" t="t" r="r" b="b"/>
            <a:pathLst>
              <a:path w="3218689" h="914400">
                <a:moveTo>
                  <a:pt x="0" y="0"/>
                </a:moveTo>
                <a:lnTo>
                  <a:pt x="3218689" y="0"/>
                </a:lnTo>
                <a:lnTo>
                  <a:pt x="2523745" y="914400"/>
                </a:lnTo>
                <a:lnTo>
                  <a:pt x="694945" y="914400"/>
                </a:lnTo>
                <a:close/>
              </a:path>
            </a:pathLst>
          </a:custGeom>
          <a:solidFill>
            <a:srgbClr val="E8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59" name="TextBox 158">
            <a:extLst>
              <a:ext uri="{FF2B5EF4-FFF2-40B4-BE49-F238E27FC236}">
                <a16:creationId xmlns:a16="http://schemas.microsoft.com/office/drawing/2014/main" id="{DBDC6865-7EB7-28C6-7CDC-5E5AD0DC3FB8}"/>
              </a:ext>
            </a:extLst>
          </p:cNvPr>
          <p:cNvSpPr txBox="1"/>
          <p:nvPr/>
        </p:nvSpPr>
        <p:spPr>
          <a:xfrm>
            <a:off x="4619365" y="3767328"/>
            <a:ext cx="2968508" cy="123111"/>
          </a:xfrm>
          <a:prstGeom prst="rect">
            <a:avLst/>
          </a:prstGeom>
          <a:noFill/>
        </p:spPr>
        <p:txBody>
          <a:bodyPr wrap="square" lIns="0" tIns="0" rIns="0" bIns="0" anchor="t">
            <a:spAutoFit/>
          </a:bodyPr>
          <a:lstStyle/>
          <a:p>
            <a:pPr algn="ctr">
              <a:spcAft>
                <a:spcPts val="0"/>
              </a:spcAft>
            </a:pPr>
            <a:r>
              <a:rPr sz="800" b="0" spc="70">
                <a:solidFill>
                  <a:srgbClr val="5B6E76"/>
                </a:solidFill>
                <a:latin typeface="Arial" panose="020B0604020202020204" pitchFamily="34" charset="0"/>
                <a:cs typeface="Arial" panose="020B0604020202020204" pitchFamily="34" charset="0"/>
              </a:rPr>
              <a:t>THE TEXT IS COPIED</a:t>
            </a:r>
          </a:p>
        </p:txBody>
      </p:sp>
      <p:sp>
        <p:nvSpPr>
          <p:cNvPr id="160" name="TextBox 159">
            <a:extLst>
              <a:ext uri="{FF2B5EF4-FFF2-40B4-BE49-F238E27FC236}">
                <a16:creationId xmlns:a16="http://schemas.microsoft.com/office/drawing/2014/main" id="{A3C300E1-1F13-E98E-289C-172ED0A7F281}"/>
              </a:ext>
            </a:extLst>
          </p:cNvPr>
          <p:cNvSpPr txBox="1"/>
          <p:nvPr/>
        </p:nvSpPr>
        <p:spPr>
          <a:xfrm>
            <a:off x="5829300" y="3899915"/>
            <a:ext cx="548640" cy="107722"/>
          </a:xfrm>
          <a:prstGeom prst="rect">
            <a:avLst/>
          </a:prstGeom>
          <a:noFill/>
        </p:spPr>
        <p:txBody>
          <a:bodyPr wrap="square" lIns="0" tIns="0" rIns="0" bIns="0" anchor="t">
            <a:spAutoFit/>
          </a:bodyPr>
          <a:lstStyle/>
          <a:p>
            <a:pPr algn="ctr">
              <a:spcAft>
                <a:spcPts val="0"/>
              </a:spcAft>
            </a:pPr>
            <a:r>
              <a:rPr sz="700" b="0">
                <a:solidFill>
                  <a:srgbClr val="8A9BA1"/>
                </a:solidFill>
                <a:latin typeface="Arial" panose="020B0604020202020204" pitchFamily="34" charset="0"/>
                <a:cs typeface="Arial" panose="020B0604020202020204" pitchFamily="34" charset="0"/>
              </a:rPr>
              <a:t>▾</a:t>
            </a:r>
          </a:p>
        </p:txBody>
      </p:sp>
      <p:sp>
        <p:nvSpPr>
          <p:cNvPr id="161" name="TextBox 160">
            <a:extLst>
              <a:ext uri="{FF2B5EF4-FFF2-40B4-BE49-F238E27FC236}">
                <a16:creationId xmlns:a16="http://schemas.microsoft.com/office/drawing/2014/main" id="{DE089C4E-E798-67CF-9956-C4B5D2811A24}"/>
              </a:ext>
            </a:extLst>
          </p:cNvPr>
          <p:cNvSpPr txBox="1"/>
          <p:nvPr/>
        </p:nvSpPr>
        <p:spPr>
          <a:xfrm>
            <a:off x="4817424" y="4027932"/>
            <a:ext cx="2572390" cy="123111"/>
          </a:xfrm>
          <a:prstGeom prst="rect">
            <a:avLst/>
          </a:prstGeom>
          <a:noFill/>
        </p:spPr>
        <p:txBody>
          <a:bodyPr wrap="square" lIns="0" tIns="0" rIns="0" bIns="0" anchor="t">
            <a:spAutoFit/>
          </a:bodyPr>
          <a:lstStyle/>
          <a:p>
            <a:pPr algn="ctr">
              <a:spcAft>
                <a:spcPts val="0"/>
              </a:spcAft>
            </a:pPr>
            <a:r>
              <a:rPr sz="800" b="0" spc="70">
                <a:solidFill>
                  <a:srgbClr val="5B6E76"/>
                </a:solidFill>
                <a:latin typeface="Arial" panose="020B0604020202020204" pitchFamily="34" charset="0"/>
                <a:cs typeface="Arial" panose="020B0604020202020204" pitchFamily="34" charset="0"/>
              </a:rPr>
              <a:t>PIECES CUT AND TAPED</a:t>
            </a:r>
          </a:p>
        </p:txBody>
      </p:sp>
      <p:sp>
        <p:nvSpPr>
          <p:cNvPr id="162" name="TextBox 161">
            <a:extLst>
              <a:ext uri="{FF2B5EF4-FFF2-40B4-BE49-F238E27FC236}">
                <a16:creationId xmlns:a16="http://schemas.microsoft.com/office/drawing/2014/main" id="{05B3E6D4-6E05-590E-FF7E-95D60CDAFA6A}"/>
              </a:ext>
            </a:extLst>
          </p:cNvPr>
          <p:cNvSpPr txBox="1"/>
          <p:nvPr/>
        </p:nvSpPr>
        <p:spPr>
          <a:xfrm>
            <a:off x="5829300" y="4160520"/>
            <a:ext cx="548640" cy="107722"/>
          </a:xfrm>
          <a:prstGeom prst="rect">
            <a:avLst/>
          </a:prstGeom>
          <a:noFill/>
        </p:spPr>
        <p:txBody>
          <a:bodyPr wrap="square" lIns="0" tIns="0" rIns="0" bIns="0" anchor="t">
            <a:spAutoFit/>
          </a:bodyPr>
          <a:lstStyle/>
          <a:p>
            <a:pPr algn="ctr">
              <a:spcAft>
                <a:spcPts val="0"/>
              </a:spcAft>
            </a:pPr>
            <a:r>
              <a:rPr sz="700" b="0">
                <a:solidFill>
                  <a:srgbClr val="8A9BA1"/>
                </a:solidFill>
                <a:latin typeface="Arial" panose="020B0604020202020204" pitchFamily="34" charset="0"/>
                <a:cs typeface="Arial" panose="020B0604020202020204" pitchFamily="34" charset="0"/>
              </a:rPr>
              <a:t>▾</a:t>
            </a:r>
          </a:p>
        </p:txBody>
      </p:sp>
      <p:sp>
        <p:nvSpPr>
          <p:cNvPr id="163" name="TextBox 162">
            <a:extLst>
              <a:ext uri="{FF2B5EF4-FFF2-40B4-BE49-F238E27FC236}">
                <a16:creationId xmlns:a16="http://schemas.microsoft.com/office/drawing/2014/main" id="{8AFDF998-9DC4-A0E3-9B66-9F9890284EAA}"/>
              </a:ext>
            </a:extLst>
          </p:cNvPr>
          <p:cNvSpPr txBox="1"/>
          <p:nvPr/>
        </p:nvSpPr>
        <p:spPr>
          <a:xfrm>
            <a:off x="5015484" y="4288536"/>
            <a:ext cx="2176271" cy="123111"/>
          </a:xfrm>
          <a:prstGeom prst="rect">
            <a:avLst/>
          </a:prstGeom>
          <a:noFill/>
        </p:spPr>
        <p:txBody>
          <a:bodyPr wrap="square" lIns="0" tIns="0" rIns="0" bIns="0" anchor="t">
            <a:spAutoFit/>
          </a:bodyPr>
          <a:lstStyle/>
          <a:p>
            <a:pPr algn="ctr">
              <a:spcAft>
                <a:spcPts val="0"/>
              </a:spcAft>
            </a:pPr>
            <a:r>
              <a:rPr sz="800" b="0" spc="70">
                <a:solidFill>
                  <a:srgbClr val="5B6E76"/>
                </a:solidFill>
                <a:latin typeface="Arial" panose="020B0604020202020204" pitchFamily="34" charset="0"/>
                <a:cs typeface="Arial" panose="020B0604020202020204" pitchFamily="34" charset="0"/>
              </a:rPr>
              <a:t>THE PROTEIN IS BUILT</a:t>
            </a:r>
          </a:p>
        </p:txBody>
      </p:sp>
      <p:cxnSp>
        <p:nvCxnSpPr>
          <p:cNvPr id="164" name="Connector 123">
            <a:extLst>
              <a:ext uri="{FF2B5EF4-FFF2-40B4-BE49-F238E27FC236}">
                <a16:creationId xmlns:a16="http://schemas.microsoft.com/office/drawing/2014/main" id="{08D933BA-AD35-F34D-A0F7-996CA52E7DDF}"/>
              </a:ext>
            </a:extLst>
          </p:cNvPr>
          <p:cNvCxnSpPr/>
          <p:nvPr/>
        </p:nvCxnSpPr>
        <p:spPr>
          <a:xfrm flipH="1" flipV="1">
            <a:off x="5680892" y="5005197"/>
            <a:ext cx="55139" cy="131445"/>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165" name="Connector 124">
            <a:extLst>
              <a:ext uri="{FF2B5EF4-FFF2-40B4-BE49-F238E27FC236}">
                <a16:creationId xmlns:a16="http://schemas.microsoft.com/office/drawing/2014/main" id="{C834F9B0-2B88-841D-3038-721DA7394E10}"/>
              </a:ext>
            </a:extLst>
          </p:cNvPr>
          <p:cNvCxnSpPr/>
          <p:nvPr/>
        </p:nvCxnSpPr>
        <p:spPr>
          <a:xfrm flipV="1">
            <a:off x="5680892" y="4868037"/>
            <a:ext cx="64328" cy="137160"/>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166" name="Connector 125">
            <a:extLst>
              <a:ext uri="{FF2B5EF4-FFF2-40B4-BE49-F238E27FC236}">
                <a16:creationId xmlns:a16="http://schemas.microsoft.com/office/drawing/2014/main" id="{22E1392E-500F-F99A-ADDC-D1A0C06983B1}"/>
              </a:ext>
            </a:extLst>
          </p:cNvPr>
          <p:cNvCxnSpPr/>
          <p:nvPr/>
        </p:nvCxnSpPr>
        <p:spPr>
          <a:xfrm flipV="1">
            <a:off x="5745220" y="4776597"/>
            <a:ext cx="147036" cy="91440"/>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167" name="Connector 126">
            <a:extLst>
              <a:ext uri="{FF2B5EF4-FFF2-40B4-BE49-F238E27FC236}">
                <a16:creationId xmlns:a16="http://schemas.microsoft.com/office/drawing/2014/main" id="{E1A1F8E4-FD9F-3F6F-67D4-19A7B4E41429}"/>
              </a:ext>
            </a:extLst>
          </p:cNvPr>
          <p:cNvCxnSpPr/>
          <p:nvPr/>
        </p:nvCxnSpPr>
        <p:spPr>
          <a:xfrm flipV="1">
            <a:off x="5892256" y="4742306"/>
            <a:ext cx="202174" cy="34291"/>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168" name="Connector 127">
            <a:extLst>
              <a:ext uri="{FF2B5EF4-FFF2-40B4-BE49-F238E27FC236}">
                <a16:creationId xmlns:a16="http://schemas.microsoft.com/office/drawing/2014/main" id="{CFC0FF63-7806-0AE2-BA2B-49DDE6BF2918}"/>
              </a:ext>
            </a:extLst>
          </p:cNvPr>
          <p:cNvCxnSpPr/>
          <p:nvPr/>
        </p:nvCxnSpPr>
        <p:spPr>
          <a:xfrm>
            <a:off x="6094430" y="4742306"/>
            <a:ext cx="192984" cy="34291"/>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169" name="Connector 128">
            <a:extLst>
              <a:ext uri="{FF2B5EF4-FFF2-40B4-BE49-F238E27FC236}">
                <a16:creationId xmlns:a16="http://schemas.microsoft.com/office/drawing/2014/main" id="{84726128-61F6-9916-E7FE-A8F24B2B0D6A}"/>
              </a:ext>
            </a:extLst>
          </p:cNvPr>
          <p:cNvCxnSpPr/>
          <p:nvPr/>
        </p:nvCxnSpPr>
        <p:spPr>
          <a:xfrm>
            <a:off x="6434449" y="4908042"/>
            <a:ext cx="101087" cy="114300"/>
          </a:xfrm>
          <a:prstGeom prst="line">
            <a:avLst/>
          </a:prstGeom>
          <a:ln w="19050">
            <a:solidFill>
              <a:srgbClr val="B0554A"/>
            </a:solidFill>
          </a:ln>
        </p:spPr>
        <p:style>
          <a:lnRef idx="2">
            <a:schemeClr val="accent1"/>
          </a:lnRef>
          <a:fillRef idx="0">
            <a:schemeClr val="accent1"/>
          </a:fillRef>
          <a:effectRef idx="1">
            <a:schemeClr val="accent1"/>
          </a:effectRef>
          <a:fontRef idx="minor">
            <a:schemeClr val="tx1"/>
          </a:fontRef>
        </p:style>
      </p:cxnSp>
      <p:cxnSp>
        <p:nvCxnSpPr>
          <p:cNvPr id="170" name="Connector 129">
            <a:extLst>
              <a:ext uri="{FF2B5EF4-FFF2-40B4-BE49-F238E27FC236}">
                <a16:creationId xmlns:a16="http://schemas.microsoft.com/office/drawing/2014/main" id="{BCD88819-8AE0-2C0A-5B06-A0CFA55A907F}"/>
              </a:ext>
            </a:extLst>
          </p:cNvPr>
          <p:cNvCxnSpPr/>
          <p:nvPr/>
        </p:nvCxnSpPr>
        <p:spPr>
          <a:xfrm flipH="1">
            <a:off x="6517157" y="5022342"/>
            <a:ext cx="18379" cy="142875"/>
          </a:xfrm>
          <a:prstGeom prst="line">
            <a:avLst/>
          </a:prstGeom>
          <a:ln w="19050">
            <a:solidFill>
              <a:srgbClr val="B0554A"/>
            </a:solidFill>
          </a:ln>
        </p:spPr>
        <p:style>
          <a:lnRef idx="2">
            <a:schemeClr val="accent1"/>
          </a:lnRef>
          <a:fillRef idx="0">
            <a:schemeClr val="accent1"/>
          </a:fillRef>
          <a:effectRef idx="1">
            <a:schemeClr val="accent1"/>
          </a:effectRef>
          <a:fontRef idx="minor">
            <a:schemeClr val="tx1"/>
          </a:fontRef>
        </p:style>
      </p:cxnSp>
      <p:cxnSp>
        <p:nvCxnSpPr>
          <p:cNvPr id="171" name="Connector 130">
            <a:extLst>
              <a:ext uri="{FF2B5EF4-FFF2-40B4-BE49-F238E27FC236}">
                <a16:creationId xmlns:a16="http://schemas.microsoft.com/office/drawing/2014/main" id="{437553B8-F1F0-D7DA-EF29-87EC59C33B3B}"/>
              </a:ext>
            </a:extLst>
          </p:cNvPr>
          <p:cNvCxnSpPr/>
          <p:nvPr/>
        </p:nvCxnSpPr>
        <p:spPr>
          <a:xfrm flipH="1" flipV="1">
            <a:off x="6149568" y="5130927"/>
            <a:ext cx="367589" cy="34290"/>
          </a:xfrm>
          <a:prstGeom prst="line">
            <a:avLst/>
          </a:prstGeom>
          <a:ln w="12700">
            <a:solidFill>
              <a:srgbClr val="DCE4E6"/>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31">
            <a:extLst>
              <a:ext uri="{FF2B5EF4-FFF2-40B4-BE49-F238E27FC236}">
                <a16:creationId xmlns:a16="http://schemas.microsoft.com/office/drawing/2014/main" id="{F1A01EFA-F466-3A4A-9771-D68DE76218F0}"/>
              </a:ext>
            </a:extLst>
          </p:cNvPr>
          <p:cNvCxnSpPr/>
          <p:nvPr/>
        </p:nvCxnSpPr>
        <p:spPr>
          <a:xfrm flipH="1" flipV="1">
            <a:off x="5993343" y="5073777"/>
            <a:ext cx="156225" cy="57150"/>
          </a:xfrm>
          <a:prstGeom prst="line">
            <a:avLst/>
          </a:prstGeom>
          <a:ln w="12700">
            <a:solidFill>
              <a:srgbClr val="DCE4E6"/>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32">
            <a:extLst>
              <a:ext uri="{FF2B5EF4-FFF2-40B4-BE49-F238E27FC236}">
                <a16:creationId xmlns:a16="http://schemas.microsoft.com/office/drawing/2014/main" id="{B73620EE-74F6-9356-0393-86C87B8AEDC3}"/>
              </a:ext>
            </a:extLst>
          </p:cNvPr>
          <p:cNvCxnSpPr/>
          <p:nvPr/>
        </p:nvCxnSpPr>
        <p:spPr>
          <a:xfrm flipH="1" flipV="1">
            <a:off x="5984153" y="4953762"/>
            <a:ext cx="9190" cy="120015"/>
          </a:xfrm>
          <a:prstGeom prst="line">
            <a:avLst/>
          </a:prstGeom>
          <a:ln w="12700">
            <a:solidFill>
              <a:srgbClr val="DCE4E6"/>
            </a:solidFill>
            <a:prstDash val="sysDot"/>
          </a:ln>
        </p:spPr>
        <p:style>
          <a:lnRef idx="2">
            <a:schemeClr val="accent1"/>
          </a:lnRef>
          <a:fillRef idx="0">
            <a:schemeClr val="accent1"/>
          </a:fillRef>
          <a:effectRef idx="1">
            <a:schemeClr val="accent1"/>
          </a:effectRef>
          <a:fontRef idx="minor">
            <a:schemeClr val="tx1"/>
          </a:fontRef>
        </p:style>
      </p:cxnSp>
      <p:sp>
        <p:nvSpPr>
          <p:cNvPr id="174" name="Oval 173">
            <a:extLst>
              <a:ext uri="{FF2B5EF4-FFF2-40B4-BE49-F238E27FC236}">
                <a16:creationId xmlns:a16="http://schemas.microsoft.com/office/drawing/2014/main" id="{67C5487F-927D-0EE8-58F4-5584CEB7729A}"/>
              </a:ext>
            </a:extLst>
          </p:cNvPr>
          <p:cNvSpPr/>
          <p:nvPr/>
        </p:nvSpPr>
        <p:spPr>
          <a:xfrm>
            <a:off x="5665165" y="5065776"/>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75" name="Oval 174">
            <a:extLst>
              <a:ext uri="{FF2B5EF4-FFF2-40B4-BE49-F238E27FC236}">
                <a16:creationId xmlns:a16="http://schemas.microsoft.com/office/drawing/2014/main" id="{8B0AEBC0-B925-B7E0-9B57-A5358DB3AC93}"/>
              </a:ext>
            </a:extLst>
          </p:cNvPr>
          <p:cNvSpPr/>
          <p:nvPr/>
        </p:nvSpPr>
        <p:spPr>
          <a:xfrm>
            <a:off x="5610026" y="493433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76" name="Oval 175">
            <a:extLst>
              <a:ext uri="{FF2B5EF4-FFF2-40B4-BE49-F238E27FC236}">
                <a16:creationId xmlns:a16="http://schemas.microsoft.com/office/drawing/2014/main" id="{B1777996-CC66-60E5-206F-141F5DC71C18}"/>
              </a:ext>
            </a:extLst>
          </p:cNvPr>
          <p:cNvSpPr/>
          <p:nvPr/>
        </p:nvSpPr>
        <p:spPr>
          <a:xfrm>
            <a:off x="5674354" y="479717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77" name="Oval 176">
            <a:extLst>
              <a:ext uri="{FF2B5EF4-FFF2-40B4-BE49-F238E27FC236}">
                <a16:creationId xmlns:a16="http://schemas.microsoft.com/office/drawing/2014/main" id="{0327EAE6-A645-1E54-8E9D-252FE2B7A491}"/>
              </a:ext>
            </a:extLst>
          </p:cNvPr>
          <p:cNvSpPr/>
          <p:nvPr/>
        </p:nvSpPr>
        <p:spPr>
          <a:xfrm>
            <a:off x="5821390" y="470573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78" name="Oval 177">
            <a:extLst>
              <a:ext uri="{FF2B5EF4-FFF2-40B4-BE49-F238E27FC236}">
                <a16:creationId xmlns:a16="http://schemas.microsoft.com/office/drawing/2014/main" id="{28C62846-0E79-4942-31DB-C06D1F9C082F}"/>
              </a:ext>
            </a:extLst>
          </p:cNvPr>
          <p:cNvSpPr/>
          <p:nvPr/>
        </p:nvSpPr>
        <p:spPr>
          <a:xfrm>
            <a:off x="6023564" y="467144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79" name="Oval 178">
            <a:extLst>
              <a:ext uri="{FF2B5EF4-FFF2-40B4-BE49-F238E27FC236}">
                <a16:creationId xmlns:a16="http://schemas.microsoft.com/office/drawing/2014/main" id="{57890819-DE69-3C7E-BBF1-2E539786282A}"/>
              </a:ext>
            </a:extLst>
          </p:cNvPr>
          <p:cNvSpPr/>
          <p:nvPr/>
        </p:nvSpPr>
        <p:spPr>
          <a:xfrm>
            <a:off x="6216548" y="470573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80" name="Oval 179">
            <a:extLst>
              <a:ext uri="{FF2B5EF4-FFF2-40B4-BE49-F238E27FC236}">
                <a16:creationId xmlns:a16="http://schemas.microsoft.com/office/drawing/2014/main" id="{6FAE53CD-0E84-BDCE-3DC0-D1235107FE72}"/>
              </a:ext>
            </a:extLst>
          </p:cNvPr>
          <p:cNvSpPr/>
          <p:nvPr/>
        </p:nvSpPr>
        <p:spPr>
          <a:xfrm>
            <a:off x="6363583" y="4837176"/>
            <a:ext cx="141732" cy="141732"/>
          </a:xfrm>
          <a:prstGeom prst="ellipse">
            <a:avLst/>
          </a:prstGeom>
          <a:solidFill>
            <a:srgbClr val="D8A8A0"/>
          </a:solidFill>
          <a:ln w="19050">
            <a:solidFill>
              <a:srgbClr val="B0554A"/>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81" name="Oval 180">
            <a:extLst>
              <a:ext uri="{FF2B5EF4-FFF2-40B4-BE49-F238E27FC236}">
                <a16:creationId xmlns:a16="http://schemas.microsoft.com/office/drawing/2014/main" id="{C2077909-F5E2-26C0-D9CF-E4A676712653}"/>
              </a:ext>
            </a:extLst>
          </p:cNvPr>
          <p:cNvSpPr/>
          <p:nvPr/>
        </p:nvSpPr>
        <p:spPr>
          <a:xfrm>
            <a:off x="6464670" y="4951476"/>
            <a:ext cx="141732" cy="141732"/>
          </a:xfrm>
          <a:prstGeom prst="ellipse">
            <a:avLst/>
          </a:prstGeom>
          <a:solidFill>
            <a:srgbClr val="D8A8A0"/>
          </a:solidFill>
          <a:ln w="19050">
            <a:solidFill>
              <a:srgbClr val="B0554A"/>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82" name="Oval 181">
            <a:extLst>
              <a:ext uri="{FF2B5EF4-FFF2-40B4-BE49-F238E27FC236}">
                <a16:creationId xmlns:a16="http://schemas.microsoft.com/office/drawing/2014/main" id="{703C2C32-3B16-CC97-10E1-99429EA6AA5E}"/>
              </a:ext>
            </a:extLst>
          </p:cNvPr>
          <p:cNvSpPr/>
          <p:nvPr/>
        </p:nvSpPr>
        <p:spPr>
          <a:xfrm>
            <a:off x="6446291" y="5094351"/>
            <a:ext cx="141732" cy="141732"/>
          </a:xfrm>
          <a:prstGeom prst="ellipse">
            <a:avLst/>
          </a:prstGeom>
          <a:solidFill>
            <a:srgbClr val="D8A8A0"/>
          </a:solidFill>
          <a:ln w="19050">
            <a:solidFill>
              <a:srgbClr val="B0554A"/>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83" name="Oval 182">
            <a:extLst>
              <a:ext uri="{FF2B5EF4-FFF2-40B4-BE49-F238E27FC236}">
                <a16:creationId xmlns:a16="http://schemas.microsoft.com/office/drawing/2014/main" id="{EDB2DC60-0798-1EF0-97F7-7668D0EB65D0}"/>
              </a:ext>
            </a:extLst>
          </p:cNvPr>
          <p:cNvSpPr/>
          <p:nvPr/>
        </p:nvSpPr>
        <p:spPr>
          <a:xfrm>
            <a:off x="6078702" y="5060061"/>
            <a:ext cx="141732" cy="141732"/>
          </a:xfrm>
          <a:prstGeom prst="ellipse">
            <a:avLst/>
          </a:prstGeom>
          <a:solidFill>
            <a:srgbClr val="FFFFFF"/>
          </a:solidFill>
          <a:ln w="9525">
            <a:solidFill>
              <a:srgbClr val="DCE4E6"/>
            </a:solidFill>
            <a:prstDash val="sysDot"/>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84" name="Oval 183">
            <a:extLst>
              <a:ext uri="{FF2B5EF4-FFF2-40B4-BE49-F238E27FC236}">
                <a16:creationId xmlns:a16="http://schemas.microsoft.com/office/drawing/2014/main" id="{F50207DD-1196-4D37-24EA-A93DCB27C2BA}"/>
              </a:ext>
            </a:extLst>
          </p:cNvPr>
          <p:cNvSpPr/>
          <p:nvPr/>
        </p:nvSpPr>
        <p:spPr>
          <a:xfrm>
            <a:off x="5922477" y="5002911"/>
            <a:ext cx="141732" cy="141732"/>
          </a:xfrm>
          <a:prstGeom prst="ellipse">
            <a:avLst/>
          </a:prstGeom>
          <a:solidFill>
            <a:srgbClr val="FFFFFF"/>
          </a:solidFill>
          <a:ln w="9525">
            <a:solidFill>
              <a:srgbClr val="DCE4E6"/>
            </a:solidFill>
            <a:prstDash val="sysDot"/>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185" name="Oval 184">
            <a:extLst>
              <a:ext uri="{FF2B5EF4-FFF2-40B4-BE49-F238E27FC236}">
                <a16:creationId xmlns:a16="http://schemas.microsoft.com/office/drawing/2014/main" id="{527AC742-D1CB-7560-A5A9-F71D97F9C9A9}"/>
              </a:ext>
            </a:extLst>
          </p:cNvPr>
          <p:cNvSpPr/>
          <p:nvPr/>
        </p:nvSpPr>
        <p:spPr>
          <a:xfrm>
            <a:off x="5913287" y="4882896"/>
            <a:ext cx="141732" cy="141732"/>
          </a:xfrm>
          <a:prstGeom prst="ellipse">
            <a:avLst/>
          </a:prstGeom>
          <a:solidFill>
            <a:srgbClr val="FFFFFF"/>
          </a:solidFill>
          <a:ln w="9525">
            <a:solidFill>
              <a:srgbClr val="DCE4E6"/>
            </a:solidFill>
            <a:prstDash val="sysDot"/>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cxnSp>
        <p:nvCxnSpPr>
          <p:cNvPr id="186" name="Connector 145">
            <a:extLst>
              <a:ext uri="{FF2B5EF4-FFF2-40B4-BE49-F238E27FC236}">
                <a16:creationId xmlns:a16="http://schemas.microsoft.com/office/drawing/2014/main" id="{3C21EC1A-7D76-5C8C-5425-9FC98680BEDE}"/>
              </a:ext>
            </a:extLst>
          </p:cNvPr>
          <p:cNvCxnSpPr/>
          <p:nvPr/>
        </p:nvCxnSpPr>
        <p:spPr>
          <a:xfrm>
            <a:off x="6278636" y="4750879"/>
            <a:ext cx="164592" cy="182880"/>
          </a:xfrm>
          <a:prstGeom prst="line">
            <a:avLst/>
          </a:prstGeom>
          <a:ln w="25400">
            <a:solidFill>
              <a:srgbClr val="B0554A"/>
            </a:solidFill>
          </a:ln>
        </p:spPr>
        <p:style>
          <a:lnRef idx="2">
            <a:schemeClr val="accent1"/>
          </a:lnRef>
          <a:fillRef idx="0">
            <a:schemeClr val="accent1"/>
          </a:fillRef>
          <a:effectRef idx="1">
            <a:schemeClr val="accent1"/>
          </a:effectRef>
          <a:fontRef idx="minor">
            <a:schemeClr val="tx1"/>
          </a:fontRef>
        </p:style>
      </p:cxnSp>
      <p:cxnSp>
        <p:nvCxnSpPr>
          <p:cNvPr id="187" name="Connector 146">
            <a:extLst>
              <a:ext uri="{FF2B5EF4-FFF2-40B4-BE49-F238E27FC236}">
                <a16:creationId xmlns:a16="http://schemas.microsoft.com/office/drawing/2014/main" id="{337672E4-69F9-36E5-7FCA-C238EA1A72F7}"/>
              </a:ext>
            </a:extLst>
          </p:cNvPr>
          <p:cNvCxnSpPr/>
          <p:nvPr/>
        </p:nvCxnSpPr>
        <p:spPr>
          <a:xfrm flipV="1">
            <a:off x="6278636" y="4750879"/>
            <a:ext cx="164592" cy="182880"/>
          </a:xfrm>
          <a:prstGeom prst="line">
            <a:avLst/>
          </a:prstGeom>
          <a:ln w="25400">
            <a:solidFill>
              <a:srgbClr val="B0554A"/>
            </a:solidFill>
          </a:ln>
        </p:spPr>
        <p:style>
          <a:lnRef idx="2">
            <a:schemeClr val="accent1"/>
          </a:lnRef>
          <a:fillRef idx="0">
            <a:schemeClr val="accent1"/>
          </a:fillRef>
          <a:effectRef idx="1">
            <a:schemeClr val="accent1"/>
          </a:effectRef>
          <a:fontRef idx="minor">
            <a:schemeClr val="tx1"/>
          </a:fontRef>
        </p:style>
      </p:cxnSp>
      <p:sp>
        <p:nvSpPr>
          <p:cNvPr id="188" name="TextBox 187">
            <a:extLst>
              <a:ext uri="{FF2B5EF4-FFF2-40B4-BE49-F238E27FC236}">
                <a16:creationId xmlns:a16="http://schemas.microsoft.com/office/drawing/2014/main" id="{6BC203F0-ED68-C39A-7036-66B3C52BC2C6}"/>
              </a:ext>
            </a:extLst>
          </p:cNvPr>
          <p:cNvSpPr txBox="1"/>
          <p:nvPr/>
        </p:nvSpPr>
        <p:spPr>
          <a:xfrm>
            <a:off x="4506467" y="5358383"/>
            <a:ext cx="3194304" cy="475488"/>
          </a:xfrm>
          <a:prstGeom prst="rect">
            <a:avLst/>
          </a:prstGeom>
          <a:noFill/>
        </p:spPr>
        <p:txBody>
          <a:bodyPr wrap="square" lIns="0" tIns="0" rIns="0" bIns="0" anchor="t">
            <a:spAutoFit/>
          </a:bodyPr>
          <a:lstStyle/>
          <a:p>
            <a:pPr algn="ctr">
              <a:lnSpc>
                <a:spcPct val="114000"/>
              </a:lnSpc>
              <a:spcAft>
                <a:spcPts val="0"/>
              </a:spcAft>
            </a:pPr>
            <a:r>
              <a:rPr sz="1500" b="1">
                <a:solidFill>
                  <a:srgbClr val="1A2A31"/>
                </a:solidFill>
                <a:latin typeface="Segoe UI"/>
              </a:rPr>
              <a:t>Taped in</a:t>
            </a:r>
          </a:p>
          <a:p>
            <a:pPr algn="ctr">
              <a:lnSpc>
                <a:spcPct val="114000"/>
              </a:lnSpc>
              <a:spcAft>
                <a:spcPts val="0"/>
              </a:spcAft>
            </a:pPr>
            <a:r>
              <a:rPr sz="1500" b="1">
                <a:solidFill>
                  <a:srgbClr val="1A2A31"/>
                </a:solidFill>
                <a:latin typeface="Segoe UI"/>
              </a:rPr>
              <a:t>the wrong place</a:t>
            </a:r>
          </a:p>
        </p:txBody>
      </p:sp>
      <p:cxnSp>
        <p:nvCxnSpPr>
          <p:cNvPr id="189" name="Connector 148">
            <a:extLst>
              <a:ext uri="{FF2B5EF4-FFF2-40B4-BE49-F238E27FC236}">
                <a16:creationId xmlns:a16="http://schemas.microsoft.com/office/drawing/2014/main" id="{ECF10135-4738-DA51-57F8-EB9608FBE47A}"/>
              </a:ext>
            </a:extLst>
          </p:cNvPr>
          <p:cNvCxnSpPr/>
          <p:nvPr/>
        </p:nvCxnSpPr>
        <p:spPr>
          <a:xfrm>
            <a:off x="4808220" y="5870448"/>
            <a:ext cx="2590799" cy="0"/>
          </a:xfrm>
          <a:prstGeom prst="line">
            <a:avLst/>
          </a:prstGeom>
          <a:ln w="9525">
            <a:solidFill>
              <a:srgbClr val="DCE4E6"/>
            </a:solidFill>
          </a:ln>
        </p:spPr>
        <p:style>
          <a:lnRef idx="2">
            <a:schemeClr val="accent1"/>
          </a:lnRef>
          <a:fillRef idx="0">
            <a:schemeClr val="accent1"/>
          </a:fillRef>
          <a:effectRef idx="1">
            <a:schemeClr val="accent1"/>
          </a:effectRef>
          <a:fontRef idx="minor">
            <a:schemeClr val="tx1"/>
          </a:fontRef>
        </p:style>
      </p:cxnSp>
      <p:sp>
        <p:nvSpPr>
          <p:cNvPr id="190" name="TextBox 189">
            <a:extLst>
              <a:ext uri="{FF2B5EF4-FFF2-40B4-BE49-F238E27FC236}">
                <a16:creationId xmlns:a16="http://schemas.microsoft.com/office/drawing/2014/main" id="{B2977B86-67AD-860A-7D67-7993CAAC8494}"/>
              </a:ext>
            </a:extLst>
          </p:cNvPr>
          <p:cNvSpPr txBox="1"/>
          <p:nvPr/>
        </p:nvSpPr>
        <p:spPr>
          <a:xfrm>
            <a:off x="4506467" y="5925312"/>
            <a:ext cx="3194304" cy="182880"/>
          </a:xfrm>
          <a:prstGeom prst="rect">
            <a:avLst/>
          </a:prstGeom>
          <a:noFill/>
        </p:spPr>
        <p:txBody>
          <a:bodyPr wrap="square" lIns="0" tIns="0" rIns="0" bIns="0" anchor="t">
            <a:spAutoFit/>
          </a:bodyPr>
          <a:lstStyle/>
          <a:p>
            <a:pPr algn="ctr">
              <a:spcAft>
                <a:spcPts val="0"/>
              </a:spcAft>
            </a:pPr>
            <a:r>
              <a:rPr sz="900" b="0">
                <a:solidFill>
                  <a:srgbClr val="8A9BA1"/>
                </a:solidFill>
                <a:latin typeface="Consolas"/>
              </a:rPr>
              <a:t>BRCA1  c.212+1G&gt;A</a:t>
            </a:r>
          </a:p>
        </p:txBody>
      </p:sp>
      <p:sp>
        <p:nvSpPr>
          <p:cNvPr id="191" name="Rounded Rectangle 150">
            <a:extLst>
              <a:ext uri="{FF2B5EF4-FFF2-40B4-BE49-F238E27FC236}">
                <a16:creationId xmlns:a16="http://schemas.microsoft.com/office/drawing/2014/main" id="{B3461BC6-2437-6B61-137D-07E297AF463C}"/>
              </a:ext>
            </a:extLst>
          </p:cNvPr>
          <p:cNvSpPr/>
          <p:nvPr/>
        </p:nvSpPr>
        <p:spPr>
          <a:xfrm>
            <a:off x="8043671" y="2359152"/>
            <a:ext cx="3596640" cy="3803904"/>
          </a:xfrm>
          <a:prstGeom prst="roundRect">
            <a:avLst>
              <a:gd name="adj" fmla="val 45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92" name="Oval 191">
            <a:extLst>
              <a:ext uri="{FF2B5EF4-FFF2-40B4-BE49-F238E27FC236}">
                <a16:creationId xmlns:a16="http://schemas.microsoft.com/office/drawing/2014/main" id="{356CCFBE-6A74-79C1-698B-49DFDD027DAF}"/>
              </a:ext>
            </a:extLst>
          </p:cNvPr>
          <p:cNvSpPr/>
          <p:nvPr/>
        </p:nvSpPr>
        <p:spPr>
          <a:xfrm>
            <a:off x="8281415" y="2523744"/>
            <a:ext cx="274320" cy="274320"/>
          </a:xfrm>
          <a:prstGeom prst="ellipse">
            <a:avLst/>
          </a:prstGeom>
          <a:solidFill>
            <a:srgbClr val="15697A"/>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93" name="TextBox 192">
            <a:extLst>
              <a:ext uri="{FF2B5EF4-FFF2-40B4-BE49-F238E27FC236}">
                <a16:creationId xmlns:a16="http://schemas.microsoft.com/office/drawing/2014/main" id="{52A3B6A8-5EA1-A087-2FF0-2442076EEC9B}"/>
              </a:ext>
            </a:extLst>
          </p:cNvPr>
          <p:cNvSpPr txBox="1"/>
          <p:nvPr/>
        </p:nvSpPr>
        <p:spPr>
          <a:xfrm>
            <a:off x="8281415" y="2578608"/>
            <a:ext cx="274320" cy="182880"/>
          </a:xfrm>
          <a:prstGeom prst="rect">
            <a:avLst/>
          </a:prstGeom>
          <a:noFill/>
        </p:spPr>
        <p:txBody>
          <a:bodyPr wrap="square" lIns="0" tIns="0" rIns="0" bIns="0" anchor="t">
            <a:spAutoFit/>
          </a:bodyPr>
          <a:lstStyle/>
          <a:p>
            <a:pPr algn="ctr">
              <a:spcAft>
                <a:spcPts val="0"/>
              </a:spcAft>
            </a:pPr>
            <a:r>
              <a:rPr sz="1100" b="1">
                <a:solidFill>
                  <a:srgbClr val="FFFFFF"/>
                </a:solidFill>
                <a:latin typeface="Segoe UI"/>
              </a:rPr>
              <a:t>3</a:t>
            </a:r>
          </a:p>
        </p:txBody>
      </p:sp>
      <p:sp>
        <p:nvSpPr>
          <p:cNvPr id="194" name="TextBox 193">
            <a:extLst>
              <a:ext uri="{FF2B5EF4-FFF2-40B4-BE49-F238E27FC236}">
                <a16:creationId xmlns:a16="http://schemas.microsoft.com/office/drawing/2014/main" id="{5B614969-B4A2-C5D5-9C68-E0EA0A262B53}"/>
              </a:ext>
            </a:extLst>
          </p:cNvPr>
          <p:cNvSpPr txBox="1"/>
          <p:nvPr/>
        </p:nvSpPr>
        <p:spPr>
          <a:xfrm>
            <a:off x="8278367" y="2816352"/>
            <a:ext cx="2267712" cy="164592"/>
          </a:xfrm>
          <a:prstGeom prst="rect">
            <a:avLst/>
          </a:prstGeom>
          <a:noFill/>
        </p:spPr>
        <p:txBody>
          <a:bodyPr wrap="square" lIns="0" tIns="0" rIns="0" bIns="0" anchor="t">
            <a:spAutoFit/>
          </a:bodyPr>
          <a:lstStyle/>
          <a:p>
            <a:pPr algn="ctr">
              <a:spcAft>
                <a:spcPts val="0"/>
              </a:spcAft>
            </a:pPr>
            <a:r>
              <a:rPr sz="750" b="0" spc="90">
                <a:solidFill>
                  <a:srgbClr val="8A9BA1"/>
                </a:solidFill>
                <a:latin typeface="Consolas"/>
              </a:rPr>
              <a:t>KEPT</a:t>
            </a:r>
          </a:p>
        </p:txBody>
      </p:sp>
      <p:sp>
        <p:nvSpPr>
          <p:cNvPr id="195" name="TextBox 194">
            <a:extLst>
              <a:ext uri="{FF2B5EF4-FFF2-40B4-BE49-F238E27FC236}">
                <a16:creationId xmlns:a16="http://schemas.microsoft.com/office/drawing/2014/main" id="{5A0134B2-C94D-3B99-DCC0-61BAE90CF9CE}"/>
              </a:ext>
            </a:extLst>
          </p:cNvPr>
          <p:cNvSpPr txBox="1"/>
          <p:nvPr/>
        </p:nvSpPr>
        <p:spPr>
          <a:xfrm>
            <a:off x="10463783" y="2816352"/>
            <a:ext cx="1261872" cy="164592"/>
          </a:xfrm>
          <a:prstGeom prst="rect">
            <a:avLst/>
          </a:prstGeom>
          <a:noFill/>
        </p:spPr>
        <p:txBody>
          <a:bodyPr wrap="square" lIns="0" tIns="0" rIns="0" bIns="0" anchor="t">
            <a:spAutoFit/>
          </a:bodyPr>
          <a:lstStyle/>
          <a:p>
            <a:pPr algn="ctr">
              <a:spcAft>
                <a:spcPts val="0"/>
              </a:spcAft>
            </a:pPr>
            <a:r>
              <a:rPr sz="750" b="0" spc="90">
                <a:solidFill>
                  <a:srgbClr val="8A9BA1"/>
                </a:solidFill>
                <a:latin typeface="Consolas"/>
              </a:rPr>
              <a:t>CUT OUT</a:t>
            </a:r>
          </a:p>
        </p:txBody>
      </p:sp>
      <p:sp>
        <p:nvSpPr>
          <p:cNvPr id="196" name="Rounded Rectangle 155">
            <a:extLst>
              <a:ext uri="{FF2B5EF4-FFF2-40B4-BE49-F238E27FC236}">
                <a16:creationId xmlns:a16="http://schemas.microsoft.com/office/drawing/2014/main" id="{ABF3B4C1-3459-F80C-E55A-A69298F3EFD4}"/>
              </a:ext>
            </a:extLst>
          </p:cNvPr>
          <p:cNvSpPr/>
          <p:nvPr/>
        </p:nvSpPr>
        <p:spPr>
          <a:xfrm>
            <a:off x="8278367"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97" name="TextBox 196">
            <a:extLst>
              <a:ext uri="{FF2B5EF4-FFF2-40B4-BE49-F238E27FC236}">
                <a16:creationId xmlns:a16="http://schemas.microsoft.com/office/drawing/2014/main" id="{C59BC20F-1437-359E-1851-57ECEDC8C4FC}"/>
              </a:ext>
            </a:extLst>
          </p:cNvPr>
          <p:cNvSpPr txBox="1"/>
          <p:nvPr/>
        </p:nvSpPr>
        <p:spPr>
          <a:xfrm>
            <a:off x="8278367"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A</a:t>
            </a:r>
          </a:p>
        </p:txBody>
      </p:sp>
      <p:sp>
        <p:nvSpPr>
          <p:cNvPr id="198" name="Rounded Rectangle 157">
            <a:extLst>
              <a:ext uri="{FF2B5EF4-FFF2-40B4-BE49-F238E27FC236}">
                <a16:creationId xmlns:a16="http://schemas.microsoft.com/office/drawing/2014/main" id="{51614628-7677-9553-3C5B-C705EC5BDDBB}"/>
              </a:ext>
            </a:extLst>
          </p:cNvPr>
          <p:cNvSpPr/>
          <p:nvPr/>
        </p:nvSpPr>
        <p:spPr>
          <a:xfrm>
            <a:off x="8607551"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99" name="TextBox 198">
            <a:extLst>
              <a:ext uri="{FF2B5EF4-FFF2-40B4-BE49-F238E27FC236}">
                <a16:creationId xmlns:a16="http://schemas.microsoft.com/office/drawing/2014/main" id="{80825DDF-CC5B-08A6-67F1-4FAC62AB1EC4}"/>
              </a:ext>
            </a:extLst>
          </p:cNvPr>
          <p:cNvSpPr txBox="1"/>
          <p:nvPr/>
        </p:nvSpPr>
        <p:spPr>
          <a:xfrm>
            <a:off x="8607551"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T</a:t>
            </a:r>
          </a:p>
        </p:txBody>
      </p:sp>
      <p:sp>
        <p:nvSpPr>
          <p:cNvPr id="200" name="Rounded Rectangle 159">
            <a:extLst>
              <a:ext uri="{FF2B5EF4-FFF2-40B4-BE49-F238E27FC236}">
                <a16:creationId xmlns:a16="http://schemas.microsoft.com/office/drawing/2014/main" id="{B93AA087-A128-CD86-108E-CA82F639F72C}"/>
              </a:ext>
            </a:extLst>
          </p:cNvPr>
          <p:cNvSpPr/>
          <p:nvPr/>
        </p:nvSpPr>
        <p:spPr>
          <a:xfrm>
            <a:off x="8936735"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01" name="TextBox 200">
            <a:extLst>
              <a:ext uri="{FF2B5EF4-FFF2-40B4-BE49-F238E27FC236}">
                <a16:creationId xmlns:a16="http://schemas.microsoft.com/office/drawing/2014/main" id="{7CD3A79D-DA09-65B7-F2F6-B80C6B70310F}"/>
              </a:ext>
            </a:extLst>
          </p:cNvPr>
          <p:cNvSpPr txBox="1"/>
          <p:nvPr/>
        </p:nvSpPr>
        <p:spPr>
          <a:xfrm>
            <a:off x="8936735"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C</a:t>
            </a:r>
          </a:p>
        </p:txBody>
      </p:sp>
      <p:sp>
        <p:nvSpPr>
          <p:cNvPr id="202" name="Rounded Rectangle 161">
            <a:extLst>
              <a:ext uri="{FF2B5EF4-FFF2-40B4-BE49-F238E27FC236}">
                <a16:creationId xmlns:a16="http://schemas.microsoft.com/office/drawing/2014/main" id="{14F268A1-23A7-86E5-A0E3-26CC758D3C6E}"/>
              </a:ext>
            </a:extLst>
          </p:cNvPr>
          <p:cNvSpPr/>
          <p:nvPr/>
        </p:nvSpPr>
        <p:spPr>
          <a:xfrm>
            <a:off x="9265919"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03" name="TextBox 202">
            <a:extLst>
              <a:ext uri="{FF2B5EF4-FFF2-40B4-BE49-F238E27FC236}">
                <a16:creationId xmlns:a16="http://schemas.microsoft.com/office/drawing/2014/main" id="{E4D64C32-F7F7-74A8-DDFA-E983E9B9D2B6}"/>
              </a:ext>
            </a:extLst>
          </p:cNvPr>
          <p:cNvSpPr txBox="1"/>
          <p:nvPr/>
        </p:nvSpPr>
        <p:spPr>
          <a:xfrm>
            <a:off x="9265919"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G</a:t>
            </a:r>
          </a:p>
        </p:txBody>
      </p:sp>
      <p:sp>
        <p:nvSpPr>
          <p:cNvPr id="204" name="Rounded Rectangle 163">
            <a:extLst>
              <a:ext uri="{FF2B5EF4-FFF2-40B4-BE49-F238E27FC236}">
                <a16:creationId xmlns:a16="http://schemas.microsoft.com/office/drawing/2014/main" id="{745EE658-1A14-1D97-16AF-39AF27E2EB40}"/>
              </a:ext>
            </a:extLst>
          </p:cNvPr>
          <p:cNvSpPr/>
          <p:nvPr/>
        </p:nvSpPr>
        <p:spPr>
          <a:xfrm>
            <a:off x="9595103" y="3035808"/>
            <a:ext cx="292608" cy="365760"/>
          </a:xfrm>
          <a:prstGeom prst="roundRect">
            <a:avLst>
              <a:gd name="adj" fmla="val 14000"/>
            </a:avLst>
          </a:prstGeom>
          <a:solidFill>
            <a:srgbClr val="FAF5E6"/>
          </a:solidFill>
          <a:ln w="22225">
            <a:solidFill>
              <a:srgbClr val="B9AE7C"/>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05" name="TextBox 204">
            <a:extLst>
              <a:ext uri="{FF2B5EF4-FFF2-40B4-BE49-F238E27FC236}">
                <a16:creationId xmlns:a16="http://schemas.microsoft.com/office/drawing/2014/main" id="{91EAA10A-E05E-A35B-0A8A-B02D79419D49}"/>
              </a:ext>
            </a:extLst>
          </p:cNvPr>
          <p:cNvSpPr txBox="1"/>
          <p:nvPr/>
        </p:nvSpPr>
        <p:spPr>
          <a:xfrm>
            <a:off x="9595103" y="3127248"/>
            <a:ext cx="292608" cy="219456"/>
          </a:xfrm>
          <a:prstGeom prst="rect">
            <a:avLst/>
          </a:prstGeom>
          <a:noFill/>
        </p:spPr>
        <p:txBody>
          <a:bodyPr wrap="square" lIns="0" tIns="0" rIns="0" bIns="0" anchor="t">
            <a:spAutoFit/>
          </a:bodyPr>
          <a:lstStyle/>
          <a:p>
            <a:pPr algn="ctr">
              <a:spcAft>
                <a:spcPts val="0"/>
              </a:spcAft>
            </a:pPr>
            <a:r>
              <a:rPr sz="1500" b="1">
                <a:solidFill>
                  <a:srgbClr val="8A7A3C"/>
                </a:solidFill>
                <a:latin typeface="Consolas"/>
              </a:rPr>
              <a:t>T</a:t>
            </a:r>
          </a:p>
        </p:txBody>
      </p:sp>
      <p:sp>
        <p:nvSpPr>
          <p:cNvPr id="206" name="TextBox 205">
            <a:extLst>
              <a:ext uri="{FF2B5EF4-FFF2-40B4-BE49-F238E27FC236}">
                <a16:creationId xmlns:a16="http://schemas.microsoft.com/office/drawing/2014/main" id="{106D6EAC-C907-A17E-3B47-E8C45810C13C}"/>
              </a:ext>
            </a:extLst>
          </p:cNvPr>
          <p:cNvSpPr txBox="1"/>
          <p:nvPr/>
        </p:nvSpPr>
        <p:spPr>
          <a:xfrm>
            <a:off x="9320783" y="3438144"/>
            <a:ext cx="841247" cy="164592"/>
          </a:xfrm>
          <a:prstGeom prst="rect">
            <a:avLst/>
          </a:prstGeom>
          <a:noFill/>
        </p:spPr>
        <p:txBody>
          <a:bodyPr wrap="square" lIns="0" tIns="0" rIns="0" bIns="0" anchor="t">
            <a:spAutoFit/>
          </a:bodyPr>
          <a:lstStyle/>
          <a:p>
            <a:pPr algn="ctr">
              <a:spcAft>
                <a:spcPts val="0"/>
              </a:spcAft>
            </a:pPr>
            <a:r>
              <a:rPr sz="850" b="0">
                <a:solidFill>
                  <a:srgbClr val="8A7A3C"/>
                </a:solidFill>
                <a:latin typeface="Consolas"/>
              </a:rPr>
              <a:t>C → T</a:t>
            </a:r>
          </a:p>
        </p:txBody>
      </p:sp>
      <p:sp>
        <p:nvSpPr>
          <p:cNvPr id="207" name="Rounded Rectangle 166">
            <a:extLst>
              <a:ext uri="{FF2B5EF4-FFF2-40B4-BE49-F238E27FC236}">
                <a16:creationId xmlns:a16="http://schemas.microsoft.com/office/drawing/2014/main" id="{E9C86F3B-8F39-051E-6C17-531606472A37}"/>
              </a:ext>
            </a:extLst>
          </p:cNvPr>
          <p:cNvSpPr/>
          <p:nvPr/>
        </p:nvSpPr>
        <p:spPr>
          <a:xfrm>
            <a:off x="9924287"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08" name="TextBox 207">
            <a:extLst>
              <a:ext uri="{FF2B5EF4-FFF2-40B4-BE49-F238E27FC236}">
                <a16:creationId xmlns:a16="http://schemas.microsoft.com/office/drawing/2014/main" id="{E81DFA3A-7F5C-914E-8C1F-1D3E82871A6E}"/>
              </a:ext>
            </a:extLst>
          </p:cNvPr>
          <p:cNvSpPr txBox="1"/>
          <p:nvPr/>
        </p:nvSpPr>
        <p:spPr>
          <a:xfrm>
            <a:off x="9924287"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A</a:t>
            </a:r>
          </a:p>
        </p:txBody>
      </p:sp>
      <p:sp>
        <p:nvSpPr>
          <p:cNvPr id="209" name="Rounded Rectangle 168">
            <a:extLst>
              <a:ext uri="{FF2B5EF4-FFF2-40B4-BE49-F238E27FC236}">
                <a16:creationId xmlns:a16="http://schemas.microsoft.com/office/drawing/2014/main" id="{A52FDA29-D054-A057-B426-796C66624C3F}"/>
              </a:ext>
            </a:extLst>
          </p:cNvPr>
          <p:cNvSpPr/>
          <p:nvPr/>
        </p:nvSpPr>
        <p:spPr>
          <a:xfrm>
            <a:off x="10253471" y="3035808"/>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10" name="TextBox 209">
            <a:extLst>
              <a:ext uri="{FF2B5EF4-FFF2-40B4-BE49-F238E27FC236}">
                <a16:creationId xmlns:a16="http://schemas.microsoft.com/office/drawing/2014/main" id="{A260C038-572B-714A-AFB4-11E39218649F}"/>
              </a:ext>
            </a:extLst>
          </p:cNvPr>
          <p:cNvSpPr txBox="1"/>
          <p:nvPr/>
        </p:nvSpPr>
        <p:spPr>
          <a:xfrm>
            <a:off x="10253471" y="3127248"/>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G</a:t>
            </a:r>
          </a:p>
        </p:txBody>
      </p:sp>
      <p:sp>
        <p:nvSpPr>
          <p:cNvPr id="211" name="Rounded Rectangle 170">
            <a:extLst>
              <a:ext uri="{FF2B5EF4-FFF2-40B4-BE49-F238E27FC236}">
                <a16:creationId xmlns:a16="http://schemas.microsoft.com/office/drawing/2014/main" id="{1A118CC5-8C2C-7762-A90A-F3E20C74E8A6}"/>
              </a:ext>
            </a:extLst>
          </p:cNvPr>
          <p:cNvSpPr/>
          <p:nvPr/>
        </p:nvSpPr>
        <p:spPr>
          <a:xfrm>
            <a:off x="10783823" y="3035808"/>
            <a:ext cx="292608" cy="365760"/>
          </a:xfrm>
          <a:prstGeom prst="roundRect">
            <a:avLst>
              <a:gd name="adj" fmla="val 14000"/>
            </a:avLst>
          </a:prstGeom>
          <a:solidFill>
            <a:srgbClr val="F7F9F9"/>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12" name="TextBox 211">
            <a:extLst>
              <a:ext uri="{FF2B5EF4-FFF2-40B4-BE49-F238E27FC236}">
                <a16:creationId xmlns:a16="http://schemas.microsoft.com/office/drawing/2014/main" id="{3D8F25B2-A3B8-C9D9-2C1E-FD6E3D3FF8E0}"/>
              </a:ext>
            </a:extLst>
          </p:cNvPr>
          <p:cNvSpPr txBox="1"/>
          <p:nvPr/>
        </p:nvSpPr>
        <p:spPr>
          <a:xfrm>
            <a:off x="10783823" y="3127248"/>
            <a:ext cx="292608" cy="219456"/>
          </a:xfrm>
          <a:prstGeom prst="rect">
            <a:avLst/>
          </a:prstGeom>
          <a:noFill/>
        </p:spPr>
        <p:txBody>
          <a:bodyPr wrap="square" lIns="0" tIns="0" rIns="0" bIns="0" anchor="t">
            <a:spAutoFit/>
          </a:bodyPr>
          <a:lstStyle/>
          <a:p>
            <a:pPr algn="ctr">
              <a:spcAft>
                <a:spcPts val="0"/>
              </a:spcAft>
            </a:pPr>
            <a:r>
              <a:rPr sz="1350" b="0">
                <a:solidFill>
                  <a:srgbClr val="B4C0C4"/>
                </a:solidFill>
                <a:latin typeface="Consolas"/>
              </a:rPr>
              <a:t>G</a:t>
            </a:r>
          </a:p>
        </p:txBody>
      </p:sp>
      <p:sp>
        <p:nvSpPr>
          <p:cNvPr id="213" name="Rounded Rectangle 172">
            <a:extLst>
              <a:ext uri="{FF2B5EF4-FFF2-40B4-BE49-F238E27FC236}">
                <a16:creationId xmlns:a16="http://schemas.microsoft.com/office/drawing/2014/main" id="{1F3EF5AC-5744-AEFC-33DE-53692404EAFC}"/>
              </a:ext>
            </a:extLst>
          </p:cNvPr>
          <p:cNvSpPr/>
          <p:nvPr/>
        </p:nvSpPr>
        <p:spPr>
          <a:xfrm>
            <a:off x="11113007" y="3035808"/>
            <a:ext cx="292608" cy="365760"/>
          </a:xfrm>
          <a:prstGeom prst="roundRect">
            <a:avLst>
              <a:gd name="adj" fmla="val 14000"/>
            </a:avLst>
          </a:prstGeom>
          <a:solidFill>
            <a:srgbClr val="F7F9F9"/>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14" name="TextBox 213">
            <a:extLst>
              <a:ext uri="{FF2B5EF4-FFF2-40B4-BE49-F238E27FC236}">
                <a16:creationId xmlns:a16="http://schemas.microsoft.com/office/drawing/2014/main" id="{92C6B43C-1E5B-4D57-9F4E-7C6531A36D5A}"/>
              </a:ext>
            </a:extLst>
          </p:cNvPr>
          <p:cNvSpPr txBox="1"/>
          <p:nvPr/>
        </p:nvSpPr>
        <p:spPr>
          <a:xfrm>
            <a:off x="11113007" y="3127248"/>
            <a:ext cx="292608" cy="219456"/>
          </a:xfrm>
          <a:prstGeom prst="rect">
            <a:avLst/>
          </a:prstGeom>
          <a:noFill/>
        </p:spPr>
        <p:txBody>
          <a:bodyPr wrap="square" lIns="0" tIns="0" rIns="0" bIns="0" anchor="t">
            <a:spAutoFit/>
          </a:bodyPr>
          <a:lstStyle/>
          <a:p>
            <a:pPr algn="ctr">
              <a:spcAft>
                <a:spcPts val="0"/>
              </a:spcAft>
            </a:pPr>
            <a:r>
              <a:rPr sz="1350" b="0">
                <a:solidFill>
                  <a:srgbClr val="B4C0C4"/>
                </a:solidFill>
                <a:latin typeface="Consolas"/>
              </a:rPr>
              <a:t>T</a:t>
            </a:r>
          </a:p>
        </p:txBody>
      </p:sp>
      <p:cxnSp>
        <p:nvCxnSpPr>
          <p:cNvPr id="215" name="Connector 174">
            <a:extLst>
              <a:ext uri="{FF2B5EF4-FFF2-40B4-BE49-F238E27FC236}">
                <a16:creationId xmlns:a16="http://schemas.microsoft.com/office/drawing/2014/main" id="{3C465706-7F94-B973-DE81-6930668225DE}"/>
              </a:ext>
            </a:extLst>
          </p:cNvPr>
          <p:cNvCxnSpPr/>
          <p:nvPr/>
        </p:nvCxnSpPr>
        <p:spPr>
          <a:xfrm>
            <a:off x="10664951" y="2953512"/>
            <a:ext cx="0" cy="530352"/>
          </a:xfrm>
          <a:prstGeom prst="line">
            <a:avLst/>
          </a:prstGeom>
          <a:ln w="19050">
            <a:solidFill>
              <a:srgbClr val="B0554A"/>
            </a:solidFill>
            <a:prstDash val="sysDot"/>
          </a:ln>
        </p:spPr>
        <p:style>
          <a:lnRef idx="2">
            <a:schemeClr val="accent1"/>
          </a:lnRef>
          <a:fillRef idx="0">
            <a:schemeClr val="accent1"/>
          </a:fillRef>
          <a:effectRef idx="1">
            <a:schemeClr val="accent1"/>
          </a:effectRef>
          <a:fontRef idx="minor">
            <a:schemeClr val="tx1"/>
          </a:fontRef>
        </p:style>
      </p:cxnSp>
      <p:sp>
        <p:nvSpPr>
          <p:cNvPr id="216" name="TextBox 215">
            <a:extLst>
              <a:ext uri="{FF2B5EF4-FFF2-40B4-BE49-F238E27FC236}">
                <a16:creationId xmlns:a16="http://schemas.microsoft.com/office/drawing/2014/main" id="{AC4C933D-87D4-4410-F8E4-8486077300A9}"/>
              </a:ext>
            </a:extLst>
          </p:cNvPr>
          <p:cNvSpPr txBox="1"/>
          <p:nvPr/>
        </p:nvSpPr>
        <p:spPr>
          <a:xfrm>
            <a:off x="10253472" y="3438144"/>
            <a:ext cx="822960" cy="164592"/>
          </a:xfrm>
          <a:prstGeom prst="rect">
            <a:avLst/>
          </a:prstGeom>
          <a:noFill/>
        </p:spPr>
        <p:txBody>
          <a:bodyPr wrap="square" lIns="0" tIns="0" rIns="0" bIns="0" anchor="t">
            <a:spAutoFit/>
          </a:bodyPr>
          <a:lstStyle/>
          <a:p>
            <a:pPr algn="ctr">
              <a:spcAft>
                <a:spcPts val="0"/>
              </a:spcAft>
            </a:pPr>
            <a:r>
              <a:rPr sz="850" b="0">
                <a:solidFill>
                  <a:srgbClr val="B0554A"/>
                </a:solidFill>
                <a:latin typeface="Consolas"/>
              </a:rPr>
              <a:t>cut</a:t>
            </a:r>
          </a:p>
        </p:txBody>
      </p:sp>
      <p:sp>
        <p:nvSpPr>
          <p:cNvPr id="217" name="Freeform 176">
            <a:extLst>
              <a:ext uri="{FF2B5EF4-FFF2-40B4-BE49-F238E27FC236}">
                <a16:creationId xmlns:a16="http://schemas.microsoft.com/office/drawing/2014/main" id="{D9EC96C9-C4EF-7EFB-1B17-83D4378C1CC4}"/>
              </a:ext>
            </a:extLst>
          </p:cNvPr>
          <p:cNvSpPr/>
          <p:nvPr/>
        </p:nvSpPr>
        <p:spPr>
          <a:xfrm>
            <a:off x="8232647" y="3657600"/>
            <a:ext cx="3218688" cy="914400"/>
          </a:xfrm>
          <a:custGeom>
            <a:avLst/>
            <a:gdLst/>
            <a:ahLst/>
            <a:cxnLst/>
            <a:rect l="l" t="t" r="r" b="b"/>
            <a:pathLst>
              <a:path w="3218688" h="914400">
                <a:moveTo>
                  <a:pt x="0" y="0"/>
                </a:moveTo>
                <a:lnTo>
                  <a:pt x="3218688" y="0"/>
                </a:lnTo>
                <a:lnTo>
                  <a:pt x="2523744" y="914400"/>
                </a:lnTo>
                <a:lnTo>
                  <a:pt x="694944" y="914400"/>
                </a:lnTo>
                <a:close/>
              </a:path>
            </a:pathLst>
          </a:custGeom>
          <a:solidFill>
            <a:srgbClr val="E8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18" name="TextBox 217">
            <a:extLst>
              <a:ext uri="{FF2B5EF4-FFF2-40B4-BE49-F238E27FC236}">
                <a16:creationId xmlns:a16="http://schemas.microsoft.com/office/drawing/2014/main" id="{AA557F39-FEA9-8BAE-D9BE-6585215FD91A}"/>
              </a:ext>
            </a:extLst>
          </p:cNvPr>
          <p:cNvSpPr txBox="1"/>
          <p:nvPr/>
        </p:nvSpPr>
        <p:spPr>
          <a:xfrm>
            <a:off x="8357737" y="3767328"/>
            <a:ext cx="2968508" cy="123111"/>
          </a:xfrm>
          <a:prstGeom prst="rect">
            <a:avLst/>
          </a:prstGeom>
          <a:noFill/>
        </p:spPr>
        <p:txBody>
          <a:bodyPr wrap="square" lIns="0" tIns="0" rIns="0" bIns="0" anchor="t">
            <a:spAutoFit/>
          </a:bodyPr>
          <a:lstStyle/>
          <a:p>
            <a:pPr algn="ctr">
              <a:spcAft>
                <a:spcPts val="0"/>
              </a:spcAft>
            </a:pPr>
            <a:r>
              <a:rPr sz="800" b="0" spc="70">
                <a:solidFill>
                  <a:srgbClr val="5B6E76"/>
                </a:solidFill>
                <a:latin typeface="Arial" panose="020B0604020202020204" pitchFamily="34" charset="0"/>
                <a:cs typeface="Arial" panose="020B0604020202020204" pitchFamily="34" charset="0"/>
              </a:rPr>
              <a:t>THE TEXT IS COPIED</a:t>
            </a:r>
          </a:p>
        </p:txBody>
      </p:sp>
      <p:sp>
        <p:nvSpPr>
          <p:cNvPr id="219" name="TextBox 218">
            <a:extLst>
              <a:ext uri="{FF2B5EF4-FFF2-40B4-BE49-F238E27FC236}">
                <a16:creationId xmlns:a16="http://schemas.microsoft.com/office/drawing/2014/main" id="{6A801522-4F3E-081B-FF9B-2F746E95D358}"/>
              </a:ext>
            </a:extLst>
          </p:cNvPr>
          <p:cNvSpPr txBox="1"/>
          <p:nvPr/>
        </p:nvSpPr>
        <p:spPr>
          <a:xfrm>
            <a:off x="9567671" y="3899915"/>
            <a:ext cx="548640" cy="107722"/>
          </a:xfrm>
          <a:prstGeom prst="rect">
            <a:avLst/>
          </a:prstGeom>
          <a:noFill/>
        </p:spPr>
        <p:txBody>
          <a:bodyPr wrap="square" lIns="0" tIns="0" rIns="0" bIns="0" anchor="t">
            <a:spAutoFit/>
          </a:bodyPr>
          <a:lstStyle/>
          <a:p>
            <a:pPr algn="ctr">
              <a:spcAft>
                <a:spcPts val="0"/>
              </a:spcAft>
            </a:pPr>
            <a:r>
              <a:rPr sz="700" b="0">
                <a:solidFill>
                  <a:srgbClr val="8A9BA1"/>
                </a:solidFill>
                <a:latin typeface="Arial" panose="020B0604020202020204" pitchFamily="34" charset="0"/>
                <a:cs typeface="Arial" panose="020B0604020202020204" pitchFamily="34" charset="0"/>
              </a:rPr>
              <a:t>▾</a:t>
            </a:r>
          </a:p>
        </p:txBody>
      </p:sp>
      <p:sp>
        <p:nvSpPr>
          <p:cNvPr id="220" name="TextBox 219">
            <a:extLst>
              <a:ext uri="{FF2B5EF4-FFF2-40B4-BE49-F238E27FC236}">
                <a16:creationId xmlns:a16="http://schemas.microsoft.com/office/drawing/2014/main" id="{341D365B-2FD6-0EA9-AE20-4F1DA15AFDC6}"/>
              </a:ext>
            </a:extLst>
          </p:cNvPr>
          <p:cNvSpPr txBox="1"/>
          <p:nvPr/>
        </p:nvSpPr>
        <p:spPr>
          <a:xfrm>
            <a:off x="8555796" y="4027932"/>
            <a:ext cx="2572390" cy="123111"/>
          </a:xfrm>
          <a:prstGeom prst="rect">
            <a:avLst/>
          </a:prstGeom>
          <a:noFill/>
        </p:spPr>
        <p:txBody>
          <a:bodyPr wrap="square" lIns="0" tIns="0" rIns="0" bIns="0" anchor="t">
            <a:spAutoFit/>
          </a:bodyPr>
          <a:lstStyle/>
          <a:p>
            <a:pPr algn="ctr">
              <a:spcAft>
                <a:spcPts val="0"/>
              </a:spcAft>
            </a:pPr>
            <a:r>
              <a:rPr sz="800" b="0" spc="70">
                <a:solidFill>
                  <a:srgbClr val="5B6E76"/>
                </a:solidFill>
                <a:latin typeface="Arial" panose="020B0604020202020204" pitchFamily="34" charset="0"/>
                <a:cs typeface="Arial" panose="020B0604020202020204" pitchFamily="34" charset="0"/>
              </a:rPr>
              <a:t>PIECES CUT AND TAPED</a:t>
            </a:r>
          </a:p>
        </p:txBody>
      </p:sp>
      <p:sp>
        <p:nvSpPr>
          <p:cNvPr id="221" name="TextBox 220">
            <a:extLst>
              <a:ext uri="{FF2B5EF4-FFF2-40B4-BE49-F238E27FC236}">
                <a16:creationId xmlns:a16="http://schemas.microsoft.com/office/drawing/2014/main" id="{80959D12-54E3-13DE-81B9-67179294B704}"/>
              </a:ext>
            </a:extLst>
          </p:cNvPr>
          <p:cNvSpPr txBox="1"/>
          <p:nvPr/>
        </p:nvSpPr>
        <p:spPr>
          <a:xfrm>
            <a:off x="9567671" y="4160520"/>
            <a:ext cx="548640" cy="107722"/>
          </a:xfrm>
          <a:prstGeom prst="rect">
            <a:avLst/>
          </a:prstGeom>
          <a:noFill/>
        </p:spPr>
        <p:txBody>
          <a:bodyPr wrap="square" lIns="0" tIns="0" rIns="0" bIns="0" anchor="t">
            <a:spAutoFit/>
          </a:bodyPr>
          <a:lstStyle/>
          <a:p>
            <a:pPr algn="ctr">
              <a:spcAft>
                <a:spcPts val="0"/>
              </a:spcAft>
            </a:pPr>
            <a:r>
              <a:rPr sz="700" b="0">
                <a:solidFill>
                  <a:srgbClr val="8A9BA1"/>
                </a:solidFill>
                <a:latin typeface="Arial" panose="020B0604020202020204" pitchFamily="34" charset="0"/>
                <a:cs typeface="Arial" panose="020B0604020202020204" pitchFamily="34" charset="0"/>
              </a:rPr>
              <a:t>▾</a:t>
            </a:r>
          </a:p>
        </p:txBody>
      </p:sp>
      <p:sp>
        <p:nvSpPr>
          <p:cNvPr id="222" name="TextBox 221">
            <a:extLst>
              <a:ext uri="{FF2B5EF4-FFF2-40B4-BE49-F238E27FC236}">
                <a16:creationId xmlns:a16="http://schemas.microsoft.com/office/drawing/2014/main" id="{9AE5419A-96D3-7AB9-52CA-2A99D3E346D1}"/>
              </a:ext>
            </a:extLst>
          </p:cNvPr>
          <p:cNvSpPr txBox="1"/>
          <p:nvPr/>
        </p:nvSpPr>
        <p:spPr>
          <a:xfrm>
            <a:off x="8753856" y="4288536"/>
            <a:ext cx="2176271" cy="123111"/>
          </a:xfrm>
          <a:prstGeom prst="rect">
            <a:avLst/>
          </a:prstGeom>
          <a:noFill/>
        </p:spPr>
        <p:txBody>
          <a:bodyPr wrap="square" lIns="0" tIns="0" rIns="0" bIns="0" anchor="t">
            <a:spAutoFit/>
          </a:bodyPr>
          <a:lstStyle/>
          <a:p>
            <a:pPr algn="ctr">
              <a:spcAft>
                <a:spcPts val="0"/>
              </a:spcAft>
            </a:pPr>
            <a:r>
              <a:rPr sz="800" b="0" spc="70">
                <a:solidFill>
                  <a:srgbClr val="5B6E76"/>
                </a:solidFill>
                <a:latin typeface="Arial" panose="020B0604020202020204" pitchFamily="34" charset="0"/>
                <a:cs typeface="Arial" panose="020B0604020202020204" pitchFamily="34" charset="0"/>
              </a:rPr>
              <a:t>THE PROTEIN IS BUILT</a:t>
            </a:r>
          </a:p>
        </p:txBody>
      </p:sp>
      <p:cxnSp>
        <p:nvCxnSpPr>
          <p:cNvPr id="223" name="Connector 182">
            <a:extLst>
              <a:ext uri="{FF2B5EF4-FFF2-40B4-BE49-F238E27FC236}">
                <a16:creationId xmlns:a16="http://schemas.microsoft.com/office/drawing/2014/main" id="{7E9D74D8-8853-DB20-E3AF-7E827C6A7FD8}"/>
              </a:ext>
            </a:extLst>
          </p:cNvPr>
          <p:cNvCxnSpPr/>
          <p:nvPr/>
        </p:nvCxnSpPr>
        <p:spPr>
          <a:xfrm flipH="1" flipV="1">
            <a:off x="9419264" y="5005197"/>
            <a:ext cx="55139" cy="131445"/>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224" name="Connector 183">
            <a:extLst>
              <a:ext uri="{FF2B5EF4-FFF2-40B4-BE49-F238E27FC236}">
                <a16:creationId xmlns:a16="http://schemas.microsoft.com/office/drawing/2014/main" id="{743145B1-B04F-B212-53AC-83708D1F60A0}"/>
              </a:ext>
            </a:extLst>
          </p:cNvPr>
          <p:cNvCxnSpPr/>
          <p:nvPr/>
        </p:nvCxnSpPr>
        <p:spPr>
          <a:xfrm flipV="1">
            <a:off x="9419264" y="4868037"/>
            <a:ext cx="64328" cy="137160"/>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225" name="Connector 184">
            <a:extLst>
              <a:ext uri="{FF2B5EF4-FFF2-40B4-BE49-F238E27FC236}">
                <a16:creationId xmlns:a16="http://schemas.microsoft.com/office/drawing/2014/main" id="{96F988A9-1300-9EF3-D22E-D7E647CB6A7C}"/>
              </a:ext>
            </a:extLst>
          </p:cNvPr>
          <p:cNvCxnSpPr/>
          <p:nvPr/>
        </p:nvCxnSpPr>
        <p:spPr>
          <a:xfrm flipV="1">
            <a:off x="9483592" y="4776597"/>
            <a:ext cx="147036" cy="91440"/>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226" name="Connector 185">
            <a:extLst>
              <a:ext uri="{FF2B5EF4-FFF2-40B4-BE49-F238E27FC236}">
                <a16:creationId xmlns:a16="http://schemas.microsoft.com/office/drawing/2014/main" id="{FD533C85-44C7-4750-A309-E354DAC76F50}"/>
              </a:ext>
            </a:extLst>
          </p:cNvPr>
          <p:cNvCxnSpPr/>
          <p:nvPr/>
        </p:nvCxnSpPr>
        <p:spPr>
          <a:xfrm flipV="1">
            <a:off x="9630628" y="4742306"/>
            <a:ext cx="202174" cy="34291"/>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227" name="Connector 186">
            <a:extLst>
              <a:ext uri="{FF2B5EF4-FFF2-40B4-BE49-F238E27FC236}">
                <a16:creationId xmlns:a16="http://schemas.microsoft.com/office/drawing/2014/main" id="{E616B735-7BF3-6F10-D157-12F3FC0203A1}"/>
              </a:ext>
            </a:extLst>
          </p:cNvPr>
          <p:cNvCxnSpPr/>
          <p:nvPr/>
        </p:nvCxnSpPr>
        <p:spPr>
          <a:xfrm>
            <a:off x="9832802" y="4742306"/>
            <a:ext cx="192984" cy="34291"/>
          </a:xfrm>
          <a:prstGeom prst="line">
            <a:avLst/>
          </a:prstGeom>
          <a:ln w="19050">
            <a:solidFill>
              <a:srgbClr val="4E8C6E"/>
            </a:solidFill>
          </a:ln>
        </p:spPr>
        <p:style>
          <a:lnRef idx="2">
            <a:schemeClr val="accent1"/>
          </a:lnRef>
          <a:fillRef idx="0">
            <a:schemeClr val="accent1"/>
          </a:fillRef>
          <a:effectRef idx="1">
            <a:schemeClr val="accent1"/>
          </a:effectRef>
          <a:fontRef idx="minor">
            <a:schemeClr val="tx1"/>
          </a:fontRef>
        </p:style>
      </p:cxnSp>
      <p:cxnSp>
        <p:nvCxnSpPr>
          <p:cNvPr id="228" name="Connector 187">
            <a:extLst>
              <a:ext uri="{FF2B5EF4-FFF2-40B4-BE49-F238E27FC236}">
                <a16:creationId xmlns:a16="http://schemas.microsoft.com/office/drawing/2014/main" id="{FDEA64AB-2406-6B66-9A88-DDBA36805D8B}"/>
              </a:ext>
            </a:extLst>
          </p:cNvPr>
          <p:cNvCxnSpPr/>
          <p:nvPr/>
        </p:nvCxnSpPr>
        <p:spPr>
          <a:xfrm>
            <a:off x="10154442" y="4868037"/>
            <a:ext cx="27569" cy="131444"/>
          </a:xfrm>
          <a:prstGeom prst="line">
            <a:avLst/>
          </a:prstGeom>
          <a:ln w="12700">
            <a:solidFill>
              <a:srgbClr val="DCE4E6"/>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188">
            <a:extLst>
              <a:ext uri="{FF2B5EF4-FFF2-40B4-BE49-F238E27FC236}">
                <a16:creationId xmlns:a16="http://schemas.microsoft.com/office/drawing/2014/main" id="{F03C6054-E011-4CAB-5345-9F2D5D2638C3}"/>
              </a:ext>
            </a:extLst>
          </p:cNvPr>
          <p:cNvCxnSpPr/>
          <p:nvPr/>
        </p:nvCxnSpPr>
        <p:spPr>
          <a:xfrm flipH="1">
            <a:off x="10071735" y="4999481"/>
            <a:ext cx="110276" cy="97156"/>
          </a:xfrm>
          <a:prstGeom prst="line">
            <a:avLst/>
          </a:prstGeom>
          <a:ln w="12700">
            <a:solidFill>
              <a:srgbClr val="DCE4E6"/>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189">
            <a:extLst>
              <a:ext uri="{FF2B5EF4-FFF2-40B4-BE49-F238E27FC236}">
                <a16:creationId xmlns:a16="http://schemas.microsoft.com/office/drawing/2014/main" id="{A270ECD6-75DA-68E5-3F48-1CA682988456}"/>
              </a:ext>
            </a:extLst>
          </p:cNvPr>
          <p:cNvCxnSpPr/>
          <p:nvPr/>
        </p:nvCxnSpPr>
        <p:spPr>
          <a:xfrm flipH="1">
            <a:off x="9887940" y="5096637"/>
            <a:ext cx="183795" cy="34290"/>
          </a:xfrm>
          <a:prstGeom prst="line">
            <a:avLst/>
          </a:prstGeom>
          <a:ln w="12700">
            <a:solidFill>
              <a:srgbClr val="DCE4E6"/>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190">
            <a:extLst>
              <a:ext uri="{FF2B5EF4-FFF2-40B4-BE49-F238E27FC236}">
                <a16:creationId xmlns:a16="http://schemas.microsoft.com/office/drawing/2014/main" id="{B477BB4B-FD62-6F02-1CA0-69961FB469BA}"/>
              </a:ext>
            </a:extLst>
          </p:cNvPr>
          <p:cNvCxnSpPr/>
          <p:nvPr/>
        </p:nvCxnSpPr>
        <p:spPr>
          <a:xfrm flipH="1" flipV="1">
            <a:off x="9731715" y="5073777"/>
            <a:ext cx="156225" cy="57150"/>
          </a:xfrm>
          <a:prstGeom prst="line">
            <a:avLst/>
          </a:prstGeom>
          <a:ln w="12700">
            <a:solidFill>
              <a:srgbClr val="DCE4E6"/>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191">
            <a:extLst>
              <a:ext uri="{FF2B5EF4-FFF2-40B4-BE49-F238E27FC236}">
                <a16:creationId xmlns:a16="http://schemas.microsoft.com/office/drawing/2014/main" id="{5B00EF76-F4D7-45EB-52CF-ABAD3F3A214D}"/>
              </a:ext>
            </a:extLst>
          </p:cNvPr>
          <p:cNvCxnSpPr/>
          <p:nvPr/>
        </p:nvCxnSpPr>
        <p:spPr>
          <a:xfrm flipH="1" flipV="1">
            <a:off x="9722525" y="4953762"/>
            <a:ext cx="9190" cy="120015"/>
          </a:xfrm>
          <a:prstGeom prst="line">
            <a:avLst/>
          </a:prstGeom>
          <a:ln w="12700">
            <a:solidFill>
              <a:srgbClr val="DCE4E6"/>
            </a:solidFill>
            <a:prstDash val="sysDot"/>
          </a:ln>
        </p:spPr>
        <p:style>
          <a:lnRef idx="2">
            <a:schemeClr val="accent1"/>
          </a:lnRef>
          <a:fillRef idx="0">
            <a:schemeClr val="accent1"/>
          </a:fillRef>
          <a:effectRef idx="1">
            <a:schemeClr val="accent1"/>
          </a:effectRef>
          <a:fontRef idx="minor">
            <a:schemeClr val="tx1"/>
          </a:fontRef>
        </p:style>
      </p:cxnSp>
      <p:sp>
        <p:nvSpPr>
          <p:cNvPr id="233" name="Oval 232">
            <a:extLst>
              <a:ext uri="{FF2B5EF4-FFF2-40B4-BE49-F238E27FC236}">
                <a16:creationId xmlns:a16="http://schemas.microsoft.com/office/drawing/2014/main" id="{B0A0165F-31F6-2DF6-65DE-62448609CB75}"/>
              </a:ext>
            </a:extLst>
          </p:cNvPr>
          <p:cNvSpPr/>
          <p:nvPr/>
        </p:nvSpPr>
        <p:spPr>
          <a:xfrm>
            <a:off x="9403537" y="5065776"/>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234" name="Oval 233">
            <a:extLst>
              <a:ext uri="{FF2B5EF4-FFF2-40B4-BE49-F238E27FC236}">
                <a16:creationId xmlns:a16="http://schemas.microsoft.com/office/drawing/2014/main" id="{8D41AC41-712E-4F56-BBF4-2FE54A8CDA42}"/>
              </a:ext>
            </a:extLst>
          </p:cNvPr>
          <p:cNvSpPr/>
          <p:nvPr/>
        </p:nvSpPr>
        <p:spPr>
          <a:xfrm>
            <a:off x="9348398" y="493433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235" name="Oval 234">
            <a:extLst>
              <a:ext uri="{FF2B5EF4-FFF2-40B4-BE49-F238E27FC236}">
                <a16:creationId xmlns:a16="http://schemas.microsoft.com/office/drawing/2014/main" id="{B8748A22-A184-EEC5-D2BA-B02549AA5656}"/>
              </a:ext>
            </a:extLst>
          </p:cNvPr>
          <p:cNvSpPr/>
          <p:nvPr/>
        </p:nvSpPr>
        <p:spPr>
          <a:xfrm>
            <a:off x="9412726" y="479717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236" name="Oval 235">
            <a:extLst>
              <a:ext uri="{FF2B5EF4-FFF2-40B4-BE49-F238E27FC236}">
                <a16:creationId xmlns:a16="http://schemas.microsoft.com/office/drawing/2014/main" id="{1436C4F8-1F29-CD7A-0961-B9ACE2B307D8}"/>
              </a:ext>
            </a:extLst>
          </p:cNvPr>
          <p:cNvSpPr/>
          <p:nvPr/>
        </p:nvSpPr>
        <p:spPr>
          <a:xfrm>
            <a:off x="9559762" y="470573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237" name="Oval 236">
            <a:extLst>
              <a:ext uri="{FF2B5EF4-FFF2-40B4-BE49-F238E27FC236}">
                <a16:creationId xmlns:a16="http://schemas.microsoft.com/office/drawing/2014/main" id="{624DB182-53D3-8ED7-57EA-FD936197CAB9}"/>
              </a:ext>
            </a:extLst>
          </p:cNvPr>
          <p:cNvSpPr/>
          <p:nvPr/>
        </p:nvSpPr>
        <p:spPr>
          <a:xfrm>
            <a:off x="9761936" y="467144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238" name="Oval 237">
            <a:extLst>
              <a:ext uri="{FF2B5EF4-FFF2-40B4-BE49-F238E27FC236}">
                <a16:creationId xmlns:a16="http://schemas.microsoft.com/office/drawing/2014/main" id="{FC9767A6-F302-2222-41AC-CF19C75BE337}"/>
              </a:ext>
            </a:extLst>
          </p:cNvPr>
          <p:cNvSpPr/>
          <p:nvPr/>
        </p:nvSpPr>
        <p:spPr>
          <a:xfrm>
            <a:off x="9954920" y="4705731"/>
            <a:ext cx="141732" cy="141732"/>
          </a:xfrm>
          <a:prstGeom prst="ellipse">
            <a:avLst/>
          </a:prstGeom>
          <a:solidFill>
            <a:srgbClr val="8FB49E"/>
          </a:solidFill>
          <a:ln w="19050">
            <a:solidFill>
              <a:srgbClr val="4E8C6E"/>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239" name="Oval 238">
            <a:extLst>
              <a:ext uri="{FF2B5EF4-FFF2-40B4-BE49-F238E27FC236}">
                <a16:creationId xmlns:a16="http://schemas.microsoft.com/office/drawing/2014/main" id="{6AC74696-73BD-C5AB-53B6-D4317A85210C}"/>
              </a:ext>
            </a:extLst>
          </p:cNvPr>
          <p:cNvSpPr/>
          <p:nvPr/>
        </p:nvSpPr>
        <p:spPr>
          <a:xfrm>
            <a:off x="10083576" y="4797171"/>
            <a:ext cx="141732" cy="141732"/>
          </a:xfrm>
          <a:prstGeom prst="ellipse">
            <a:avLst/>
          </a:prstGeom>
          <a:solidFill>
            <a:srgbClr val="FFFFFF"/>
          </a:solidFill>
          <a:ln w="9525">
            <a:solidFill>
              <a:srgbClr val="DCE4E6"/>
            </a:solidFill>
            <a:prstDash val="sysDot"/>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240" name="Oval 239">
            <a:extLst>
              <a:ext uri="{FF2B5EF4-FFF2-40B4-BE49-F238E27FC236}">
                <a16:creationId xmlns:a16="http://schemas.microsoft.com/office/drawing/2014/main" id="{1F916B18-64E5-A28B-041C-3FA5ED35B6CC}"/>
              </a:ext>
            </a:extLst>
          </p:cNvPr>
          <p:cNvSpPr/>
          <p:nvPr/>
        </p:nvSpPr>
        <p:spPr>
          <a:xfrm>
            <a:off x="10111145" y="4928616"/>
            <a:ext cx="141732" cy="141732"/>
          </a:xfrm>
          <a:prstGeom prst="ellipse">
            <a:avLst/>
          </a:prstGeom>
          <a:solidFill>
            <a:srgbClr val="FFFFFF"/>
          </a:solidFill>
          <a:ln w="9525">
            <a:solidFill>
              <a:srgbClr val="DCE4E6"/>
            </a:solidFill>
            <a:prstDash val="sysDot"/>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241" name="Oval 240">
            <a:extLst>
              <a:ext uri="{FF2B5EF4-FFF2-40B4-BE49-F238E27FC236}">
                <a16:creationId xmlns:a16="http://schemas.microsoft.com/office/drawing/2014/main" id="{D994ABEB-06AE-4AF7-FE10-255E926F6C5E}"/>
              </a:ext>
            </a:extLst>
          </p:cNvPr>
          <p:cNvSpPr/>
          <p:nvPr/>
        </p:nvSpPr>
        <p:spPr>
          <a:xfrm>
            <a:off x="10000868" y="5025771"/>
            <a:ext cx="141732" cy="141732"/>
          </a:xfrm>
          <a:prstGeom prst="ellipse">
            <a:avLst/>
          </a:prstGeom>
          <a:solidFill>
            <a:srgbClr val="FFFFFF"/>
          </a:solidFill>
          <a:ln w="9525">
            <a:solidFill>
              <a:srgbClr val="DCE4E6"/>
            </a:solidFill>
            <a:prstDash val="sysDot"/>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242" name="Oval 241">
            <a:extLst>
              <a:ext uri="{FF2B5EF4-FFF2-40B4-BE49-F238E27FC236}">
                <a16:creationId xmlns:a16="http://schemas.microsoft.com/office/drawing/2014/main" id="{1A8709AC-2003-BA62-28E0-7CEE108E97EF}"/>
              </a:ext>
            </a:extLst>
          </p:cNvPr>
          <p:cNvSpPr/>
          <p:nvPr/>
        </p:nvSpPr>
        <p:spPr>
          <a:xfrm>
            <a:off x="9817074" y="5060061"/>
            <a:ext cx="141732" cy="141732"/>
          </a:xfrm>
          <a:prstGeom prst="ellipse">
            <a:avLst/>
          </a:prstGeom>
          <a:solidFill>
            <a:srgbClr val="FFFFFF"/>
          </a:solidFill>
          <a:ln w="9525">
            <a:solidFill>
              <a:srgbClr val="DCE4E6"/>
            </a:solidFill>
            <a:prstDash val="sysDot"/>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243" name="Oval 242">
            <a:extLst>
              <a:ext uri="{FF2B5EF4-FFF2-40B4-BE49-F238E27FC236}">
                <a16:creationId xmlns:a16="http://schemas.microsoft.com/office/drawing/2014/main" id="{2E90E40D-2254-94AE-7690-4A787CA2FD01}"/>
              </a:ext>
            </a:extLst>
          </p:cNvPr>
          <p:cNvSpPr/>
          <p:nvPr/>
        </p:nvSpPr>
        <p:spPr>
          <a:xfrm>
            <a:off x="9660849" y="5002911"/>
            <a:ext cx="141732" cy="141732"/>
          </a:xfrm>
          <a:prstGeom prst="ellipse">
            <a:avLst/>
          </a:prstGeom>
          <a:solidFill>
            <a:srgbClr val="FFFFFF"/>
          </a:solidFill>
          <a:ln w="9525">
            <a:solidFill>
              <a:srgbClr val="DCE4E6"/>
            </a:solidFill>
            <a:prstDash val="sysDot"/>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244" name="Oval 243">
            <a:extLst>
              <a:ext uri="{FF2B5EF4-FFF2-40B4-BE49-F238E27FC236}">
                <a16:creationId xmlns:a16="http://schemas.microsoft.com/office/drawing/2014/main" id="{D77C9317-EF9C-7FB3-3249-A900FC9B2675}"/>
              </a:ext>
            </a:extLst>
          </p:cNvPr>
          <p:cNvSpPr/>
          <p:nvPr/>
        </p:nvSpPr>
        <p:spPr>
          <a:xfrm>
            <a:off x="9651659" y="4882896"/>
            <a:ext cx="141732" cy="141732"/>
          </a:xfrm>
          <a:prstGeom prst="ellipse">
            <a:avLst/>
          </a:prstGeom>
          <a:solidFill>
            <a:srgbClr val="FFFFFF"/>
          </a:solidFill>
          <a:ln w="9525">
            <a:solidFill>
              <a:srgbClr val="DCE4E6"/>
            </a:solidFill>
            <a:prstDash val="sysDot"/>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245" name="Octagon 244">
            <a:extLst>
              <a:ext uri="{FF2B5EF4-FFF2-40B4-BE49-F238E27FC236}">
                <a16:creationId xmlns:a16="http://schemas.microsoft.com/office/drawing/2014/main" id="{A2F17304-CA60-AFB5-52F5-423E7E10F918}"/>
              </a:ext>
            </a:extLst>
          </p:cNvPr>
          <p:cNvSpPr/>
          <p:nvPr/>
        </p:nvSpPr>
        <p:spPr>
          <a:xfrm>
            <a:off x="10008618" y="4740821"/>
            <a:ext cx="162991" cy="162991"/>
          </a:xfrm>
          <a:prstGeom prst="octagon">
            <a:avLst/>
          </a:prstGeom>
          <a:solidFill>
            <a:srgbClr val="B0554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latin typeface="Arial" panose="020B0604020202020204" pitchFamily="34" charset="0"/>
              <a:cs typeface="Arial" panose="020B0604020202020204" pitchFamily="34" charset="0"/>
            </a:endParaRPr>
          </a:p>
        </p:txBody>
      </p:sp>
      <p:sp>
        <p:nvSpPr>
          <p:cNvPr id="246" name="TextBox 245">
            <a:extLst>
              <a:ext uri="{FF2B5EF4-FFF2-40B4-BE49-F238E27FC236}">
                <a16:creationId xmlns:a16="http://schemas.microsoft.com/office/drawing/2014/main" id="{03575E31-4F0B-DCEC-5247-0658E09F2013}"/>
              </a:ext>
            </a:extLst>
          </p:cNvPr>
          <p:cNvSpPr txBox="1"/>
          <p:nvPr/>
        </p:nvSpPr>
        <p:spPr>
          <a:xfrm>
            <a:off x="8244839" y="5358383"/>
            <a:ext cx="3194304" cy="475488"/>
          </a:xfrm>
          <a:prstGeom prst="rect">
            <a:avLst/>
          </a:prstGeom>
          <a:noFill/>
        </p:spPr>
        <p:txBody>
          <a:bodyPr wrap="square" lIns="0" tIns="0" rIns="0" bIns="0" anchor="t">
            <a:spAutoFit/>
          </a:bodyPr>
          <a:lstStyle/>
          <a:p>
            <a:pPr algn="ctr">
              <a:lnSpc>
                <a:spcPct val="114000"/>
              </a:lnSpc>
              <a:spcAft>
                <a:spcPts val="0"/>
              </a:spcAft>
            </a:pPr>
            <a:r>
              <a:rPr sz="1500" b="1">
                <a:solidFill>
                  <a:srgbClr val="1A2A31"/>
                </a:solidFill>
                <a:latin typeface="Segoe UI"/>
              </a:rPr>
              <a:t>The protein</a:t>
            </a:r>
          </a:p>
          <a:p>
            <a:pPr algn="ctr">
              <a:lnSpc>
                <a:spcPct val="114000"/>
              </a:lnSpc>
              <a:spcAft>
                <a:spcPts val="0"/>
              </a:spcAft>
            </a:pPr>
            <a:r>
              <a:rPr sz="1500" b="1">
                <a:solidFill>
                  <a:srgbClr val="1A2A31"/>
                </a:solidFill>
                <a:latin typeface="Segoe UI"/>
              </a:rPr>
              <a:t>is never finished</a:t>
            </a:r>
          </a:p>
        </p:txBody>
      </p:sp>
      <p:cxnSp>
        <p:nvCxnSpPr>
          <p:cNvPr id="247" name="Connector 206">
            <a:extLst>
              <a:ext uri="{FF2B5EF4-FFF2-40B4-BE49-F238E27FC236}">
                <a16:creationId xmlns:a16="http://schemas.microsoft.com/office/drawing/2014/main" id="{5F025CDE-B386-B035-9194-3B81D5C88247}"/>
              </a:ext>
            </a:extLst>
          </p:cNvPr>
          <p:cNvCxnSpPr/>
          <p:nvPr/>
        </p:nvCxnSpPr>
        <p:spPr>
          <a:xfrm>
            <a:off x="8546592" y="5870448"/>
            <a:ext cx="2590799" cy="0"/>
          </a:xfrm>
          <a:prstGeom prst="line">
            <a:avLst/>
          </a:prstGeom>
          <a:ln w="9525">
            <a:solidFill>
              <a:srgbClr val="DCE4E6"/>
            </a:solidFill>
          </a:ln>
        </p:spPr>
        <p:style>
          <a:lnRef idx="2">
            <a:schemeClr val="accent1"/>
          </a:lnRef>
          <a:fillRef idx="0">
            <a:schemeClr val="accent1"/>
          </a:fillRef>
          <a:effectRef idx="1">
            <a:schemeClr val="accent1"/>
          </a:effectRef>
          <a:fontRef idx="minor">
            <a:schemeClr val="tx1"/>
          </a:fontRef>
        </p:style>
      </p:cxnSp>
      <p:sp>
        <p:nvSpPr>
          <p:cNvPr id="248" name="TextBox 247">
            <a:extLst>
              <a:ext uri="{FF2B5EF4-FFF2-40B4-BE49-F238E27FC236}">
                <a16:creationId xmlns:a16="http://schemas.microsoft.com/office/drawing/2014/main" id="{32ADBDCF-6FEE-F131-D208-5A48BD461284}"/>
              </a:ext>
            </a:extLst>
          </p:cNvPr>
          <p:cNvSpPr txBox="1"/>
          <p:nvPr/>
        </p:nvSpPr>
        <p:spPr>
          <a:xfrm>
            <a:off x="8244839" y="5925312"/>
            <a:ext cx="3194304" cy="182880"/>
          </a:xfrm>
          <a:prstGeom prst="rect">
            <a:avLst/>
          </a:prstGeom>
          <a:noFill/>
        </p:spPr>
        <p:txBody>
          <a:bodyPr wrap="square" lIns="0" tIns="0" rIns="0" bIns="0" anchor="t">
            <a:spAutoFit/>
          </a:bodyPr>
          <a:lstStyle/>
          <a:p>
            <a:pPr algn="ctr">
              <a:spcAft>
                <a:spcPts val="0"/>
              </a:spcAft>
            </a:pPr>
            <a:r>
              <a:rPr sz="900" b="0" dirty="0">
                <a:solidFill>
                  <a:srgbClr val="8A9BA1"/>
                </a:solidFill>
                <a:latin typeface="Consolas"/>
              </a:rPr>
              <a:t>BRCA1  c.1687C&gt;T</a:t>
            </a:r>
          </a:p>
        </p:txBody>
      </p:sp>
      <p:sp>
        <p:nvSpPr>
          <p:cNvPr id="249" name="TextBox 248">
            <a:extLst>
              <a:ext uri="{FF2B5EF4-FFF2-40B4-BE49-F238E27FC236}">
                <a16:creationId xmlns:a16="http://schemas.microsoft.com/office/drawing/2014/main" id="{276CE0EE-A753-2AED-99C4-D8307767ABBD}"/>
              </a:ext>
            </a:extLst>
          </p:cNvPr>
          <p:cNvSpPr txBox="1"/>
          <p:nvPr/>
        </p:nvSpPr>
        <p:spPr>
          <a:xfrm>
            <a:off x="566928" y="6272784"/>
            <a:ext cx="11073384" cy="200055"/>
          </a:xfrm>
          <a:prstGeom prst="rect">
            <a:avLst/>
          </a:prstGeom>
          <a:noFill/>
        </p:spPr>
        <p:txBody>
          <a:bodyPr wrap="square" lIns="0" tIns="0" rIns="0" bIns="0" anchor="t">
            <a:spAutoFit/>
          </a:bodyPr>
          <a:lstStyle/>
          <a:p>
            <a:pPr algn="ctr">
              <a:spcAft>
                <a:spcPts val="0"/>
              </a:spcAft>
            </a:pPr>
            <a:r>
              <a:rPr sz="1300" b="1" dirty="0">
                <a:solidFill>
                  <a:srgbClr val="1A2A31"/>
                </a:solidFill>
                <a:latin typeface="Arial" panose="020B0604020202020204" pitchFamily="34" charset="0"/>
                <a:cs typeface="Arial" panose="020B0604020202020204" pitchFamily="34" charset="0"/>
              </a:rPr>
              <a:t>Finding the change is easy. Deciding what it means is not</a:t>
            </a:r>
            <a:r>
              <a:rPr sz="1300" b="1" dirty="0">
                <a:solidFill>
                  <a:srgbClr val="1A2A31"/>
                </a:solidFill>
                <a:latin typeface="Segoe UI"/>
              </a:rPr>
              <a:t>.</a:t>
            </a:r>
          </a:p>
        </p:txBody>
      </p:sp>
      <p:sp>
        <p:nvSpPr>
          <p:cNvPr id="251" name="Rounded Rectangle 38">
            <a:extLst>
              <a:ext uri="{FF2B5EF4-FFF2-40B4-BE49-F238E27FC236}">
                <a16:creationId xmlns:a16="http://schemas.microsoft.com/office/drawing/2014/main" id="{3F15C213-D2A2-85FF-6439-AC87C2BC94A2}"/>
              </a:ext>
            </a:extLst>
          </p:cNvPr>
          <p:cNvSpPr/>
          <p:nvPr/>
        </p:nvSpPr>
        <p:spPr>
          <a:xfrm>
            <a:off x="2089022" y="1737360"/>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52" name="TextBox 251">
            <a:extLst>
              <a:ext uri="{FF2B5EF4-FFF2-40B4-BE49-F238E27FC236}">
                <a16:creationId xmlns:a16="http://schemas.microsoft.com/office/drawing/2014/main" id="{0B49DF30-D2AE-A64B-1796-A70B9D060CAD}"/>
              </a:ext>
            </a:extLst>
          </p:cNvPr>
          <p:cNvSpPr txBox="1"/>
          <p:nvPr/>
        </p:nvSpPr>
        <p:spPr>
          <a:xfrm>
            <a:off x="2089022" y="1828800"/>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A</a:t>
            </a:r>
          </a:p>
        </p:txBody>
      </p:sp>
      <p:sp>
        <p:nvSpPr>
          <p:cNvPr id="256" name="Rounded Rectangle 43">
            <a:extLst>
              <a:ext uri="{FF2B5EF4-FFF2-40B4-BE49-F238E27FC236}">
                <a16:creationId xmlns:a16="http://schemas.microsoft.com/office/drawing/2014/main" id="{B6E7313C-56CA-CAEA-5054-D28A961EBBFE}"/>
              </a:ext>
            </a:extLst>
          </p:cNvPr>
          <p:cNvSpPr/>
          <p:nvPr/>
        </p:nvSpPr>
        <p:spPr>
          <a:xfrm>
            <a:off x="2747390" y="1737360"/>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57" name="TextBox 256">
            <a:extLst>
              <a:ext uri="{FF2B5EF4-FFF2-40B4-BE49-F238E27FC236}">
                <a16:creationId xmlns:a16="http://schemas.microsoft.com/office/drawing/2014/main" id="{A831205E-6E02-23E3-C1BD-050A0ECB41BA}"/>
              </a:ext>
            </a:extLst>
          </p:cNvPr>
          <p:cNvSpPr txBox="1"/>
          <p:nvPr/>
        </p:nvSpPr>
        <p:spPr>
          <a:xfrm>
            <a:off x="2747390" y="1828800"/>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C</a:t>
            </a:r>
          </a:p>
        </p:txBody>
      </p:sp>
      <p:sp>
        <p:nvSpPr>
          <p:cNvPr id="258" name="Rounded Rectangle 45">
            <a:extLst>
              <a:ext uri="{FF2B5EF4-FFF2-40B4-BE49-F238E27FC236}">
                <a16:creationId xmlns:a16="http://schemas.microsoft.com/office/drawing/2014/main" id="{674BFD73-13E5-A8AA-EE13-A5FEF9B9E2D4}"/>
              </a:ext>
            </a:extLst>
          </p:cNvPr>
          <p:cNvSpPr/>
          <p:nvPr/>
        </p:nvSpPr>
        <p:spPr>
          <a:xfrm>
            <a:off x="3076575" y="1737360"/>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59" name="TextBox 258">
            <a:extLst>
              <a:ext uri="{FF2B5EF4-FFF2-40B4-BE49-F238E27FC236}">
                <a16:creationId xmlns:a16="http://schemas.microsoft.com/office/drawing/2014/main" id="{9BFB4DE0-6883-55C8-B667-BD8052516B81}"/>
              </a:ext>
            </a:extLst>
          </p:cNvPr>
          <p:cNvSpPr txBox="1"/>
          <p:nvPr/>
        </p:nvSpPr>
        <p:spPr>
          <a:xfrm>
            <a:off x="3076575" y="1828800"/>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G</a:t>
            </a:r>
          </a:p>
        </p:txBody>
      </p:sp>
      <p:sp>
        <p:nvSpPr>
          <p:cNvPr id="260" name="Rounded Rectangle 47">
            <a:extLst>
              <a:ext uri="{FF2B5EF4-FFF2-40B4-BE49-F238E27FC236}">
                <a16:creationId xmlns:a16="http://schemas.microsoft.com/office/drawing/2014/main" id="{862E055B-51DE-F141-D090-0FF8AEB55C68}"/>
              </a:ext>
            </a:extLst>
          </p:cNvPr>
          <p:cNvSpPr/>
          <p:nvPr/>
        </p:nvSpPr>
        <p:spPr>
          <a:xfrm>
            <a:off x="3405759" y="1737360"/>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61" name="TextBox 260">
            <a:extLst>
              <a:ext uri="{FF2B5EF4-FFF2-40B4-BE49-F238E27FC236}">
                <a16:creationId xmlns:a16="http://schemas.microsoft.com/office/drawing/2014/main" id="{B876644B-DC1F-0149-D5B5-D76D11B9D1BC}"/>
              </a:ext>
            </a:extLst>
          </p:cNvPr>
          <p:cNvSpPr txBox="1"/>
          <p:nvPr/>
        </p:nvSpPr>
        <p:spPr>
          <a:xfrm>
            <a:off x="3405759" y="1828800"/>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C</a:t>
            </a:r>
          </a:p>
        </p:txBody>
      </p:sp>
      <p:sp>
        <p:nvSpPr>
          <p:cNvPr id="262" name="Rounded Rectangle 49">
            <a:extLst>
              <a:ext uri="{FF2B5EF4-FFF2-40B4-BE49-F238E27FC236}">
                <a16:creationId xmlns:a16="http://schemas.microsoft.com/office/drawing/2014/main" id="{FCC91EC2-374A-5F31-7113-BC0F02AE3636}"/>
              </a:ext>
            </a:extLst>
          </p:cNvPr>
          <p:cNvSpPr/>
          <p:nvPr/>
        </p:nvSpPr>
        <p:spPr>
          <a:xfrm>
            <a:off x="3734942" y="1737360"/>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63" name="TextBox 262">
            <a:extLst>
              <a:ext uri="{FF2B5EF4-FFF2-40B4-BE49-F238E27FC236}">
                <a16:creationId xmlns:a16="http://schemas.microsoft.com/office/drawing/2014/main" id="{5DA27EE1-013B-16B7-920B-8852E12AD90E}"/>
              </a:ext>
            </a:extLst>
          </p:cNvPr>
          <p:cNvSpPr txBox="1"/>
          <p:nvPr/>
        </p:nvSpPr>
        <p:spPr>
          <a:xfrm>
            <a:off x="3734942" y="1828800"/>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A</a:t>
            </a:r>
          </a:p>
        </p:txBody>
      </p:sp>
      <p:sp>
        <p:nvSpPr>
          <p:cNvPr id="264" name="Rounded Rectangle 51">
            <a:extLst>
              <a:ext uri="{FF2B5EF4-FFF2-40B4-BE49-F238E27FC236}">
                <a16:creationId xmlns:a16="http://schemas.microsoft.com/office/drawing/2014/main" id="{047B41B6-091C-6C21-C734-377CBC79AFF9}"/>
              </a:ext>
            </a:extLst>
          </p:cNvPr>
          <p:cNvSpPr/>
          <p:nvPr/>
        </p:nvSpPr>
        <p:spPr>
          <a:xfrm>
            <a:off x="4064127" y="1737360"/>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65" name="TextBox 264">
            <a:extLst>
              <a:ext uri="{FF2B5EF4-FFF2-40B4-BE49-F238E27FC236}">
                <a16:creationId xmlns:a16="http://schemas.microsoft.com/office/drawing/2014/main" id="{24E286A4-EDD6-0FE6-8098-6A1F5F585698}"/>
              </a:ext>
            </a:extLst>
          </p:cNvPr>
          <p:cNvSpPr txBox="1"/>
          <p:nvPr/>
        </p:nvSpPr>
        <p:spPr>
          <a:xfrm>
            <a:off x="4064127" y="1828800"/>
            <a:ext cx="292608" cy="219456"/>
          </a:xfrm>
          <a:prstGeom prst="rect">
            <a:avLst/>
          </a:prstGeom>
          <a:noFill/>
        </p:spPr>
        <p:txBody>
          <a:bodyPr wrap="square" lIns="0" tIns="0" rIns="0" bIns="0" anchor="t">
            <a:spAutoFit/>
          </a:bodyPr>
          <a:lstStyle/>
          <a:p>
            <a:pPr algn="ctr">
              <a:spcAft>
                <a:spcPts val="0"/>
              </a:spcAft>
            </a:pPr>
            <a:r>
              <a:rPr sz="1350" b="0">
                <a:solidFill>
                  <a:srgbClr val="5B6E76"/>
                </a:solidFill>
                <a:latin typeface="Consolas"/>
              </a:rPr>
              <a:t>G</a:t>
            </a:r>
          </a:p>
        </p:txBody>
      </p:sp>
      <p:sp>
        <p:nvSpPr>
          <p:cNvPr id="266" name="Rounded Rectangle 53">
            <a:extLst>
              <a:ext uri="{FF2B5EF4-FFF2-40B4-BE49-F238E27FC236}">
                <a16:creationId xmlns:a16="http://schemas.microsoft.com/office/drawing/2014/main" id="{65D2B64D-E5C0-937C-D46D-528B83A48E0C}"/>
              </a:ext>
            </a:extLst>
          </p:cNvPr>
          <p:cNvSpPr/>
          <p:nvPr/>
        </p:nvSpPr>
        <p:spPr>
          <a:xfrm>
            <a:off x="4594479" y="1737360"/>
            <a:ext cx="292608" cy="365760"/>
          </a:xfrm>
          <a:prstGeom prst="roundRect">
            <a:avLst>
              <a:gd name="adj" fmla="val 14000"/>
            </a:avLst>
          </a:prstGeom>
          <a:solidFill>
            <a:srgbClr val="F7F9F9"/>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67" name="TextBox 266">
            <a:extLst>
              <a:ext uri="{FF2B5EF4-FFF2-40B4-BE49-F238E27FC236}">
                <a16:creationId xmlns:a16="http://schemas.microsoft.com/office/drawing/2014/main" id="{6226B692-56F6-AEED-CAD4-571FE306681A}"/>
              </a:ext>
            </a:extLst>
          </p:cNvPr>
          <p:cNvSpPr txBox="1"/>
          <p:nvPr/>
        </p:nvSpPr>
        <p:spPr>
          <a:xfrm>
            <a:off x="4594479" y="1828800"/>
            <a:ext cx="292608" cy="219456"/>
          </a:xfrm>
          <a:prstGeom prst="rect">
            <a:avLst/>
          </a:prstGeom>
          <a:noFill/>
        </p:spPr>
        <p:txBody>
          <a:bodyPr wrap="square" lIns="0" tIns="0" rIns="0" bIns="0" anchor="t">
            <a:spAutoFit/>
          </a:bodyPr>
          <a:lstStyle/>
          <a:p>
            <a:pPr algn="ctr">
              <a:spcAft>
                <a:spcPts val="0"/>
              </a:spcAft>
            </a:pPr>
            <a:r>
              <a:rPr sz="1350" b="0">
                <a:solidFill>
                  <a:srgbClr val="B4C0C4"/>
                </a:solidFill>
                <a:latin typeface="Consolas"/>
              </a:rPr>
              <a:t>G</a:t>
            </a:r>
          </a:p>
        </p:txBody>
      </p:sp>
      <p:sp>
        <p:nvSpPr>
          <p:cNvPr id="268" name="Rounded Rectangle 55">
            <a:extLst>
              <a:ext uri="{FF2B5EF4-FFF2-40B4-BE49-F238E27FC236}">
                <a16:creationId xmlns:a16="http://schemas.microsoft.com/office/drawing/2014/main" id="{0A872AFC-82C5-E29F-7B57-D826EAB1E060}"/>
              </a:ext>
            </a:extLst>
          </p:cNvPr>
          <p:cNvSpPr/>
          <p:nvPr/>
        </p:nvSpPr>
        <p:spPr>
          <a:xfrm>
            <a:off x="4923663" y="1737360"/>
            <a:ext cx="292608" cy="365760"/>
          </a:xfrm>
          <a:prstGeom prst="roundRect">
            <a:avLst>
              <a:gd name="adj" fmla="val 14000"/>
            </a:avLst>
          </a:prstGeom>
          <a:solidFill>
            <a:srgbClr val="F7F9F9"/>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69" name="TextBox 268">
            <a:extLst>
              <a:ext uri="{FF2B5EF4-FFF2-40B4-BE49-F238E27FC236}">
                <a16:creationId xmlns:a16="http://schemas.microsoft.com/office/drawing/2014/main" id="{C092B048-CA12-3B8E-E4ED-1C40C4ED7B6E}"/>
              </a:ext>
            </a:extLst>
          </p:cNvPr>
          <p:cNvSpPr txBox="1"/>
          <p:nvPr/>
        </p:nvSpPr>
        <p:spPr>
          <a:xfrm>
            <a:off x="4923663" y="1828800"/>
            <a:ext cx="292608" cy="219456"/>
          </a:xfrm>
          <a:prstGeom prst="rect">
            <a:avLst/>
          </a:prstGeom>
          <a:noFill/>
        </p:spPr>
        <p:txBody>
          <a:bodyPr wrap="square" lIns="0" tIns="0" rIns="0" bIns="0" anchor="t">
            <a:spAutoFit/>
          </a:bodyPr>
          <a:lstStyle/>
          <a:p>
            <a:pPr algn="ctr">
              <a:spcAft>
                <a:spcPts val="0"/>
              </a:spcAft>
            </a:pPr>
            <a:r>
              <a:rPr sz="1350" b="0">
                <a:solidFill>
                  <a:srgbClr val="B4C0C4"/>
                </a:solidFill>
                <a:latin typeface="Consolas"/>
              </a:rPr>
              <a:t>T</a:t>
            </a:r>
          </a:p>
        </p:txBody>
      </p:sp>
      <p:cxnSp>
        <p:nvCxnSpPr>
          <p:cNvPr id="270" name="Connector 57">
            <a:extLst>
              <a:ext uri="{FF2B5EF4-FFF2-40B4-BE49-F238E27FC236}">
                <a16:creationId xmlns:a16="http://schemas.microsoft.com/office/drawing/2014/main" id="{8A4DEE82-AAFC-15C0-7C40-DE824E5F7680}"/>
              </a:ext>
            </a:extLst>
          </p:cNvPr>
          <p:cNvCxnSpPr/>
          <p:nvPr/>
        </p:nvCxnSpPr>
        <p:spPr>
          <a:xfrm>
            <a:off x="4475607" y="1655064"/>
            <a:ext cx="0" cy="530352"/>
          </a:xfrm>
          <a:prstGeom prst="line">
            <a:avLst/>
          </a:prstGeom>
          <a:ln w="19050">
            <a:solidFill>
              <a:srgbClr val="B0554A"/>
            </a:solidFill>
            <a:prstDash val="sysDot"/>
          </a:ln>
        </p:spPr>
        <p:style>
          <a:lnRef idx="2">
            <a:schemeClr val="accent1"/>
          </a:lnRef>
          <a:fillRef idx="0">
            <a:schemeClr val="accent1"/>
          </a:fillRef>
          <a:effectRef idx="1">
            <a:schemeClr val="accent1"/>
          </a:effectRef>
          <a:fontRef idx="minor">
            <a:schemeClr val="tx1"/>
          </a:fontRef>
        </p:style>
      </p:cxnSp>
      <p:sp>
        <p:nvSpPr>
          <p:cNvPr id="271" name="TextBox 270">
            <a:extLst>
              <a:ext uri="{FF2B5EF4-FFF2-40B4-BE49-F238E27FC236}">
                <a16:creationId xmlns:a16="http://schemas.microsoft.com/office/drawing/2014/main" id="{D43F71E1-6DE4-E853-0CBE-85E43677FF78}"/>
              </a:ext>
            </a:extLst>
          </p:cNvPr>
          <p:cNvSpPr txBox="1"/>
          <p:nvPr/>
        </p:nvSpPr>
        <p:spPr>
          <a:xfrm>
            <a:off x="4064127" y="2139696"/>
            <a:ext cx="822960" cy="164592"/>
          </a:xfrm>
          <a:prstGeom prst="rect">
            <a:avLst/>
          </a:prstGeom>
          <a:noFill/>
        </p:spPr>
        <p:txBody>
          <a:bodyPr wrap="square" lIns="0" tIns="0" rIns="0" bIns="0" anchor="t">
            <a:spAutoFit/>
          </a:bodyPr>
          <a:lstStyle/>
          <a:p>
            <a:pPr algn="ctr">
              <a:spcAft>
                <a:spcPts val="0"/>
              </a:spcAft>
            </a:pPr>
            <a:r>
              <a:rPr sz="850" b="0">
                <a:solidFill>
                  <a:srgbClr val="B0554A"/>
                </a:solidFill>
                <a:latin typeface="Consolas"/>
              </a:rPr>
              <a:t>cut</a:t>
            </a:r>
          </a:p>
        </p:txBody>
      </p:sp>
      <p:sp>
        <p:nvSpPr>
          <p:cNvPr id="273" name="Rounded Rectangle 51">
            <a:extLst>
              <a:ext uri="{FF2B5EF4-FFF2-40B4-BE49-F238E27FC236}">
                <a16:creationId xmlns:a16="http://schemas.microsoft.com/office/drawing/2014/main" id="{551B968D-C21C-1FB2-7625-53450EC2269C}"/>
              </a:ext>
            </a:extLst>
          </p:cNvPr>
          <p:cNvSpPr/>
          <p:nvPr/>
        </p:nvSpPr>
        <p:spPr>
          <a:xfrm>
            <a:off x="2412659" y="1735600"/>
            <a:ext cx="292608" cy="365760"/>
          </a:xfrm>
          <a:prstGeom prst="roundRect">
            <a:avLst>
              <a:gd name="adj" fmla="val 14000"/>
            </a:avLst>
          </a:prstGeom>
          <a:solidFill>
            <a:srgbClr val="FFFFFF"/>
          </a:solidFill>
          <a:ln w="9525">
            <a:solidFill>
              <a:srgbClr val="DCE4E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75" name="TextBox 274">
            <a:extLst>
              <a:ext uri="{FF2B5EF4-FFF2-40B4-BE49-F238E27FC236}">
                <a16:creationId xmlns:a16="http://schemas.microsoft.com/office/drawing/2014/main" id="{4DCAA5B5-E9A7-6FD1-FAC1-48A93B21A291}"/>
              </a:ext>
            </a:extLst>
          </p:cNvPr>
          <p:cNvSpPr txBox="1"/>
          <p:nvPr/>
        </p:nvSpPr>
        <p:spPr>
          <a:xfrm>
            <a:off x="2412659" y="1827040"/>
            <a:ext cx="292608" cy="207749"/>
          </a:xfrm>
          <a:prstGeom prst="rect">
            <a:avLst/>
          </a:prstGeom>
          <a:noFill/>
        </p:spPr>
        <p:txBody>
          <a:bodyPr wrap="square" lIns="0" tIns="0" rIns="0" bIns="0" anchor="t">
            <a:spAutoFit/>
          </a:bodyPr>
          <a:lstStyle/>
          <a:p>
            <a:pPr algn="ctr">
              <a:spcAft>
                <a:spcPts val="0"/>
              </a:spcAft>
            </a:pPr>
            <a:r>
              <a:rPr lang="cs-CZ" sz="1350" dirty="0">
                <a:solidFill>
                  <a:srgbClr val="5B6E76"/>
                </a:solidFill>
                <a:latin typeface="Consolas"/>
              </a:rPr>
              <a:t>T</a:t>
            </a:r>
            <a:endParaRPr sz="1350" b="0" dirty="0">
              <a:solidFill>
                <a:srgbClr val="5B6E76"/>
              </a:solidFill>
              <a:latin typeface="Consolas"/>
            </a:endParaRPr>
          </a:p>
        </p:txBody>
      </p:sp>
      <p:sp>
        <p:nvSpPr>
          <p:cNvPr id="279" name="Text 12">
            <a:extLst>
              <a:ext uri="{FF2B5EF4-FFF2-40B4-BE49-F238E27FC236}">
                <a16:creationId xmlns:a16="http://schemas.microsoft.com/office/drawing/2014/main" id="{B58CA220-6014-C247-AA75-0101D90B4BEB}"/>
              </a:ext>
            </a:extLst>
          </p:cNvPr>
          <p:cNvSpPr/>
          <p:nvPr/>
        </p:nvSpPr>
        <p:spPr>
          <a:xfrm>
            <a:off x="566928" y="1252728"/>
            <a:ext cx="8275320" cy="316253"/>
          </a:xfrm>
          <a:prstGeom prst="rect">
            <a:avLst/>
          </a:prstGeom>
          <a:noFill/>
          <a:ln/>
        </p:spPr>
        <p:txBody>
          <a:bodyPr wrap="square" lIns="0" tIns="0" rIns="0" bIns="0" rtlCol="0" anchor="t">
            <a:normAutofit fontScale="92500"/>
          </a:bodyPr>
          <a:lstStyle/>
          <a:p>
            <a:pPr marL="0" indent="0" algn="l">
              <a:buNone/>
            </a:pPr>
            <a:r>
              <a:rPr lang="en-US" sz="1400" dirty="0">
                <a:solidFill>
                  <a:schemeClr val="bg2">
                    <a:lumMod val="50000"/>
                  </a:schemeClr>
                </a:solidFill>
                <a:latin typeface="Arial" pitchFamily="34" charset="0"/>
                <a:ea typeface="Arial" pitchFamily="34" charset="-122"/>
                <a:cs typeface="Arial" pitchFamily="34" charset="-120"/>
              </a:rPr>
              <a:t>The cell first cut out the parts that are not needed, tapes the rest together, and builds the protein from that.</a:t>
            </a:r>
            <a:endParaRPr lang="en-US" sz="1400" dirty="0">
              <a:solidFill>
                <a:schemeClr val="bg2">
                  <a:lumMod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CB2E1-B734-66D2-F20D-E03AD7961A5D}"/>
            </a:ext>
          </a:extLst>
        </p:cNvPr>
        <p:cNvGrpSpPr/>
        <p:nvPr/>
      </p:nvGrpSpPr>
      <p:grpSpPr>
        <a:xfrm>
          <a:off x="0" y="0"/>
          <a:ext cx="0" cy="0"/>
          <a:chOff x="0" y="0"/>
          <a:chExt cx="0" cy="0"/>
        </a:xfrm>
      </p:grpSpPr>
      <p:sp>
        <p:nvSpPr>
          <p:cNvPr id="49" name="Text 0">
            <a:extLst>
              <a:ext uri="{FF2B5EF4-FFF2-40B4-BE49-F238E27FC236}">
                <a16:creationId xmlns:a16="http://schemas.microsoft.com/office/drawing/2014/main" id="{8BF5E3FA-4B7E-8BB5-D4BC-21EDF3299CE3}"/>
              </a:ext>
            </a:extLst>
          </p:cNvPr>
          <p:cNvSpPr/>
          <p:nvPr/>
        </p:nvSpPr>
        <p:spPr>
          <a:xfrm>
            <a:off x="502920" y="329184"/>
            <a:ext cx="1463040" cy="164592"/>
          </a:xfrm>
          <a:prstGeom prst="rect">
            <a:avLst/>
          </a:prstGeom>
          <a:noFill/>
          <a:ln/>
        </p:spPr>
        <p:txBody>
          <a:bodyPr wrap="square" lIns="0" tIns="0" rIns="0" bIns="0" rtlCol="0" anchor="t">
            <a:normAutofit/>
          </a:bodyPr>
          <a:lstStyle/>
          <a:p>
            <a:pPr marL="0" indent="0" algn="l">
              <a:buNone/>
            </a:pPr>
            <a:r>
              <a:rPr lang="en-US" sz="750" kern="0" spc="120" dirty="0">
                <a:solidFill>
                  <a:srgbClr val="8A9BA1"/>
                </a:solidFill>
                <a:latin typeface="Courier New" pitchFamily="34" charset="0"/>
                <a:ea typeface="Courier New" pitchFamily="34" charset="-122"/>
                <a:cs typeface="Courier New" pitchFamily="34" charset="-120"/>
              </a:rPr>
              <a:t>Slide </a:t>
            </a:r>
            <a:r>
              <a:rPr lang="cs-CZ" sz="750" kern="0" spc="120" dirty="0">
                <a:solidFill>
                  <a:srgbClr val="8A9BA1"/>
                </a:solidFill>
                <a:latin typeface="Courier New" pitchFamily="34" charset="0"/>
                <a:ea typeface="Courier New" pitchFamily="34" charset="-122"/>
                <a:cs typeface="Courier New" pitchFamily="34" charset="-120"/>
              </a:rPr>
              <a:t>2</a:t>
            </a:r>
            <a:endParaRPr lang="en-US" sz="750" dirty="0"/>
          </a:p>
        </p:txBody>
      </p:sp>
      <p:sp>
        <p:nvSpPr>
          <p:cNvPr id="51" name="Text 1">
            <a:extLst>
              <a:ext uri="{FF2B5EF4-FFF2-40B4-BE49-F238E27FC236}">
                <a16:creationId xmlns:a16="http://schemas.microsoft.com/office/drawing/2014/main" id="{9781743E-1C7C-0257-4B9C-B709A672DB3A}"/>
              </a:ext>
            </a:extLst>
          </p:cNvPr>
          <p:cNvSpPr/>
          <p:nvPr/>
        </p:nvSpPr>
        <p:spPr>
          <a:xfrm>
            <a:off x="502920" y="566928"/>
            <a:ext cx="6400800" cy="530352"/>
          </a:xfrm>
          <a:prstGeom prst="rect">
            <a:avLst/>
          </a:prstGeom>
          <a:noFill/>
          <a:ln/>
        </p:spPr>
        <p:txBody>
          <a:bodyPr wrap="square" lIns="0" tIns="0" rIns="0" bIns="0" rtlCol="0" anchor="t">
            <a:normAutofit/>
          </a:bodyPr>
          <a:lstStyle/>
          <a:p>
            <a:pPr marL="0" indent="0" algn="l">
              <a:buNone/>
            </a:pPr>
            <a:r>
              <a:rPr lang="en-US" sz="2750" dirty="0">
                <a:solidFill>
                  <a:srgbClr val="1A2A31"/>
                </a:solidFill>
                <a:latin typeface="Georgia" pitchFamily="34" charset="0"/>
                <a:ea typeface="Georgia" pitchFamily="34" charset="-122"/>
                <a:cs typeface="Georgia" pitchFamily="34" charset="-120"/>
              </a:rPr>
              <a:t>Classification of genetic variants</a:t>
            </a:r>
            <a:endParaRPr lang="en-US" sz="2750" dirty="0"/>
          </a:p>
        </p:txBody>
      </p:sp>
      <p:sp>
        <p:nvSpPr>
          <p:cNvPr id="53" name="Shape 2">
            <a:extLst>
              <a:ext uri="{FF2B5EF4-FFF2-40B4-BE49-F238E27FC236}">
                <a16:creationId xmlns:a16="http://schemas.microsoft.com/office/drawing/2014/main" id="{25907D9A-9460-4AEF-D90D-40327B7B1D16}"/>
              </a:ext>
            </a:extLst>
          </p:cNvPr>
          <p:cNvSpPr/>
          <p:nvPr/>
        </p:nvSpPr>
        <p:spPr>
          <a:xfrm>
            <a:off x="502920" y="1161288"/>
            <a:ext cx="566928" cy="0"/>
          </a:xfrm>
          <a:prstGeom prst="line">
            <a:avLst/>
          </a:prstGeom>
          <a:noFill/>
          <a:ln w="19050">
            <a:solidFill>
              <a:srgbClr val="15697A"/>
            </a:solidFill>
            <a:prstDash val="solid"/>
          </a:ln>
        </p:spPr>
        <p:txBody>
          <a:bodyPr/>
          <a:lstStyle/>
          <a:p>
            <a:endParaRPr lang="en-US"/>
          </a:p>
        </p:txBody>
      </p:sp>
      <p:pic>
        <p:nvPicPr>
          <p:cNvPr id="55" name="Image 0" descr="/mnt/data/ariane_deck_author_identity/images/uochb-iocb-prague-logo.png">
            <a:extLst>
              <a:ext uri="{FF2B5EF4-FFF2-40B4-BE49-F238E27FC236}">
                <a16:creationId xmlns:a16="http://schemas.microsoft.com/office/drawing/2014/main" id="{E7343D9A-0CB9-5997-3572-E5809A054A0F}"/>
              </a:ext>
            </a:extLst>
          </p:cNvPr>
          <p:cNvPicPr>
            <a:picLocks noChangeAspect="1"/>
          </p:cNvPicPr>
          <p:nvPr/>
        </p:nvPicPr>
        <p:blipFill>
          <a:blip r:embed="rId3"/>
          <a:stretch>
            <a:fillRect/>
          </a:stretch>
        </p:blipFill>
        <p:spPr>
          <a:xfrm>
            <a:off x="10152146" y="310896"/>
            <a:ext cx="1376132" cy="493776"/>
          </a:xfrm>
          <a:prstGeom prst="rect">
            <a:avLst/>
          </a:prstGeom>
        </p:spPr>
      </p:pic>
      <p:sp>
        <p:nvSpPr>
          <p:cNvPr id="57" name="Text 3">
            <a:extLst>
              <a:ext uri="{FF2B5EF4-FFF2-40B4-BE49-F238E27FC236}">
                <a16:creationId xmlns:a16="http://schemas.microsoft.com/office/drawing/2014/main" id="{964875AC-3E33-FE30-4012-5D6905D2FEB7}"/>
              </a:ext>
            </a:extLst>
          </p:cNvPr>
          <p:cNvSpPr/>
          <p:nvPr/>
        </p:nvSpPr>
        <p:spPr>
          <a:xfrm>
            <a:off x="8595360" y="850392"/>
            <a:ext cx="3063240" cy="182880"/>
          </a:xfrm>
          <a:prstGeom prst="rect">
            <a:avLst/>
          </a:prstGeom>
          <a:noFill/>
          <a:ln/>
        </p:spPr>
        <p:txBody>
          <a:bodyPr wrap="square" lIns="0" tIns="0" rIns="0" bIns="0" rtlCol="0" anchor="t">
            <a:normAutofit/>
          </a:bodyPr>
          <a:lstStyle/>
          <a:p>
            <a:pPr marL="0" indent="0" algn="r">
              <a:buNone/>
            </a:pPr>
            <a:r>
              <a:rPr lang="en-US" sz="900" b="1" dirty="0">
                <a:solidFill>
                  <a:srgbClr val="1A2A31"/>
                </a:solidFill>
                <a:latin typeface="Arial" pitchFamily="34" charset="0"/>
                <a:ea typeface="Arial" pitchFamily="34" charset="-122"/>
                <a:cs typeface="Arial" pitchFamily="34" charset="-120"/>
              </a:rPr>
              <a:t>Kamila Clarová</a:t>
            </a:r>
            <a:endParaRPr lang="en-US" sz="900" dirty="0"/>
          </a:p>
        </p:txBody>
      </p:sp>
      <p:sp>
        <p:nvSpPr>
          <p:cNvPr id="59" name="Text 4">
            <a:extLst>
              <a:ext uri="{FF2B5EF4-FFF2-40B4-BE49-F238E27FC236}">
                <a16:creationId xmlns:a16="http://schemas.microsoft.com/office/drawing/2014/main" id="{0958FCF0-8843-6574-3645-28BFACFC3992}"/>
              </a:ext>
            </a:extLst>
          </p:cNvPr>
          <p:cNvSpPr/>
          <p:nvPr/>
        </p:nvSpPr>
        <p:spPr>
          <a:xfrm>
            <a:off x="8229600" y="1051560"/>
            <a:ext cx="3429000" cy="182880"/>
          </a:xfrm>
          <a:prstGeom prst="rect">
            <a:avLst/>
          </a:prstGeom>
          <a:noFill/>
          <a:ln/>
        </p:spPr>
        <p:txBody>
          <a:bodyPr wrap="square" lIns="0" tIns="0" rIns="0" bIns="0" rtlCol="0" anchor="t">
            <a:normAutofit/>
          </a:bodyPr>
          <a:lstStyle/>
          <a:p>
            <a:pPr marL="0" indent="0" algn="r">
              <a:buNone/>
            </a:pPr>
            <a:r>
              <a:rPr lang="en-US" sz="800" dirty="0">
                <a:solidFill>
                  <a:srgbClr val="5B6E76"/>
                </a:solidFill>
                <a:latin typeface="Arial" pitchFamily="34" charset="0"/>
                <a:ea typeface="Arial" pitchFamily="34" charset="-122"/>
                <a:cs typeface="Arial" pitchFamily="34" charset="-120"/>
              </a:rPr>
              <a:t>Jiří Vondrášek Group</a:t>
            </a:r>
            <a:endParaRPr lang="en-US" sz="800" dirty="0"/>
          </a:p>
        </p:txBody>
      </p:sp>
      <p:sp>
        <p:nvSpPr>
          <p:cNvPr id="61" name="Text 5">
            <a:extLst>
              <a:ext uri="{FF2B5EF4-FFF2-40B4-BE49-F238E27FC236}">
                <a16:creationId xmlns:a16="http://schemas.microsoft.com/office/drawing/2014/main" id="{87D47549-B820-F2C5-0BB6-FEF06848BF60}"/>
              </a:ext>
            </a:extLst>
          </p:cNvPr>
          <p:cNvSpPr/>
          <p:nvPr/>
        </p:nvSpPr>
        <p:spPr>
          <a:xfrm>
            <a:off x="594360" y="1508760"/>
            <a:ext cx="5715000" cy="676656"/>
          </a:xfrm>
          <a:prstGeom prst="rect">
            <a:avLst/>
          </a:prstGeom>
          <a:noFill/>
          <a:ln/>
        </p:spPr>
        <p:txBody>
          <a:bodyPr wrap="square" lIns="0" tIns="0" rIns="0" bIns="0" rtlCol="0" anchor="t">
            <a:normAutofit/>
          </a:bodyPr>
          <a:lstStyle/>
          <a:p>
            <a:pPr marL="0" indent="0" algn="l">
              <a:buNone/>
            </a:pPr>
            <a:r>
              <a:rPr lang="en-US" sz="1220" dirty="0">
                <a:solidFill>
                  <a:srgbClr val="1A2A31"/>
                </a:solidFill>
                <a:latin typeface="Arial" pitchFamily="34" charset="0"/>
                <a:ea typeface="Arial" pitchFamily="34" charset="-122"/>
                <a:cs typeface="Arial" pitchFamily="34" charset="-120"/>
              </a:rPr>
              <a:t>Genetic testing identifies changes in DNA, known as genetic variants. Most are harmless, but some can alter gene function and increase disease risk.</a:t>
            </a:r>
            <a:endParaRPr lang="en-US" sz="1220" dirty="0"/>
          </a:p>
        </p:txBody>
      </p:sp>
      <p:sp>
        <p:nvSpPr>
          <p:cNvPr id="63" name="Text 6">
            <a:extLst>
              <a:ext uri="{FF2B5EF4-FFF2-40B4-BE49-F238E27FC236}">
                <a16:creationId xmlns:a16="http://schemas.microsoft.com/office/drawing/2014/main" id="{B904DBB3-0F6A-82DF-8D1D-03FD4CA124ED}"/>
              </a:ext>
            </a:extLst>
          </p:cNvPr>
          <p:cNvSpPr/>
          <p:nvPr/>
        </p:nvSpPr>
        <p:spPr>
          <a:xfrm>
            <a:off x="594360" y="2249424"/>
            <a:ext cx="5715000" cy="841248"/>
          </a:xfrm>
          <a:prstGeom prst="rect">
            <a:avLst/>
          </a:prstGeom>
          <a:noFill/>
          <a:ln/>
        </p:spPr>
        <p:txBody>
          <a:bodyPr wrap="square" lIns="0" tIns="0" rIns="0" bIns="0" rtlCol="0" anchor="t">
            <a:normAutofit/>
          </a:bodyPr>
          <a:lstStyle/>
          <a:p>
            <a:pPr marL="0" indent="0" algn="l">
              <a:buNone/>
            </a:pPr>
            <a:r>
              <a:rPr lang="en-US" sz="1220" dirty="0">
                <a:solidFill>
                  <a:srgbClr val="1A2A31"/>
                </a:solidFill>
                <a:latin typeface="Arial" pitchFamily="34" charset="0"/>
                <a:ea typeface="Arial" pitchFamily="34" charset="-122"/>
                <a:cs typeface="Arial" pitchFamily="34" charset="-120"/>
              </a:rPr>
              <a:t>To interpret a variant, different types of evidence are evaluated using defined classification criteria. Each criterion represents a specific type of evidence and contributes towards a benign or pathogenic classification.</a:t>
            </a:r>
            <a:endParaRPr lang="en-US" sz="1220" dirty="0"/>
          </a:p>
        </p:txBody>
      </p:sp>
      <p:sp>
        <p:nvSpPr>
          <p:cNvPr id="65" name="Text 7">
            <a:extLst>
              <a:ext uri="{FF2B5EF4-FFF2-40B4-BE49-F238E27FC236}">
                <a16:creationId xmlns:a16="http://schemas.microsoft.com/office/drawing/2014/main" id="{469B0FDA-2BA5-A63E-52B5-709D5F3F3E53}"/>
              </a:ext>
            </a:extLst>
          </p:cNvPr>
          <p:cNvSpPr/>
          <p:nvPr/>
        </p:nvSpPr>
        <p:spPr>
          <a:xfrm>
            <a:off x="594360" y="3154680"/>
            <a:ext cx="5715000" cy="676656"/>
          </a:xfrm>
          <a:prstGeom prst="rect">
            <a:avLst/>
          </a:prstGeom>
          <a:noFill/>
          <a:ln/>
        </p:spPr>
        <p:txBody>
          <a:bodyPr wrap="square" lIns="0" tIns="0" rIns="0" bIns="0" rtlCol="0" anchor="t">
            <a:normAutofit/>
          </a:bodyPr>
          <a:lstStyle/>
          <a:p>
            <a:pPr marL="0" indent="0" algn="l">
              <a:buNone/>
            </a:pPr>
            <a:r>
              <a:rPr lang="en-US" sz="1220" dirty="0">
                <a:solidFill>
                  <a:srgbClr val="1A2A31"/>
                </a:solidFill>
                <a:latin typeface="Arial" pitchFamily="34" charset="0"/>
                <a:ea typeface="Arial" pitchFamily="34" charset="-122"/>
                <a:cs typeface="Arial" pitchFamily="34" charset="-120"/>
              </a:rPr>
              <a:t>The ACMG/AMP framework provides general criteria for variant interpretation. Expert panels further refine these rules for individual genes or groups of genes.</a:t>
            </a:r>
            <a:endParaRPr lang="en-US" sz="1220" dirty="0"/>
          </a:p>
        </p:txBody>
      </p:sp>
      <p:sp>
        <p:nvSpPr>
          <p:cNvPr id="67" name="Text 8">
            <a:extLst>
              <a:ext uri="{FF2B5EF4-FFF2-40B4-BE49-F238E27FC236}">
                <a16:creationId xmlns:a16="http://schemas.microsoft.com/office/drawing/2014/main" id="{A171A5D8-3019-FF07-44D8-4F2AD9A3C835}"/>
              </a:ext>
            </a:extLst>
          </p:cNvPr>
          <p:cNvSpPr/>
          <p:nvPr/>
        </p:nvSpPr>
        <p:spPr>
          <a:xfrm>
            <a:off x="594360" y="3895344"/>
            <a:ext cx="5715000" cy="512064"/>
          </a:xfrm>
          <a:prstGeom prst="rect">
            <a:avLst/>
          </a:prstGeom>
          <a:noFill/>
          <a:ln/>
        </p:spPr>
        <p:txBody>
          <a:bodyPr wrap="square" lIns="0" tIns="0" rIns="0" bIns="0" rtlCol="0" anchor="t">
            <a:normAutofit/>
          </a:bodyPr>
          <a:lstStyle/>
          <a:p>
            <a:pPr marL="0" indent="0" algn="l">
              <a:buNone/>
            </a:pPr>
            <a:r>
              <a:rPr lang="en-US" sz="1220" dirty="0">
                <a:solidFill>
                  <a:srgbClr val="1A2A31"/>
                </a:solidFill>
                <a:latin typeface="Arial" pitchFamily="34" charset="0"/>
                <a:ea typeface="Arial" pitchFamily="34" charset="-122"/>
                <a:cs typeface="Arial" pitchFamily="34" charset="-120"/>
              </a:rPr>
              <a:t>For BRCA1 and BRCA2, the rules have been further specified by the international ClinGen ENIGMA expert panel.</a:t>
            </a:r>
            <a:endParaRPr lang="en-US" sz="1220" dirty="0"/>
          </a:p>
        </p:txBody>
      </p:sp>
      <p:sp>
        <p:nvSpPr>
          <p:cNvPr id="69" name="Text 9">
            <a:extLst>
              <a:ext uri="{FF2B5EF4-FFF2-40B4-BE49-F238E27FC236}">
                <a16:creationId xmlns:a16="http://schemas.microsoft.com/office/drawing/2014/main" id="{51D0F304-CCA0-AA35-1F63-5B0ED3AE8E76}"/>
              </a:ext>
            </a:extLst>
          </p:cNvPr>
          <p:cNvSpPr/>
          <p:nvPr/>
        </p:nvSpPr>
        <p:spPr>
          <a:xfrm>
            <a:off x="594360" y="4672584"/>
            <a:ext cx="5715000" cy="164592"/>
          </a:xfrm>
          <a:prstGeom prst="rect">
            <a:avLst/>
          </a:prstGeom>
          <a:noFill/>
          <a:ln/>
        </p:spPr>
        <p:txBody>
          <a:bodyPr wrap="square" lIns="0" tIns="0" rIns="0" bIns="0" rtlCol="0" anchor="t">
            <a:normAutofit/>
          </a:bodyPr>
          <a:lstStyle/>
          <a:p>
            <a:pPr marL="0" indent="0" algn="l">
              <a:buNone/>
            </a:pPr>
            <a:r>
              <a:rPr lang="en-US" sz="770" b="1" kern="0" spc="110" dirty="0">
                <a:solidFill>
                  <a:srgbClr val="8A9BA1"/>
                </a:solidFill>
                <a:latin typeface="Arial" pitchFamily="34" charset="0"/>
                <a:ea typeface="Arial" pitchFamily="34" charset="-122"/>
                <a:cs typeface="Arial" pitchFamily="34" charset="-120"/>
              </a:rPr>
              <a:t>Evidence used for classification</a:t>
            </a:r>
            <a:endParaRPr lang="en-US" sz="770" dirty="0"/>
          </a:p>
        </p:txBody>
      </p:sp>
      <p:sp>
        <p:nvSpPr>
          <p:cNvPr id="71" name="Shape 10">
            <a:extLst>
              <a:ext uri="{FF2B5EF4-FFF2-40B4-BE49-F238E27FC236}">
                <a16:creationId xmlns:a16="http://schemas.microsoft.com/office/drawing/2014/main" id="{0ECDA863-3A28-84A2-1B73-80172B6B6F82}"/>
              </a:ext>
            </a:extLst>
          </p:cNvPr>
          <p:cNvSpPr/>
          <p:nvPr/>
        </p:nvSpPr>
        <p:spPr>
          <a:xfrm>
            <a:off x="594360" y="4919472"/>
            <a:ext cx="5715000" cy="0"/>
          </a:xfrm>
          <a:prstGeom prst="line">
            <a:avLst/>
          </a:prstGeom>
          <a:noFill/>
          <a:ln w="12700">
            <a:solidFill>
              <a:srgbClr val="EBF0F1"/>
            </a:solidFill>
            <a:prstDash val="solid"/>
          </a:ln>
        </p:spPr>
        <p:txBody>
          <a:bodyPr/>
          <a:lstStyle/>
          <a:p>
            <a:endParaRPr lang="en-US"/>
          </a:p>
        </p:txBody>
      </p:sp>
      <p:sp>
        <p:nvSpPr>
          <p:cNvPr id="73" name="Shape 11">
            <a:extLst>
              <a:ext uri="{FF2B5EF4-FFF2-40B4-BE49-F238E27FC236}">
                <a16:creationId xmlns:a16="http://schemas.microsoft.com/office/drawing/2014/main" id="{667CC06C-694F-527E-1773-2F72A78A64F6}"/>
              </a:ext>
            </a:extLst>
          </p:cNvPr>
          <p:cNvSpPr/>
          <p:nvPr/>
        </p:nvSpPr>
        <p:spPr>
          <a:xfrm>
            <a:off x="594360" y="5184648"/>
            <a:ext cx="73152" cy="0"/>
          </a:xfrm>
          <a:prstGeom prst="line">
            <a:avLst/>
          </a:prstGeom>
          <a:noFill/>
          <a:ln w="13970">
            <a:solidFill>
              <a:srgbClr val="15697A"/>
            </a:solidFill>
            <a:prstDash val="solid"/>
          </a:ln>
        </p:spPr>
        <p:txBody>
          <a:bodyPr/>
          <a:lstStyle/>
          <a:p>
            <a:endParaRPr lang="en-US"/>
          </a:p>
        </p:txBody>
      </p:sp>
      <p:sp>
        <p:nvSpPr>
          <p:cNvPr id="75" name="Text 12">
            <a:extLst>
              <a:ext uri="{FF2B5EF4-FFF2-40B4-BE49-F238E27FC236}">
                <a16:creationId xmlns:a16="http://schemas.microsoft.com/office/drawing/2014/main" id="{6A439A24-EAF9-B2C8-5D34-3FF4ACB549AA}"/>
              </a:ext>
            </a:extLst>
          </p:cNvPr>
          <p:cNvSpPr/>
          <p:nvPr/>
        </p:nvSpPr>
        <p:spPr>
          <a:xfrm>
            <a:off x="758952" y="5056632"/>
            <a:ext cx="5550408" cy="228600"/>
          </a:xfrm>
          <a:prstGeom prst="rect">
            <a:avLst/>
          </a:prstGeom>
          <a:noFill/>
          <a:ln/>
        </p:spPr>
        <p:txBody>
          <a:bodyPr wrap="square" lIns="0" tIns="0" rIns="0" bIns="0" rtlCol="0" anchor="t">
            <a:normAutofit/>
          </a:bodyPr>
          <a:lstStyle/>
          <a:p>
            <a:pPr marL="0" indent="0" algn="l">
              <a:buNone/>
            </a:pPr>
            <a:r>
              <a:rPr lang="en-US" sz="1170" dirty="0">
                <a:solidFill>
                  <a:srgbClr val="1A2A31"/>
                </a:solidFill>
                <a:latin typeface="Arial" pitchFamily="34" charset="0"/>
                <a:ea typeface="Arial" pitchFamily="34" charset="-122"/>
                <a:cs typeface="Arial" pitchFamily="34" charset="-120"/>
              </a:rPr>
              <a:t>Population frequency</a:t>
            </a:r>
            <a:endParaRPr lang="en-US" sz="1170" dirty="0"/>
          </a:p>
        </p:txBody>
      </p:sp>
      <p:sp>
        <p:nvSpPr>
          <p:cNvPr id="77" name="Shape 13">
            <a:extLst>
              <a:ext uri="{FF2B5EF4-FFF2-40B4-BE49-F238E27FC236}">
                <a16:creationId xmlns:a16="http://schemas.microsoft.com/office/drawing/2014/main" id="{20787050-2588-227A-C52B-3E50966D176B}"/>
              </a:ext>
            </a:extLst>
          </p:cNvPr>
          <p:cNvSpPr/>
          <p:nvPr/>
        </p:nvSpPr>
        <p:spPr>
          <a:xfrm>
            <a:off x="594360" y="5458968"/>
            <a:ext cx="73152" cy="0"/>
          </a:xfrm>
          <a:prstGeom prst="line">
            <a:avLst/>
          </a:prstGeom>
          <a:noFill/>
          <a:ln w="13970">
            <a:solidFill>
              <a:srgbClr val="15697A"/>
            </a:solidFill>
            <a:prstDash val="solid"/>
          </a:ln>
        </p:spPr>
        <p:txBody>
          <a:bodyPr/>
          <a:lstStyle/>
          <a:p>
            <a:endParaRPr lang="en-US"/>
          </a:p>
        </p:txBody>
      </p:sp>
      <p:sp>
        <p:nvSpPr>
          <p:cNvPr id="79" name="Text 14">
            <a:extLst>
              <a:ext uri="{FF2B5EF4-FFF2-40B4-BE49-F238E27FC236}">
                <a16:creationId xmlns:a16="http://schemas.microsoft.com/office/drawing/2014/main" id="{67A49CE5-3121-7340-88FC-F4493956D113}"/>
              </a:ext>
            </a:extLst>
          </p:cNvPr>
          <p:cNvSpPr/>
          <p:nvPr/>
        </p:nvSpPr>
        <p:spPr>
          <a:xfrm>
            <a:off x="758952" y="5330952"/>
            <a:ext cx="5550408" cy="228600"/>
          </a:xfrm>
          <a:prstGeom prst="rect">
            <a:avLst/>
          </a:prstGeom>
          <a:noFill/>
          <a:ln/>
        </p:spPr>
        <p:txBody>
          <a:bodyPr wrap="square" lIns="0" tIns="0" rIns="0" bIns="0" rtlCol="0" anchor="t">
            <a:normAutofit/>
          </a:bodyPr>
          <a:lstStyle/>
          <a:p>
            <a:pPr marL="0" indent="0" algn="l">
              <a:buNone/>
            </a:pPr>
            <a:r>
              <a:rPr lang="en-US" sz="1170" dirty="0">
                <a:solidFill>
                  <a:srgbClr val="1A2A31"/>
                </a:solidFill>
                <a:latin typeface="Arial" pitchFamily="34" charset="0"/>
                <a:ea typeface="Arial" pitchFamily="34" charset="-122"/>
                <a:cs typeface="Arial" pitchFamily="34" charset="-120"/>
              </a:rPr>
              <a:t>Predicted effect on the gene or protein</a:t>
            </a:r>
            <a:endParaRPr lang="en-US" sz="1170" dirty="0"/>
          </a:p>
        </p:txBody>
      </p:sp>
      <p:sp>
        <p:nvSpPr>
          <p:cNvPr id="81" name="Shape 15">
            <a:extLst>
              <a:ext uri="{FF2B5EF4-FFF2-40B4-BE49-F238E27FC236}">
                <a16:creationId xmlns:a16="http://schemas.microsoft.com/office/drawing/2014/main" id="{36F556D7-325C-842D-5D7C-67B5BDBA199B}"/>
              </a:ext>
            </a:extLst>
          </p:cNvPr>
          <p:cNvSpPr/>
          <p:nvPr/>
        </p:nvSpPr>
        <p:spPr>
          <a:xfrm>
            <a:off x="594360" y="5733288"/>
            <a:ext cx="73152" cy="0"/>
          </a:xfrm>
          <a:prstGeom prst="line">
            <a:avLst/>
          </a:prstGeom>
          <a:noFill/>
          <a:ln w="13970">
            <a:solidFill>
              <a:srgbClr val="15697A"/>
            </a:solidFill>
            <a:prstDash val="solid"/>
          </a:ln>
        </p:spPr>
        <p:txBody>
          <a:bodyPr/>
          <a:lstStyle/>
          <a:p>
            <a:endParaRPr lang="en-US"/>
          </a:p>
        </p:txBody>
      </p:sp>
      <p:sp>
        <p:nvSpPr>
          <p:cNvPr id="83" name="Text 16">
            <a:extLst>
              <a:ext uri="{FF2B5EF4-FFF2-40B4-BE49-F238E27FC236}">
                <a16:creationId xmlns:a16="http://schemas.microsoft.com/office/drawing/2014/main" id="{B01E3ECC-8171-6BFC-A47A-267A427CA4DD}"/>
              </a:ext>
            </a:extLst>
          </p:cNvPr>
          <p:cNvSpPr/>
          <p:nvPr/>
        </p:nvSpPr>
        <p:spPr>
          <a:xfrm>
            <a:off x="758952" y="5605272"/>
            <a:ext cx="5550408" cy="228600"/>
          </a:xfrm>
          <a:prstGeom prst="rect">
            <a:avLst/>
          </a:prstGeom>
          <a:noFill/>
          <a:ln/>
        </p:spPr>
        <p:txBody>
          <a:bodyPr wrap="square" lIns="0" tIns="0" rIns="0" bIns="0" rtlCol="0" anchor="t">
            <a:normAutofit/>
          </a:bodyPr>
          <a:lstStyle/>
          <a:p>
            <a:pPr marL="0" indent="0" algn="l">
              <a:buNone/>
            </a:pPr>
            <a:r>
              <a:rPr lang="en-US" sz="1170" dirty="0">
                <a:solidFill>
                  <a:srgbClr val="1A2A31"/>
                </a:solidFill>
                <a:latin typeface="Arial" pitchFamily="34" charset="0"/>
                <a:ea typeface="Arial" pitchFamily="34" charset="-122"/>
                <a:cs typeface="Arial" pitchFamily="34" charset="-120"/>
              </a:rPr>
              <a:t>RNA and splicing data</a:t>
            </a:r>
            <a:endParaRPr lang="en-US" sz="1170" dirty="0"/>
          </a:p>
        </p:txBody>
      </p:sp>
      <p:sp>
        <p:nvSpPr>
          <p:cNvPr id="85" name="Shape 17">
            <a:extLst>
              <a:ext uri="{FF2B5EF4-FFF2-40B4-BE49-F238E27FC236}">
                <a16:creationId xmlns:a16="http://schemas.microsoft.com/office/drawing/2014/main" id="{5B765FA2-ACFE-EB4E-AE76-5BF091DCC830}"/>
              </a:ext>
            </a:extLst>
          </p:cNvPr>
          <p:cNvSpPr/>
          <p:nvPr/>
        </p:nvSpPr>
        <p:spPr>
          <a:xfrm>
            <a:off x="594360" y="6007608"/>
            <a:ext cx="73152" cy="0"/>
          </a:xfrm>
          <a:prstGeom prst="line">
            <a:avLst/>
          </a:prstGeom>
          <a:noFill/>
          <a:ln w="13970">
            <a:solidFill>
              <a:srgbClr val="15697A"/>
            </a:solidFill>
            <a:prstDash val="solid"/>
          </a:ln>
        </p:spPr>
        <p:txBody>
          <a:bodyPr/>
          <a:lstStyle/>
          <a:p>
            <a:endParaRPr lang="en-US"/>
          </a:p>
        </p:txBody>
      </p:sp>
      <p:sp>
        <p:nvSpPr>
          <p:cNvPr id="87" name="Text 18">
            <a:extLst>
              <a:ext uri="{FF2B5EF4-FFF2-40B4-BE49-F238E27FC236}">
                <a16:creationId xmlns:a16="http://schemas.microsoft.com/office/drawing/2014/main" id="{E63DA1FF-FBC9-8C33-D762-6C9ADBB6E717}"/>
              </a:ext>
            </a:extLst>
          </p:cNvPr>
          <p:cNvSpPr/>
          <p:nvPr/>
        </p:nvSpPr>
        <p:spPr>
          <a:xfrm>
            <a:off x="758952" y="5879592"/>
            <a:ext cx="5550408" cy="228600"/>
          </a:xfrm>
          <a:prstGeom prst="rect">
            <a:avLst/>
          </a:prstGeom>
          <a:noFill/>
          <a:ln/>
        </p:spPr>
        <p:txBody>
          <a:bodyPr wrap="square" lIns="0" tIns="0" rIns="0" bIns="0" rtlCol="0" anchor="t">
            <a:normAutofit/>
          </a:bodyPr>
          <a:lstStyle/>
          <a:p>
            <a:pPr marL="0" indent="0" algn="l">
              <a:buNone/>
            </a:pPr>
            <a:r>
              <a:rPr lang="en-US" sz="1170" dirty="0">
                <a:solidFill>
                  <a:srgbClr val="1A2A31"/>
                </a:solidFill>
                <a:latin typeface="Arial" pitchFamily="34" charset="0"/>
                <a:ea typeface="Arial" pitchFamily="34" charset="-122"/>
                <a:cs typeface="Arial" pitchFamily="34" charset="-120"/>
              </a:rPr>
              <a:t>Functional studies</a:t>
            </a:r>
            <a:endParaRPr lang="en-US" sz="1170" dirty="0"/>
          </a:p>
        </p:txBody>
      </p:sp>
      <p:sp>
        <p:nvSpPr>
          <p:cNvPr id="89" name="Shape 19">
            <a:extLst>
              <a:ext uri="{FF2B5EF4-FFF2-40B4-BE49-F238E27FC236}">
                <a16:creationId xmlns:a16="http://schemas.microsoft.com/office/drawing/2014/main" id="{D5812BA2-35F1-7EDD-D42D-4868860C49AA}"/>
              </a:ext>
            </a:extLst>
          </p:cNvPr>
          <p:cNvSpPr/>
          <p:nvPr/>
        </p:nvSpPr>
        <p:spPr>
          <a:xfrm>
            <a:off x="594360" y="6281928"/>
            <a:ext cx="73152" cy="0"/>
          </a:xfrm>
          <a:prstGeom prst="line">
            <a:avLst/>
          </a:prstGeom>
          <a:noFill/>
          <a:ln w="13970">
            <a:solidFill>
              <a:srgbClr val="15697A"/>
            </a:solidFill>
            <a:prstDash val="solid"/>
          </a:ln>
        </p:spPr>
        <p:txBody>
          <a:bodyPr/>
          <a:lstStyle/>
          <a:p>
            <a:endParaRPr lang="en-US"/>
          </a:p>
        </p:txBody>
      </p:sp>
      <p:sp>
        <p:nvSpPr>
          <p:cNvPr id="91" name="Text 20">
            <a:extLst>
              <a:ext uri="{FF2B5EF4-FFF2-40B4-BE49-F238E27FC236}">
                <a16:creationId xmlns:a16="http://schemas.microsoft.com/office/drawing/2014/main" id="{0DD9E023-3F11-2175-5110-198460141BC7}"/>
              </a:ext>
            </a:extLst>
          </p:cNvPr>
          <p:cNvSpPr/>
          <p:nvPr/>
        </p:nvSpPr>
        <p:spPr>
          <a:xfrm>
            <a:off x="758952" y="6153912"/>
            <a:ext cx="5550408" cy="228600"/>
          </a:xfrm>
          <a:prstGeom prst="rect">
            <a:avLst/>
          </a:prstGeom>
          <a:noFill/>
          <a:ln/>
        </p:spPr>
        <p:txBody>
          <a:bodyPr wrap="square" lIns="0" tIns="0" rIns="0" bIns="0" rtlCol="0" anchor="t">
            <a:normAutofit/>
          </a:bodyPr>
          <a:lstStyle/>
          <a:p>
            <a:pPr marL="0" indent="0" algn="l">
              <a:buNone/>
            </a:pPr>
            <a:r>
              <a:rPr lang="en-US" sz="1170" dirty="0">
                <a:solidFill>
                  <a:srgbClr val="1A2A31"/>
                </a:solidFill>
                <a:latin typeface="Arial" pitchFamily="34" charset="0"/>
                <a:ea typeface="Arial" pitchFamily="34" charset="-122"/>
                <a:cs typeface="Arial" pitchFamily="34" charset="-120"/>
              </a:rPr>
              <a:t>Clinical and family data</a:t>
            </a:r>
            <a:endParaRPr lang="en-US" sz="1170" dirty="0"/>
          </a:p>
        </p:txBody>
      </p:sp>
      <p:sp>
        <p:nvSpPr>
          <p:cNvPr id="93" name="Text 21">
            <a:extLst>
              <a:ext uri="{FF2B5EF4-FFF2-40B4-BE49-F238E27FC236}">
                <a16:creationId xmlns:a16="http://schemas.microsoft.com/office/drawing/2014/main" id="{270299E5-0B87-4ACD-7440-56FFF4679E3E}"/>
              </a:ext>
            </a:extLst>
          </p:cNvPr>
          <p:cNvSpPr/>
          <p:nvPr/>
        </p:nvSpPr>
        <p:spPr>
          <a:xfrm>
            <a:off x="6629400" y="1508760"/>
            <a:ext cx="4983480" cy="164592"/>
          </a:xfrm>
          <a:prstGeom prst="rect">
            <a:avLst/>
          </a:prstGeom>
          <a:noFill/>
          <a:ln/>
        </p:spPr>
        <p:txBody>
          <a:bodyPr wrap="square" lIns="0" tIns="0" rIns="0" bIns="0" rtlCol="0" anchor="t">
            <a:normAutofit/>
          </a:bodyPr>
          <a:lstStyle/>
          <a:p>
            <a:pPr marL="0" indent="0" algn="l">
              <a:buNone/>
            </a:pPr>
            <a:r>
              <a:rPr lang="en-US" sz="770" b="1" kern="0" spc="110" dirty="0">
                <a:solidFill>
                  <a:srgbClr val="8A9BA1"/>
                </a:solidFill>
                <a:latin typeface="Arial" pitchFamily="34" charset="0"/>
                <a:ea typeface="Arial" pitchFamily="34" charset="-122"/>
                <a:cs typeface="Arial" pitchFamily="34" charset="-120"/>
              </a:rPr>
              <a:t>Five categories</a:t>
            </a:r>
            <a:endParaRPr lang="en-US" sz="770" dirty="0"/>
          </a:p>
        </p:txBody>
      </p:sp>
      <p:sp>
        <p:nvSpPr>
          <p:cNvPr id="95" name="Shape 22">
            <a:extLst>
              <a:ext uri="{FF2B5EF4-FFF2-40B4-BE49-F238E27FC236}">
                <a16:creationId xmlns:a16="http://schemas.microsoft.com/office/drawing/2014/main" id="{5810358C-C829-D95D-24C0-A7F7BB20C893}"/>
              </a:ext>
            </a:extLst>
          </p:cNvPr>
          <p:cNvSpPr/>
          <p:nvPr/>
        </p:nvSpPr>
        <p:spPr>
          <a:xfrm>
            <a:off x="6629400" y="1755648"/>
            <a:ext cx="4983480" cy="0"/>
          </a:xfrm>
          <a:prstGeom prst="line">
            <a:avLst/>
          </a:prstGeom>
          <a:noFill/>
          <a:ln w="12700">
            <a:solidFill>
              <a:srgbClr val="EBF0F1"/>
            </a:solidFill>
            <a:prstDash val="solid"/>
          </a:ln>
        </p:spPr>
        <p:txBody>
          <a:bodyPr/>
          <a:lstStyle/>
          <a:p>
            <a:endParaRPr lang="en-US"/>
          </a:p>
        </p:txBody>
      </p:sp>
      <p:sp>
        <p:nvSpPr>
          <p:cNvPr id="97" name="Text 23">
            <a:extLst>
              <a:ext uri="{FF2B5EF4-FFF2-40B4-BE49-F238E27FC236}">
                <a16:creationId xmlns:a16="http://schemas.microsoft.com/office/drawing/2014/main" id="{B933D47C-7C2F-1841-5C5E-2AF4156E54E4}"/>
              </a:ext>
            </a:extLst>
          </p:cNvPr>
          <p:cNvSpPr/>
          <p:nvPr/>
        </p:nvSpPr>
        <p:spPr>
          <a:xfrm>
            <a:off x="6629400" y="1929384"/>
            <a:ext cx="987552" cy="521208"/>
          </a:xfrm>
          <a:prstGeom prst="rect">
            <a:avLst/>
          </a:prstGeom>
          <a:solidFill>
            <a:srgbClr val="FFFFFF"/>
          </a:solidFill>
          <a:ln w="6350">
            <a:solidFill>
              <a:srgbClr val="DCE4E6"/>
            </a:solidFill>
          </a:ln>
        </p:spPr>
        <p:txBody>
          <a:bodyPr wrap="square" lIns="508" tIns="508" rIns="508" bIns="508" rtlCol="0" anchor="ctr">
            <a:normAutofit/>
          </a:bodyPr>
          <a:lstStyle/>
          <a:p>
            <a:pPr marL="0" indent="0" algn="ctr">
              <a:buNone/>
            </a:pPr>
            <a:r>
              <a:rPr lang="en-US" sz="820" dirty="0">
                <a:solidFill>
                  <a:srgbClr val="5B6E76"/>
                </a:solidFill>
                <a:latin typeface="Arial" pitchFamily="34" charset="0"/>
                <a:ea typeface="Arial" pitchFamily="34" charset="-122"/>
                <a:cs typeface="Arial" pitchFamily="34" charset="-120"/>
              </a:rPr>
              <a:t>Benign</a:t>
            </a:r>
            <a:endParaRPr lang="en-US" sz="820" dirty="0"/>
          </a:p>
        </p:txBody>
      </p:sp>
      <p:sp>
        <p:nvSpPr>
          <p:cNvPr id="99" name="Shape 24">
            <a:extLst>
              <a:ext uri="{FF2B5EF4-FFF2-40B4-BE49-F238E27FC236}">
                <a16:creationId xmlns:a16="http://schemas.microsoft.com/office/drawing/2014/main" id="{FAE218E6-727F-007E-17CE-8469EBF638AD}"/>
              </a:ext>
            </a:extLst>
          </p:cNvPr>
          <p:cNvSpPr/>
          <p:nvPr/>
        </p:nvSpPr>
        <p:spPr>
          <a:xfrm>
            <a:off x="6638544" y="1938528"/>
            <a:ext cx="969264" cy="54864"/>
          </a:xfrm>
          <a:prstGeom prst="rect">
            <a:avLst/>
          </a:prstGeom>
          <a:solidFill>
            <a:srgbClr val="4E8C6E"/>
          </a:solidFill>
          <a:ln w="12700">
            <a:solidFill>
              <a:srgbClr val="4E8C6E">
                <a:alpha val="0"/>
              </a:srgbClr>
            </a:solidFill>
            <a:prstDash val="solid"/>
          </a:ln>
        </p:spPr>
        <p:txBody>
          <a:bodyPr/>
          <a:lstStyle/>
          <a:p>
            <a:endParaRPr lang="en-US"/>
          </a:p>
        </p:txBody>
      </p:sp>
      <p:sp>
        <p:nvSpPr>
          <p:cNvPr id="101" name="Text 25">
            <a:extLst>
              <a:ext uri="{FF2B5EF4-FFF2-40B4-BE49-F238E27FC236}">
                <a16:creationId xmlns:a16="http://schemas.microsoft.com/office/drawing/2014/main" id="{3610B6A0-C9D0-35EB-BB80-47208205C114}"/>
              </a:ext>
            </a:extLst>
          </p:cNvPr>
          <p:cNvSpPr/>
          <p:nvPr/>
        </p:nvSpPr>
        <p:spPr>
          <a:xfrm>
            <a:off x="7626096" y="1929384"/>
            <a:ext cx="987552" cy="521208"/>
          </a:xfrm>
          <a:prstGeom prst="rect">
            <a:avLst/>
          </a:prstGeom>
          <a:solidFill>
            <a:srgbClr val="FFFFFF"/>
          </a:solidFill>
          <a:ln w="6350">
            <a:solidFill>
              <a:srgbClr val="DCE4E6"/>
            </a:solidFill>
          </a:ln>
        </p:spPr>
        <p:txBody>
          <a:bodyPr wrap="square" lIns="508" tIns="508" rIns="508" bIns="508" rtlCol="0" anchor="ctr">
            <a:normAutofit/>
          </a:bodyPr>
          <a:lstStyle/>
          <a:p>
            <a:pPr marL="0" indent="0" algn="ctr">
              <a:buNone/>
            </a:pPr>
            <a:r>
              <a:rPr lang="en-US" sz="820" dirty="0">
                <a:solidFill>
                  <a:srgbClr val="5B6E76"/>
                </a:solidFill>
                <a:latin typeface="Arial" pitchFamily="34" charset="0"/>
                <a:ea typeface="Arial" pitchFamily="34" charset="-122"/>
                <a:cs typeface="Arial" pitchFamily="34" charset="-120"/>
              </a:rPr>
              <a:t>Likely benign</a:t>
            </a:r>
            <a:endParaRPr lang="en-US" sz="820" dirty="0"/>
          </a:p>
        </p:txBody>
      </p:sp>
      <p:sp>
        <p:nvSpPr>
          <p:cNvPr id="103" name="Shape 26">
            <a:extLst>
              <a:ext uri="{FF2B5EF4-FFF2-40B4-BE49-F238E27FC236}">
                <a16:creationId xmlns:a16="http://schemas.microsoft.com/office/drawing/2014/main" id="{1368E1EF-6A4F-2E61-6457-8C9A910EDFA4}"/>
              </a:ext>
            </a:extLst>
          </p:cNvPr>
          <p:cNvSpPr/>
          <p:nvPr/>
        </p:nvSpPr>
        <p:spPr>
          <a:xfrm>
            <a:off x="7635240" y="1938528"/>
            <a:ext cx="969264" cy="54864"/>
          </a:xfrm>
          <a:prstGeom prst="rect">
            <a:avLst/>
          </a:prstGeom>
          <a:solidFill>
            <a:srgbClr val="8FB49E"/>
          </a:solidFill>
          <a:ln w="12700">
            <a:solidFill>
              <a:srgbClr val="8FB49E">
                <a:alpha val="0"/>
              </a:srgbClr>
            </a:solidFill>
            <a:prstDash val="solid"/>
          </a:ln>
        </p:spPr>
        <p:txBody>
          <a:bodyPr/>
          <a:lstStyle/>
          <a:p>
            <a:endParaRPr lang="en-US"/>
          </a:p>
        </p:txBody>
      </p:sp>
      <p:sp>
        <p:nvSpPr>
          <p:cNvPr id="105" name="Text 27">
            <a:extLst>
              <a:ext uri="{FF2B5EF4-FFF2-40B4-BE49-F238E27FC236}">
                <a16:creationId xmlns:a16="http://schemas.microsoft.com/office/drawing/2014/main" id="{FDEE95D8-BA13-972D-E4F6-4DE7E3CB2C50}"/>
              </a:ext>
            </a:extLst>
          </p:cNvPr>
          <p:cNvSpPr/>
          <p:nvPr/>
        </p:nvSpPr>
        <p:spPr>
          <a:xfrm>
            <a:off x="8622792" y="1929384"/>
            <a:ext cx="987552" cy="521208"/>
          </a:xfrm>
          <a:prstGeom prst="rect">
            <a:avLst/>
          </a:prstGeom>
          <a:solidFill>
            <a:srgbClr val="FFFFFF"/>
          </a:solidFill>
          <a:ln w="6350">
            <a:solidFill>
              <a:srgbClr val="DCE4E6"/>
            </a:solidFill>
          </a:ln>
        </p:spPr>
        <p:txBody>
          <a:bodyPr wrap="square" lIns="508" tIns="508" rIns="508" bIns="508" rtlCol="0" anchor="ctr">
            <a:normAutofit/>
          </a:bodyPr>
          <a:lstStyle/>
          <a:p>
            <a:pPr marL="0" indent="0" algn="ctr">
              <a:buNone/>
            </a:pPr>
            <a:r>
              <a:rPr lang="en-US" sz="820" dirty="0">
                <a:solidFill>
                  <a:srgbClr val="5B6E76"/>
                </a:solidFill>
                <a:latin typeface="Arial" pitchFamily="34" charset="0"/>
                <a:ea typeface="Arial" pitchFamily="34" charset="-122"/>
                <a:cs typeface="Arial" pitchFamily="34" charset="-120"/>
              </a:rPr>
              <a:t>Uncertain significance (VUS)</a:t>
            </a:r>
            <a:endParaRPr lang="en-US" sz="820" dirty="0"/>
          </a:p>
        </p:txBody>
      </p:sp>
      <p:sp>
        <p:nvSpPr>
          <p:cNvPr id="107" name="Shape 28">
            <a:extLst>
              <a:ext uri="{FF2B5EF4-FFF2-40B4-BE49-F238E27FC236}">
                <a16:creationId xmlns:a16="http://schemas.microsoft.com/office/drawing/2014/main" id="{76BFD258-E3FC-F370-9623-9993E10A7C91}"/>
              </a:ext>
            </a:extLst>
          </p:cNvPr>
          <p:cNvSpPr/>
          <p:nvPr/>
        </p:nvSpPr>
        <p:spPr>
          <a:xfrm>
            <a:off x="8631936" y="1938528"/>
            <a:ext cx="969264" cy="54864"/>
          </a:xfrm>
          <a:prstGeom prst="rect">
            <a:avLst/>
          </a:prstGeom>
          <a:solidFill>
            <a:srgbClr val="B9AE7C"/>
          </a:solidFill>
          <a:ln w="12700">
            <a:solidFill>
              <a:srgbClr val="B9AE7C">
                <a:alpha val="0"/>
              </a:srgbClr>
            </a:solidFill>
            <a:prstDash val="solid"/>
          </a:ln>
        </p:spPr>
        <p:txBody>
          <a:bodyPr/>
          <a:lstStyle/>
          <a:p>
            <a:endParaRPr lang="en-US"/>
          </a:p>
        </p:txBody>
      </p:sp>
      <p:sp>
        <p:nvSpPr>
          <p:cNvPr id="109" name="Text 29">
            <a:extLst>
              <a:ext uri="{FF2B5EF4-FFF2-40B4-BE49-F238E27FC236}">
                <a16:creationId xmlns:a16="http://schemas.microsoft.com/office/drawing/2014/main" id="{B20D89F4-44FA-AB8F-4ED3-C2828DD5666A}"/>
              </a:ext>
            </a:extLst>
          </p:cNvPr>
          <p:cNvSpPr/>
          <p:nvPr/>
        </p:nvSpPr>
        <p:spPr>
          <a:xfrm>
            <a:off x="9619488" y="1929384"/>
            <a:ext cx="987552" cy="521208"/>
          </a:xfrm>
          <a:prstGeom prst="rect">
            <a:avLst/>
          </a:prstGeom>
          <a:solidFill>
            <a:srgbClr val="FFFFFF"/>
          </a:solidFill>
          <a:ln w="6350">
            <a:solidFill>
              <a:srgbClr val="DCE4E6"/>
            </a:solidFill>
          </a:ln>
        </p:spPr>
        <p:txBody>
          <a:bodyPr wrap="square" lIns="508" tIns="508" rIns="508" bIns="508" rtlCol="0" anchor="ctr">
            <a:normAutofit/>
          </a:bodyPr>
          <a:lstStyle/>
          <a:p>
            <a:pPr marL="0" indent="0" algn="ctr">
              <a:buNone/>
            </a:pPr>
            <a:r>
              <a:rPr lang="en-US" sz="820" dirty="0">
                <a:solidFill>
                  <a:srgbClr val="5B6E76"/>
                </a:solidFill>
                <a:latin typeface="Arial" pitchFamily="34" charset="0"/>
                <a:ea typeface="Arial" pitchFamily="34" charset="-122"/>
                <a:cs typeface="Arial" pitchFamily="34" charset="-120"/>
              </a:rPr>
              <a:t>Likely pathogenic</a:t>
            </a:r>
            <a:endParaRPr lang="en-US" sz="820" dirty="0"/>
          </a:p>
        </p:txBody>
      </p:sp>
      <p:sp>
        <p:nvSpPr>
          <p:cNvPr id="111" name="Shape 30">
            <a:extLst>
              <a:ext uri="{FF2B5EF4-FFF2-40B4-BE49-F238E27FC236}">
                <a16:creationId xmlns:a16="http://schemas.microsoft.com/office/drawing/2014/main" id="{9A35CD94-47ED-9184-F015-7D32A6FD5320}"/>
              </a:ext>
            </a:extLst>
          </p:cNvPr>
          <p:cNvSpPr/>
          <p:nvPr/>
        </p:nvSpPr>
        <p:spPr>
          <a:xfrm>
            <a:off x="9628632" y="1938528"/>
            <a:ext cx="969264" cy="54864"/>
          </a:xfrm>
          <a:prstGeom prst="rect">
            <a:avLst/>
          </a:prstGeom>
          <a:solidFill>
            <a:srgbClr val="C79A8C"/>
          </a:solidFill>
          <a:ln w="12700">
            <a:solidFill>
              <a:srgbClr val="C79A8C">
                <a:alpha val="0"/>
              </a:srgbClr>
            </a:solidFill>
            <a:prstDash val="solid"/>
          </a:ln>
        </p:spPr>
        <p:txBody>
          <a:bodyPr/>
          <a:lstStyle/>
          <a:p>
            <a:endParaRPr lang="en-US"/>
          </a:p>
        </p:txBody>
      </p:sp>
      <p:sp>
        <p:nvSpPr>
          <p:cNvPr id="113" name="Text 31">
            <a:extLst>
              <a:ext uri="{FF2B5EF4-FFF2-40B4-BE49-F238E27FC236}">
                <a16:creationId xmlns:a16="http://schemas.microsoft.com/office/drawing/2014/main" id="{8ACEE66D-BA21-7E88-8348-0020BC4C86A7}"/>
              </a:ext>
            </a:extLst>
          </p:cNvPr>
          <p:cNvSpPr/>
          <p:nvPr/>
        </p:nvSpPr>
        <p:spPr>
          <a:xfrm>
            <a:off x="10616184" y="1929384"/>
            <a:ext cx="987552" cy="521208"/>
          </a:xfrm>
          <a:prstGeom prst="rect">
            <a:avLst/>
          </a:prstGeom>
          <a:solidFill>
            <a:srgbClr val="FFFFFF"/>
          </a:solidFill>
          <a:ln w="6350">
            <a:solidFill>
              <a:srgbClr val="DCE4E6"/>
            </a:solidFill>
          </a:ln>
        </p:spPr>
        <p:txBody>
          <a:bodyPr wrap="square" lIns="508" tIns="508" rIns="508" bIns="508" rtlCol="0" anchor="ctr">
            <a:normAutofit/>
          </a:bodyPr>
          <a:lstStyle/>
          <a:p>
            <a:pPr marL="0" indent="0" algn="ctr">
              <a:buNone/>
            </a:pPr>
            <a:r>
              <a:rPr lang="en-US" sz="820" dirty="0">
                <a:solidFill>
                  <a:srgbClr val="5B6E76"/>
                </a:solidFill>
                <a:latin typeface="Arial" pitchFamily="34" charset="0"/>
                <a:ea typeface="Arial" pitchFamily="34" charset="-122"/>
                <a:cs typeface="Arial" pitchFamily="34" charset="-120"/>
              </a:rPr>
              <a:t>Pathogenic</a:t>
            </a:r>
            <a:endParaRPr lang="en-US" sz="820" dirty="0"/>
          </a:p>
        </p:txBody>
      </p:sp>
      <p:sp>
        <p:nvSpPr>
          <p:cNvPr id="115" name="Shape 32">
            <a:extLst>
              <a:ext uri="{FF2B5EF4-FFF2-40B4-BE49-F238E27FC236}">
                <a16:creationId xmlns:a16="http://schemas.microsoft.com/office/drawing/2014/main" id="{7376EAEB-5200-5314-393A-EAF051150691}"/>
              </a:ext>
            </a:extLst>
          </p:cNvPr>
          <p:cNvSpPr/>
          <p:nvPr/>
        </p:nvSpPr>
        <p:spPr>
          <a:xfrm>
            <a:off x="10625328" y="1938528"/>
            <a:ext cx="969264" cy="54864"/>
          </a:xfrm>
          <a:prstGeom prst="rect">
            <a:avLst/>
          </a:prstGeom>
          <a:solidFill>
            <a:srgbClr val="B0554A"/>
          </a:solidFill>
          <a:ln w="12700">
            <a:solidFill>
              <a:srgbClr val="B0554A">
                <a:alpha val="0"/>
              </a:srgbClr>
            </a:solidFill>
            <a:prstDash val="solid"/>
          </a:ln>
        </p:spPr>
        <p:txBody>
          <a:bodyPr/>
          <a:lstStyle/>
          <a:p>
            <a:endParaRPr lang="en-US"/>
          </a:p>
        </p:txBody>
      </p:sp>
      <p:sp>
        <p:nvSpPr>
          <p:cNvPr id="117" name="Text 33">
            <a:extLst>
              <a:ext uri="{FF2B5EF4-FFF2-40B4-BE49-F238E27FC236}">
                <a16:creationId xmlns:a16="http://schemas.microsoft.com/office/drawing/2014/main" id="{EC838112-382F-0CEB-F88B-F17BAA437E52}"/>
              </a:ext>
            </a:extLst>
          </p:cNvPr>
          <p:cNvSpPr/>
          <p:nvPr/>
        </p:nvSpPr>
        <p:spPr>
          <a:xfrm>
            <a:off x="6629400" y="2743200"/>
            <a:ext cx="4983480" cy="164592"/>
          </a:xfrm>
          <a:prstGeom prst="rect">
            <a:avLst/>
          </a:prstGeom>
          <a:noFill/>
          <a:ln/>
        </p:spPr>
        <p:txBody>
          <a:bodyPr wrap="square" lIns="0" tIns="0" rIns="0" bIns="0" rtlCol="0" anchor="t">
            <a:normAutofit/>
          </a:bodyPr>
          <a:lstStyle/>
          <a:p>
            <a:pPr marL="0" indent="0" algn="l">
              <a:buNone/>
            </a:pPr>
            <a:r>
              <a:rPr lang="en-US" sz="770" b="1" kern="0" spc="110" dirty="0">
                <a:solidFill>
                  <a:srgbClr val="8A9BA1"/>
                </a:solidFill>
                <a:latin typeface="Arial" pitchFamily="34" charset="0"/>
                <a:cs typeface="Arial" pitchFamily="34" charset="-120"/>
              </a:rPr>
              <a:t>Why classification is challenging !	</a:t>
            </a:r>
            <a:endParaRPr lang="en-US" sz="770" dirty="0"/>
          </a:p>
        </p:txBody>
      </p:sp>
      <p:sp>
        <p:nvSpPr>
          <p:cNvPr id="119" name="Shape 34">
            <a:extLst>
              <a:ext uri="{FF2B5EF4-FFF2-40B4-BE49-F238E27FC236}">
                <a16:creationId xmlns:a16="http://schemas.microsoft.com/office/drawing/2014/main" id="{CB0F0ABB-1563-555A-4F18-5D46196B3FB2}"/>
              </a:ext>
            </a:extLst>
          </p:cNvPr>
          <p:cNvSpPr/>
          <p:nvPr/>
        </p:nvSpPr>
        <p:spPr>
          <a:xfrm>
            <a:off x="6629400" y="2990088"/>
            <a:ext cx="4983480" cy="0"/>
          </a:xfrm>
          <a:prstGeom prst="line">
            <a:avLst/>
          </a:prstGeom>
          <a:noFill/>
          <a:ln w="12700">
            <a:solidFill>
              <a:srgbClr val="EBF0F1"/>
            </a:solidFill>
            <a:prstDash val="solid"/>
          </a:ln>
        </p:spPr>
        <p:txBody>
          <a:bodyPr/>
          <a:lstStyle/>
          <a:p>
            <a:endParaRPr lang="en-US"/>
          </a:p>
        </p:txBody>
      </p:sp>
      <p:sp>
        <p:nvSpPr>
          <p:cNvPr id="121" name="Text 35">
            <a:extLst>
              <a:ext uri="{FF2B5EF4-FFF2-40B4-BE49-F238E27FC236}">
                <a16:creationId xmlns:a16="http://schemas.microsoft.com/office/drawing/2014/main" id="{167E173C-288F-A9E2-C28B-8FDED55C84F8}"/>
              </a:ext>
            </a:extLst>
          </p:cNvPr>
          <p:cNvSpPr/>
          <p:nvPr/>
        </p:nvSpPr>
        <p:spPr>
          <a:xfrm>
            <a:off x="6629400" y="3145536"/>
            <a:ext cx="4983480" cy="1014984"/>
          </a:xfrm>
          <a:prstGeom prst="rect">
            <a:avLst/>
          </a:prstGeom>
          <a:solidFill>
            <a:srgbClr val="F5F8F8"/>
          </a:solidFill>
          <a:ln w="9525">
            <a:solidFill>
              <a:srgbClr val="DCE4E6"/>
            </a:solidFill>
          </a:ln>
        </p:spPr>
        <p:txBody>
          <a:bodyPr wrap="square" lIns="1778" tIns="1778" rIns="1778" bIns="1778" rtlCol="0" anchor="ctr">
            <a:normAutofit/>
          </a:bodyPr>
          <a:lstStyle/>
          <a:p>
            <a:pPr algn="ctr"/>
            <a:r>
              <a:rPr lang="en-US" sz="1100" dirty="0">
                <a:solidFill>
                  <a:schemeClr val="tx1">
                    <a:lumMod val="65000"/>
                    <a:lumOff val="35000"/>
                  </a:schemeClr>
                </a:solidFill>
                <a:latin typeface="Arial" panose="020B0604020202020204" pitchFamily="34" charset="0"/>
                <a:cs typeface="Arial" panose="020B0604020202020204" pitchFamily="34" charset="0"/>
              </a:rPr>
              <a:t>Variant classification can be time-consuming and requires substantial expert knowledge. Relevant evidence is distributed across databases, prediction tools and scientific publications, and individual criteria must be applied according to complex, often gene-specific rules. Some criteria can be evaluated computationally, while others still require manual expert review</a:t>
            </a:r>
            <a:r>
              <a:rPr lang="en-US" sz="1100" dirty="0">
                <a:latin typeface="Arial" panose="020B0604020202020204" pitchFamily="34" charset="0"/>
                <a:cs typeface="Arial" panose="020B0604020202020204" pitchFamily="34" charset="0"/>
              </a:rPr>
              <a:t>.</a:t>
            </a:r>
          </a:p>
        </p:txBody>
      </p:sp>
      <p:sp>
        <p:nvSpPr>
          <p:cNvPr id="123" name="Text 36">
            <a:extLst>
              <a:ext uri="{FF2B5EF4-FFF2-40B4-BE49-F238E27FC236}">
                <a16:creationId xmlns:a16="http://schemas.microsoft.com/office/drawing/2014/main" id="{9CE347C0-45E8-E5B6-BA00-B5B4A9B4F555}"/>
              </a:ext>
            </a:extLst>
          </p:cNvPr>
          <p:cNvSpPr/>
          <p:nvPr/>
        </p:nvSpPr>
        <p:spPr>
          <a:xfrm>
            <a:off x="6629400" y="4526280"/>
            <a:ext cx="4983480" cy="164592"/>
          </a:xfrm>
          <a:prstGeom prst="rect">
            <a:avLst/>
          </a:prstGeom>
          <a:noFill/>
          <a:ln/>
        </p:spPr>
        <p:txBody>
          <a:bodyPr wrap="square" lIns="0" tIns="0" rIns="0" bIns="0" rtlCol="0" anchor="t">
            <a:normAutofit/>
          </a:bodyPr>
          <a:lstStyle/>
          <a:p>
            <a:pPr marL="0" indent="0" algn="l">
              <a:buNone/>
            </a:pPr>
            <a:r>
              <a:rPr lang="en-US" sz="770" b="1" kern="0" spc="110" dirty="0">
                <a:solidFill>
                  <a:srgbClr val="8A9BA1"/>
                </a:solidFill>
                <a:latin typeface="Arial" pitchFamily="34" charset="0"/>
                <a:ea typeface="Arial" pitchFamily="34" charset="-122"/>
                <a:cs typeface="Arial" pitchFamily="34" charset="-120"/>
              </a:rPr>
              <a:t>Basic principle</a:t>
            </a:r>
            <a:endParaRPr lang="en-US" sz="770" dirty="0"/>
          </a:p>
        </p:txBody>
      </p:sp>
      <p:sp>
        <p:nvSpPr>
          <p:cNvPr id="125" name="Shape 37">
            <a:extLst>
              <a:ext uri="{FF2B5EF4-FFF2-40B4-BE49-F238E27FC236}">
                <a16:creationId xmlns:a16="http://schemas.microsoft.com/office/drawing/2014/main" id="{E3329D3B-8EA8-4E80-7380-83BC180902F9}"/>
              </a:ext>
            </a:extLst>
          </p:cNvPr>
          <p:cNvSpPr/>
          <p:nvPr/>
        </p:nvSpPr>
        <p:spPr>
          <a:xfrm>
            <a:off x="6629400" y="4773168"/>
            <a:ext cx="4983480" cy="0"/>
          </a:xfrm>
          <a:prstGeom prst="line">
            <a:avLst/>
          </a:prstGeom>
          <a:noFill/>
          <a:ln w="12700">
            <a:solidFill>
              <a:srgbClr val="EBF0F1"/>
            </a:solidFill>
            <a:prstDash val="solid"/>
          </a:ln>
        </p:spPr>
        <p:txBody>
          <a:bodyPr/>
          <a:lstStyle/>
          <a:p>
            <a:endParaRPr lang="en-US"/>
          </a:p>
        </p:txBody>
      </p:sp>
      <p:sp>
        <p:nvSpPr>
          <p:cNvPr id="127" name="Text 38">
            <a:extLst>
              <a:ext uri="{FF2B5EF4-FFF2-40B4-BE49-F238E27FC236}">
                <a16:creationId xmlns:a16="http://schemas.microsoft.com/office/drawing/2014/main" id="{0DEE4B7F-659E-36A7-5F71-74C7F9C35F07}"/>
              </a:ext>
            </a:extLst>
          </p:cNvPr>
          <p:cNvSpPr/>
          <p:nvPr/>
        </p:nvSpPr>
        <p:spPr>
          <a:xfrm>
            <a:off x="6629400" y="4983480"/>
            <a:ext cx="1074420" cy="384048"/>
          </a:xfrm>
          <a:prstGeom prst="rect">
            <a:avLst/>
          </a:prstGeom>
          <a:solidFill>
            <a:srgbClr val="F5F8F8"/>
          </a:solidFill>
          <a:ln w="8890">
            <a:solidFill>
              <a:srgbClr val="DCE4E6"/>
            </a:solidFill>
          </a:ln>
        </p:spPr>
        <p:txBody>
          <a:bodyPr wrap="square" lIns="508" tIns="508" rIns="508" bIns="508" rtlCol="0" anchor="ctr">
            <a:normAutofit/>
          </a:bodyPr>
          <a:lstStyle/>
          <a:p>
            <a:pPr marL="0" indent="0" algn="ctr">
              <a:buNone/>
            </a:pPr>
            <a:r>
              <a:rPr lang="en-US" sz="960" dirty="0">
                <a:solidFill>
                  <a:srgbClr val="1A2A31"/>
                </a:solidFill>
                <a:latin typeface="Arial" pitchFamily="34" charset="0"/>
                <a:ea typeface="Arial" pitchFamily="34" charset="-122"/>
                <a:cs typeface="Arial" pitchFamily="34" charset="-120"/>
              </a:rPr>
              <a:t>Variant</a:t>
            </a:r>
            <a:endParaRPr lang="en-US" sz="960" dirty="0"/>
          </a:p>
        </p:txBody>
      </p:sp>
      <p:sp>
        <p:nvSpPr>
          <p:cNvPr id="129" name="Text 39">
            <a:extLst>
              <a:ext uri="{FF2B5EF4-FFF2-40B4-BE49-F238E27FC236}">
                <a16:creationId xmlns:a16="http://schemas.microsoft.com/office/drawing/2014/main" id="{E0FDD9D9-E396-0932-CA3A-74832AC3B0AF}"/>
              </a:ext>
            </a:extLst>
          </p:cNvPr>
          <p:cNvSpPr/>
          <p:nvPr/>
        </p:nvSpPr>
        <p:spPr>
          <a:xfrm>
            <a:off x="7740396" y="5084064"/>
            <a:ext cx="164592" cy="128016"/>
          </a:xfrm>
          <a:prstGeom prst="rect">
            <a:avLst/>
          </a:prstGeom>
          <a:noFill/>
          <a:ln/>
        </p:spPr>
        <p:txBody>
          <a:bodyPr wrap="square" lIns="0" tIns="0" rIns="0" bIns="0" rtlCol="0" anchor="t">
            <a:normAutofit fontScale="92500" lnSpcReduction="20000"/>
          </a:bodyPr>
          <a:lstStyle/>
          <a:p>
            <a:pPr marL="0" indent="0" algn="ctr">
              <a:buNone/>
            </a:pPr>
            <a:r>
              <a:rPr lang="en-US" sz="1100" dirty="0">
                <a:solidFill>
                  <a:srgbClr val="8A9BA1"/>
                </a:solidFill>
                <a:latin typeface="Arial" pitchFamily="34" charset="0"/>
                <a:ea typeface="Arial" pitchFamily="34" charset="-122"/>
                <a:cs typeface="Arial" pitchFamily="34" charset="-120"/>
              </a:rPr>
              <a:t>→</a:t>
            </a:r>
            <a:endParaRPr lang="en-US" sz="1100" dirty="0"/>
          </a:p>
        </p:txBody>
      </p:sp>
      <p:sp>
        <p:nvSpPr>
          <p:cNvPr id="131" name="Text 40">
            <a:extLst>
              <a:ext uri="{FF2B5EF4-FFF2-40B4-BE49-F238E27FC236}">
                <a16:creationId xmlns:a16="http://schemas.microsoft.com/office/drawing/2014/main" id="{E91EBF7D-4A8B-DA31-750B-EF26A2A65727}"/>
              </a:ext>
            </a:extLst>
          </p:cNvPr>
          <p:cNvSpPr/>
          <p:nvPr/>
        </p:nvSpPr>
        <p:spPr>
          <a:xfrm>
            <a:off x="7932420" y="4983480"/>
            <a:ext cx="1074420" cy="384048"/>
          </a:xfrm>
          <a:prstGeom prst="rect">
            <a:avLst/>
          </a:prstGeom>
          <a:solidFill>
            <a:srgbClr val="F5F8F8"/>
          </a:solidFill>
          <a:ln w="8890">
            <a:solidFill>
              <a:srgbClr val="DCE4E6"/>
            </a:solidFill>
          </a:ln>
        </p:spPr>
        <p:txBody>
          <a:bodyPr wrap="square" lIns="508" tIns="508" rIns="508" bIns="508" rtlCol="0" anchor="ctr">
            <a:normAutofit/>
          </a:bodyPr>
          <a:lstStyle/>
          <a:p>
            <a:pPr marL="0" indent="0" algn="ctr">
              <a:buNone/>
            </a:pPr>
            <a:r>
              <a:rPr lang="en-US" sz="960" dirty="0">
                <a:solidFill>
                  <a:srgbClr val="1A2A31"/>
                </a:solidFill>
                <a:latin typeface="Arial" pitchFamily="34" charset="0"/>
                <a:ea typeface="Arial" pitchFamily="34" charset="-122"/>
                <a:cs typeface="Arial" pitchFamily="34" charset="-120"/>
              </a:rPr>
              <a:t>Evidence</a:t>
            </a:r>
            <a:endParaRPr lang="en-US" sz="960" dirty="0"/>
          </a:p>
        </p:txBody>
      </p:sp>
      <p:sp>
        <p:nvSpPr>
          <p:cNvPr id="133" name="Text 41">
            <a:extLst>
              <a:ext uri="{FF2B5EF4-FFF2-40B4-BE49-F238E27FC236}">
                <a16:creationId xmlns:a16="http://schemas.microsoft.com/office/drawing/2014/main" id="{555E4D17-A8A3-EF79-97EE-11033A09B547}"/>
              </a:ext>
            </a:extLst>
          </p:cNvPr>
          <p:cNvSpPr/>
          <p:nvPr/>
        </p:nvSpPr>
        <p:spPr>
          <a:xfrm>
            <a:off x="9043416" y="5084064"/>
            <a:ext cx="164592" cy="128016"/>
          </a:xfrm>
          <a:prstGeom prst="rect">
            <a:avLst/>
          </a:prstGeom>
          <a:noFill/>
          <a:ln/>
        </p:spPr>
        <p:txBody>
          <a:bodyPr wrap="square" lIns="0" tIns="0" rIns="0" bIns="0" rtlCol="0" anchor="t">
            <a:normAutofit fontScale="92500" lnSpcReduction="20000"/>
          </a:bodyPr>
          <a:lstStyle/>
          <a:p>
            <a:pPr marL="0" indent="0" algn="ctr">
              <a:buNone/>
            </a:pPr>
            <a:r>
              <a:rPr lang="en-US" sz="1100" dirty="0">
                <a:solidFill>
                  <a:srgbClr val="8A9BA1"/>
                </a:solidFill>
                <a:latin typeface="Arial" pitchFamily="34" charset="0"/>
                <a:ea typeface="Arial" pitchFamily="34" charset="-122"/>
                <a:cs typeface="Arial" pitchFamily="34" charset="-120"/>
              </a:rPr>
              <a:t>→</a:t>
            </a:r>
            <a:endParaRPr lang="en-US" sz="1100" dirty="0"/>
          </a:p>
        </p:txBody>
      </p:sp>
      <p:sp>
        <p:nvSpPr>
          <p:cNvPr id="135" name="Text 42">
            <a:extLst>
              <a:ext uri="{FF2B5EF4-FFF2-40B4-BE49-F238E27FC236}">
                <a16:creationId xmlns:a16="http://schemas.microsoft.com/office/drawing/2014/main" id="{7C5A22B9-4B68-BE55-3B3D-1EF6235C51BC}"/>
              </a:ext>
            </a:extLst>
          </p:cNvPr>
          <p:cNvSpPr/>
          <p:nvPr/>
        </p:nvSpPr>
        <p:spPr>
          <a:xfrm>
            <a:off x="9235440" y="4983480"/>
            <a:ext cx="1074420" cy="384048"/>
          </a:xfrm>
          <a:prstGeom prst="rect">
            <a:avLst/>
          </a:prstGeom>
          <a:solidFill>
            <a:srgbClr val="F5F8F8"/>
          </a:solidFill>
          <a:ln w="8890">
            <a:solidFill>
              <a:srgbClr val="DCE4E6"/>
            </a:solidFill>
          </a:ln>
        </p:spPr>
        <p:txBody>
          <a:bodyPr wrap="square" lIns="508" tIns="508" rIns="508" bIns="508" rtlCol="0" anchor="ctr">
            <a:normAutofit/>
          </a:bodyPr>
          <a:lstStyle/>
          <a:p>
            <a:pPr marL="0" indent="0" algn="ctr">
              <a:buNone/>
            </a:pPr>
            <a:r>
              <a:rPr lang="en-US" sz="960" dirty="0">
                <a:solidFill>
                  <a:srgbClr val="1A2A31"/>
                </a:solidFill>
                <a:latin typeface="Arial" pitchFamily="34" charset="0"/>
                <a:ea typeface="Arial" pitchFamily="34" charset="-122"/>
                <a:cs typeface="Arial" pitchFamily="34" charset="-120"/>
              </a:rPr>
              <a:t>Criteria</a:t>
            </a:r>
            <a:endParaRPr lang="en-US" sz="960" dirty="0"/>
          </a:p>
        </p:txBody>
      </p:sp>
      <p:sp>
        <p:nvSpPr>
          <p:cNvPr id="137" name="Text 43">
            <a:extLst>
              <a:ext uri="{FF2B5EF4-FFF2-40B4-BE49-F238E27FC236}">
                <a16:creationId xmlns:a16="http://schemas.microsoft.com/office/drawing/2014/main" id="{31D3D84A-3135-438E-D6A1-85690941B6DD}"/>
              </a:ext>
            </a:extLst>
          </p:cNvPr>
          <p:cNvSpPr/>
          <p:nvPr/>
        </p:nvSpPr>
        <p:spPr>
          <a:xfrm>
            <a:off x="10346436" y="5084064"/>
            <a:ext cx="164592" cy="128016"/>
          </a:xfrm>
          <a:prstGeom prst="rect">
            <a:avLst/>
          </a:prstGeom>
          <a:noFill/>
          <a:ln/>
        </p:spPr>
        <p:txBody>
          <a:bodyPr wrap="square" lIns="0" tIns="0" rIns="0" bIns="0" rtlCol="0" anchor="t">
            <a:normAutofit fontScale="92500" lnSpcReduction="20000"/>
          </a:bodyPr>
          <a:lstStyle/>
          <a:p>
            <a:pPr marL="0" indent="0" algn="ctr">
              <a:buNone/>
            </a:pPr>
            <a:r>
              <a:rPr lang="en-US" sz="1100" dirty="0">
                <a:solidFill>
                  <a:srgbClr val="8A9BA1"/>
                </a:solidFill>
                <a:latin typeface="Arial" pitchFamily="34" charset="0"/>
                <a:ea typeface="Arial" pitchFamily="34" charset="-122"/>
                <a:cs typeface="Arial" pitchFamily="34" charset="-120"/>
              </a:rPr>
              <a:t>→</a:t>
            </a:r>
            <a:endParaRPr lang="en-US" sz="1100" dirty="0"/>
          </a:p>
        </p:txBody>
      </p:sp>
      <p:sp>
        <p:nvSpPr>
          <p:cNvPr id="139" name="Text 44">
            <a:extLst>
              <a:ext uri="{FF2B5EF4-FFF2-40B4-BE49-F238E27FC236}">
                <a16:creationId xmlns:a16="http://schemas.microsoft.com/office/drawing/2014/main" id="{D5CCA439-8C58-0319-D7A4-9AA8D9AE2078}"/>
              </a:ext>
            </a:extLst>
          </p:cNvPr>
          <p:cNvSpPr/>
          <p:nvPr/>
        </p:nvSpPr>
        <p:spPr>
          <a:xfrm>
            <a:off x="10538460" y="4983480"/>
            <a:ext cx="1074420" cy="384048"/>
          </a:xfrm>
          <a:prstGeom prst="rect">
            <a:avLst/>
          </a:prstGeom>
          <a:solidFill>
            <a:srgbClr val="15697A"/>
          </a:solidFill>
          <a:ln w="8890">
            <a:solidFill>
              <a:srgbClr val="15697A"/>
            </a:solidFill>
          </a:ln>
        </p:spPr>
        <p:txBody>
          <a:bodyPr wrap="square" lIns="508" tIns="508" rIns="508" bIns="508" rtlCol="0" anchor="ctr">
            <a:normAutofit/>
          </a:bodyPr>
          <a:lstStyle/>
          <a:p>
            <a:pPr marL="0" indent="0" algn="ctr">
              <a:buNone/>
            </a:pPr>
            <a:r>
              <a:rPr lang="en-US" sz="960" b="1" dirty="0">
                <a:solidFill>
                  <a:srgbClr val="FFFFFF"/>
                </a:solidFill>
                <a:latin typeface="Arial" pitchFamily="34" charset="0"/>
                <a:ea typeface="Arial" pitchFamily="34" charset="-122"/>
                <a:cs typeface="Arial" pitchFamily="34" charset="-120"/>
              </a:rPr>
              <a:t>Classification</a:t>
            </a:r>
            <a:endParaRPr lang="en-US" sz="960" dirty="0"/>
          </a:p>
        </p:txBody>
      </p:sp>
    </p:spTree>
    <p:extLst>
      <p:ext uri="{BB962C8B-B14F-4D97-AF65-F5344CB8AC3E}">
        <p14:creationId xmlns:p14="http://schemas.microsoft.com/office/powerpoint/2010/main" val="668916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0">
            <a:extLst>
              <a:ext uri="{FF2B5EF4-FFF2-40B4-BE49-F238E27FC236}">
                <a16:creationId xmlns:a16="http://schemas.microsoft.com/office/drawing/2014/main" id="{D266EDD7-A3B6-A1D2-B68F-F96C5C9B2A5B}"/>
              </a:ext>
            </a:extLst>
          </p:cNvPr>
          <p:cNvSpPr/>
          <p:nvPr/>
        </p:nvSpPr>
        <p:spPr>
          <a:xfrm>
            <a:off x="502920" y="329184"/>
            <a:ext cx="1463040" cy="164592"/>
          </a:xfrm>
          <a:prstGeom prst="rect">
            <a:avLst/>
          </a:prstGeom>
          <a:noFill/>
          <a:ln/>
        </p:spPr>
        <p:txBody>
          <a:bodyPr wrap="square" lIns="0" tIns="0" rIns="0" bIns="0" rtlCol="0" anchor="t">
            <a:normAutofit/>
          </a:bodyPr>
          <a:lstStyle/>
          <a:p>
            <a:pPr marL="0" indent="0" algn="l">
              <a:buNone/>
            </a:pPr>
            <a:r>
              <a:rPr lang="en-US" sz="750" kern="0" spc="120" dirty="0">
                <a:solidFill>
                  <a:srgbClr val="8A9BA1"/>
                </a:solidFill>
                <a:latin typeface="Courier New" pitchFamily="34" charset="0"/>
                <a:ea typeface="Courier New" pitchFamily="34" charset="-122"/>
                <a:cs typeface="Courier New" pitchFamily="34" charset="-120"/>
              </a:rPr>
              <a:t>Slide </a:t>
            </a:r>
            <a:r>
              <a:rPr lang="cs-CZ" sz="750" kern="0" spc="120" dirty="0">
                <a:solidFill>
                  <a:srgbClr val="8A9BA1"/>
                </a:solidFill>
                <a:latin typeface="Courier New" pitchFamily="34" charset="0"/>
                <a:ea typeface="Courier New" pitchFamily="34" charset="-122"/>
                <a:cs typeface="Courier New" pitchFamily="34" charset="-120"/>
              </a:rPr>
              <a:t>3</a:t>
            </a:r>
            <a:endParaRPr lang="en-US" sz="750" dirty="0"/>
          </a:p>
        </p:txBody>
      </p:sp>
      <p:sp>
        <p:nvSpPr>
          <p:cNvPr id="36" name="Text 1">
            <a:extLst>
              <a:ext uri="{FF2B5EF4-FFF2-40B4-BE49-F238E27FC236}">
                <a16:creationId xmlns:a16="http://schemas.microsoft.com/office/drawing/2014/main" id="{623D1D15-597F-0C95-BFA5-66C7EF1322A1}"/>
              </a:ext>
            </a:extLst>
          </p:cNvPr>
          <p:cNvSpPr/>
          <p:nvPr/>
        </p:nvSpPr>
        <p:spPr>
          <a:xfrm>
            <a:off x="502920" y="566928"/>
            <a:ext cx="6400800" cy="530352"/>
          </a:xfrm>
          <a:prstGeom prst="rect">
            <a:avLst/>
          </a:prstGeom>
          <a:noFill/>
          <a:ln/>
        </p:spPr>
        <p:txBody>
          <a:bodyPr wrap="square" lIns="0" tIns="0" rIns="0" bIns="0" rtlCol="0" anchor="t">
            <a:normAutofit/>
          </a:bodyPr>
          <a:lstStyle/>
          <a:p>
            <a:pPr marL="0" indent="0" algn="l">
              <a:buNone/>
            </a:pPr>
            <a:r>
              <a:rPr lang="en-US" sz="2750" dirty="0">
                <a:solidFill>
                  <a:srgbClr val="1A2A31"/>
                </a:solidFill>
                <a:latin typeface="Georgia" pitchFamily="34" charset="0"/>
                <a:ea typeface="Georgia" pitchFamily="34" charset="-122"/>
                <a:cs typeface="Georgia" pitchFamily="34" charset="-120"/>
              </a:rPr>
              <a:t>ARIANE</a:t>
            </a:r>
            <a:endParaRPr lang="en-US" sz="2750" dirty="0"/>
          </a:p>
        </p:txBody>
      </p:sp>
      <p:sp>
        <p:nvSpPr>
          <p:cNvPr id="38" name="Shape 2">
            <a:extLst>
              <a:ext uri="{FF2B5EF4-FFF2-40B4-BE49-F238E27FC236}">
                <a16:creationId xmlns:a16="http://schemas.microsoft.com/office/drawing/2014/main" id="{34BD6856-54B1-ACA8-45BA-E747E23D7B27}"/>
              </a:ext>
            </a:extLst>
          </p:cNvPr>
          <p:cNvSpPr/>
          <p:nvPr/>
        </p:nvSpPr>
        <p:spPr>
          <a:xfrm>
            <a:off x="502920" y="1161288"/>
            <a:ext cx="566928" cy="0"/>
          </a:xfrm>
          <a:prstGeom prst="line">
            <a:avLst/>
          </a:prstGeom>
          <a:noFill/>
          <a:ln w="19050">
            <a:solidFill>
              <a:srgbClr val="15697A"/>
            </a:solidFill>
            <a:prstDash val="solid"/>
          </a:ln>
        </p:spPr>
        <p:txBody>
          <a:bodyPr/>
          <a:lstStyle/>
          <a:p>
            <a:endParaRPr lang="en-US"/>
          </a:p>
        </p:txBody>
      </p:sp>
      <p:pic>
        <p:nvPicPr>
          <p:cNvPr id="40" name="Image 0" descr="/mnt/data/ariane_deck_author_identity/images/uochb-iocb-prague-logo.png">
            <a:extLst>
              <a:ext uri="{FF2B5EF4-FFF2-40B4-BE49-F238E27FC236}">
                <a16:creationId xmlns:a16="http://schemas.microsoft.com/office/drawing/2014/main" id="{18C7B706-879F-E251-A4DB-A702181F1E6D}"/>
              </a:ext>
            </a:extLst>
          </p:cNvPr>
          <p:cNvPicPr>
            <a:picLocks noChangeAspect="1"/>
          </p:cNvPicPr>
          <p:nvPr/>
        </p:nvPicPr>
        <p:blipFill>
          <a:blip r:embed="rId3"/>
          <a:stretch>
            <a:fillRect/>
          </a:stretch>
        </p:blipFill>
        <p:spPr>
          <a:xfrm>
            <a:off x="10152146" y="310896"/>
            <a:ext cx="1376132" cy="493776"/>
          </a:xfrm>
          <a:prstGeom prst="rect">
            <a:avLst/>
          </a:prstGeom>
        </p:spPr>
      </p:pic>
      <p:sp>
        <p:nvSpPr>
          <p:cNvPr id="42" name="Text 3">
            <a:extLst>
              <a:ext uri="{FF2B5EF4-FFF2-40B4-BE49-F238E27FC236}">
                <a16:creationId xmlns:a16="http://schemas.microsoft.com/office/drawing/2014/main" id="{6950B97F-9A70-EAB2-FADC-5BAD199E90D2}"/>
              </a:ext>
            </a:extLst>
          </p:cNvPr>
          <p:cNvSpPr/>
          <p:nvPr/>
        </p:nvSpPr>
        <p:spPr>
          <a:xfrm>
            <a:off x="8595360" y="850392"/>
            <a:ext cx="3063240" cy="182880"/>
          </a:xfrm>
          <a:prstGeom prst="rect">
            <a:avLst/>
          </a:prstGeom>
          <a:noFill/>
          <a:ln/>
        </p:spPr>
        <p:txBody>
          <a:bodyPr wrap="square" lIns="0" tIns="0" rIns="0" bIns="0" rtlCol="0" anchor="t">
            <a:normAutofit/>
          </a:bodyPr>
          <a:lstStyle/>
          <a:p>
            <a:pPr marL="0" indent="0" algn="r">
              <a:buNone/>
            </a:pPr>
            <a:r>
              <a:rPr lang="en-US" sz="900" b="1" dirty="0">
                <a:solidFill>
                  <a:srgbClr val="1A2A31"/>
                </a:solidFill>
                <a:latin typeface="Arial" pitchFamily="34" charset="0"/>
                <a:ea typeface="Arial" pitchFamily="34" charset="-122"/>
                <a:cs typeface="Arial" pitchFamily="34" charset="-120"/>
              </a:rPr>
              <a:t>Kamila Clarová</a:t>
            </a:r>
            <a:endParaRPr lang="en-US" sz="900" dirty="0"/>
          </a:p>
        </p:txBody>
      </p:sp>
      <p:sp>
        <p:nvSpPr>
          <p:cNvPr id="44" name="Text 4">
            <a:extLst>
              <a:ext uri="{FF2B5EF4-FFF2-40B4-BE49-F238E27FC236}">
                <a16:creationId xmlns:a16="http://schemas.microsoft.com/office/drawing/2014/main" id="{F86899B9-1FFE-FB66-C4AA-19BEF11A66D0}"/>
              </a:ext>
            </a:extLst>
          </p:cNvPr>
          <p:cNvSpPr/>
          <p:nvPr/>
        </p:nvSpPr>
        <p:spPr>
          <a:xfrm>
            <a:off x="8229600" y="1051560"/>
            <a:ext cx="3429000" cy="182880"/>
          </a:xfrm>
          <a:prstGeom prst="rect">
            <a:avLst/>
          </a:prstGeom>
          <a:noFill/>
          <a:ln/>
        </p:spPr>
        <p:txBody>
          <a:bodyPr wrap="square" lIns="0" tIns="0" rIns="0" bIns="0" rtlCol="0" anchor="t">
            <a:normAutofit/>
          </a:bodyPr>
          <a:lstStyle/>
          <a:p>
            <a:pPr marL="0" indent="0" algn="r">
              <a:buNone/>
            </a:pPr>
            <a:r>
              <a:rPr lang="en-US" sz="800" dirty="0">
                <a:solidFill>
                  <a:srgbClr val="5B6E76"/>
                </a:solidFill>
                <a:latin typeface="Arial" pitchFamily="34" charset="0"/>
                <a:ea typeface="Arial" pitchFamily="34" charset="-122"/>
                <a:cs typeface="Arial" pitchFamily="34" charset="-120"/>
              </a:rPr>
              <a:t>Jiří Vondrášek Group</a:t>
            </a:r>
            <a:endParaRPr lang="en-US" sz="800" dirty="0"/>
          </a:p>
        </p:txBody>
      </p:sp>
      <p:sp>
        <p:nvSpPr>
          <p:cNvPr id="46" name="Text 5">
            <a:extLst>
              <a:ext uri="{FF2B5EF4-FFF2-40B4-BE49-F238E27FC236}">
                <a16:creationId xmlns:a16="http://schemas.microsoft.com/office/drawing/2014/main" id="{862E7A96-B954-1A5E-DE64-849D76A8CDA0}"/>
              </a:ext>
            </a:extLst>
          </p:cNvPr>
          <p:cNvSpPr/>
          <p:nvPr/>
        </p:nvSpPr>
        <p:spPr>
          <a:xfrm>
            <a:off x="594360" y="1417320"/>
            <a:ext cx="4023360" cy="1737360"/>
          </a:xfrm>
          <a:prstGeom prst="rect">
            <a:avLst/>
          </a:prstGeom>
          <a:noFill/>
          <a:ln/>
        </p:spPr>
        <p:txBody>
          <a:bodyPr wrap="square" lIns="0" tIns="0" rIns="0" bIns="0" rtlCol="0" anchor="t">
            <a:normAutofit lnSpcReduction="10000"/>
          </a:bodyPr>
          <a:lstStyle/>
          <a:p>
            <a:pPr marL="0" indent="0" algn="l">
              <a:buNone/>
            </a:pPr>
            <a:r>
              <a:rPr lang="en-US" sz="1080" dirty="0">
                <a:solidFill>
                  <a:srgbClr val="1A2A31"/>
                </a:solidFill>
                <a:latin typeface="Arial" pitchFamily="34" charset="0"/>
                <a:ea typeface="Arial" pitchFamily="34" charset="-122"/>
                <a:cs typeface="Arial" pitchFamily="34" charset="-120"/>
              </a:rPr>
              <a:t>Web application ARIANE automates parts of genetic variant interpretation according to established classification criteria.</a:t>
            </a:r>
            <a:endParaRPr lang="en-US" sz="1080" dirty="0"/>
          </a:p>
          <a:p>
            <a:pPr marL="0" indent="0" algn="l">
              <a:buNone/>
            </a:pPr>
            <a:endParaRPr lang="en-US" sz="1080" dirty="0"/>
          </a:p>
          <a:p>
            <a:pPr marL="0" indent="0" algn="l">
              <a:buNone/>
            </a:pPr>
            <a:r>
              <a:rPr lang="en-US" sz="1080" dirty="0">
                <a:solidFill>
                  <a:srgbClr val="1A2A31"/>
                </a:solidFill>
                <a:latin typeface="Arial" pitchFamily="34" charset="0"/>
                <a:ea typeface="Arial" pitchFamily="34" charset="-122"/>
                <a:cs typeface="Arial" pitchFamily="34" charset="-120"/>
              </a:rPr>
              <a:t>Development started with BRCA1 and BRCA2 because they are among the best studied hereditary cancer genes and have detailed, expert-defined interpretation rules.</a:t>
            </a:r>
            <a:endParaRPr lang="en-US" sz="1080" dirty="0"/>
          </a:p>
          <a:p>
            <a:pPr marL="0" indent="0" algn="l">
              <a:buNone/>
            </a:pPr>
            <a:endParaRPr lang="en-US" sz="1080" dirty="0"/>
          </a:p>
          <a:p>
            <a:pPr marL="0" indent="0" algn="l">
              <a:buNone/>
            </a:pPr>
            <a:r>
              <a:rPr lang="en-US" sz="1080" dirty="0">
                <a:solidFill>
                  <a:srgbClr val="1A2A31"/>
                </a:solidFill>
                <a:latin typeface="Arial" pitchFamily="34" charset="0"/>
                <a:ea typeface="Arial" pitchFamily="34" charset="-122"/>
                <a:cs typeface="Arial" pitchFamily="34" charset="-120"/>
              </a:rPr>
              <a:t>The current version is a functional web application. It automatically evaluates criteria that can be derived from available annotations and reference data, while criteria requiring expert assessment remain clearly identified.</a:t>
            </a:r>
            <a:endParaRPr lang="en-US" sz="1080" dirty="0"/>
          </a:p>
        </p:txBody>
      </p:sp>
      <p:sp>
        <p:nvSpPr>
          <p:cNvPr id="48" name="Text 6">
            <a:extLst>
              <a:ext uri="{FF2B5EF4-FFF2-40B4-BE49-F238E27FC236}">
                <a16:creationId xmlns:a16="http://schemas.microsoft.com/office/drawing/2014/main" id="{4FD4273A-78A6-4299-BECB-B4460851CE14}"/>
              </a:ext>
            </a:extLst>
          </p:cNvPr>
          <p:cNvSpPr/>
          <p:nvPr/>
        </p:nvSpPr>
        <p:spPr>
          <a:xfrm>
            <a:off x="594360" y="3429000"/>
            <a:ext cx="4023360" cy="164592"/>
          </a:xfrm>
          <a:prstGeom prst="rect">
            <a:avLst/>
          </a:prstGeom>
          <a:noFill/>
          <a:ln/>
        </p:spPr>
        <p:txBody>
          <a:bodyPr wrap="square" lIns="0" tIns="0" rIns="0" bIns="0" rtlCol="0" anchor="t">
            <a:normAutofit/>
          </a:bodyPr>
          <a:lstStyle/>
          <a:p>
            <a:pPr marL="0" indent="0" algn="l">
              <a:buNone/>
            </a:pPr>
            <a:r>
              <a:rPr lang="en-US" sz="770" b="1" kern="0" spc="110" dirty="0">
                <a:solidFill>
                  <a:srgbClr val="8A9BA1"/>
                </a:solidFill>
                <a:latin typeface="Arial" pitchFamily="34" charset="0"/>
                <a:ea typeface="Arial" pitchFamily="34" charset="-122"/>
                <a:cs typeface="Arial" pitchFamily="34" charset="-120"/>
              </a:rPr>
              <a:t>For each variant, ARIANE provides</a:t>
            </a:r>
            <a:endParaRPr lang="en-US" sz="770" dirty="0"/>
          </a:p>
        </p:txBody>
      </p:sp>
      <p:sp>
        <p:nvSpPr>
          <p:cNvPr id="50" name="Shape 7">
            <a:extLst>
              <a:ext uri="{FF2B5EF4-FFF2-40B4-BE49-F238E27FC236}">
                <a16:creationId xmlns:a16="http://schemas.microsoft.com/office/drawing/2014/main" id="{8A1B0A41-26A2-245F-3F9D-A0A1BA762B2D}"/>
              </a:ext>
            </a:extLst>
          </p:cNvPr>
          <p:cNvSpPr/>
          <p:nvPr/>
        </p:nvSpPr>
        <p:spPr>
          <a:xfrm>
            <a:off x="594360" y="3675888"/>
            <a:ext cx="4023360" cy="0"/>
          </a:xfrm>
          <a:prstGeom prst="line">
            <a:avLst/>
          </a:prstGeom>
          <a:noFill/>
          <a:ln w="12700">
            <a:solidFill>
              <a:srgbClr val="EBF0F1"/>
            </a:solidFill>
            <a:prstDash val="solid"/>
          </a:ln>
        </p:spPr>
        <p:txBody>
          <a:bodyPr/>
          <a:lstStyle/>
          <a:p>
            <a:endParaRPr lang="en-US"/>
          </a:p>
        </p:txBody>
      </p:sp>
      <p:sp>
        <p:nvSpPr>
          <p:cNvPr id="52" name="Shape 8">
            <a:extLst>
              <a:ext uri="{FF2B5EF4-FFF2-40B4-BE49-F238E27FC236}">
                <a16:creationId xmlns:a16="http://schemas.microsoft.com/office/drawing/2014/main" id="{11176D19-E41F-4C2E-E89C-ABFF604CE528}"/>
              </a:ext>
            </a:extLst>
          </p:cNvPr>
          <p:cNvSpPr/>
          <p:nvPr/>
        </p:nvSpPr>
        <p:spPr>
          <a:xfrm>
            <a:off x="594360" y="3941064"/>
            <a:ext cx="73152" cy="0"/>
          </a:xfrm>
          <a:prstGeom prst="line">
            <a:avLst/>
          </a:prstGeom>
          <a:noFill/>
          <a:ln w="13970">
            <a:solidFill>
              <a:srgbClr val="15697A"/>
            </a:solidFill>
            <a:prstDash val="solid"/>
          </a:ln>
        </p:spPr>
        <p:txBody>
          <a:bodyPr/>
          <a:lstStyle/>
          <a:p>
            <a:endParaRPr lang="en-US"/>
          </a:p>
        </p:txBody>
      </p:sp>
      <p:sp>
        <p:nvSpPr>
          <p:cNvPr id="54" name="Text 9">
            <a:extLst>
              <a:ext uri="{FF2B5EF4-FFF2-40B4-BE49-F238E27FC236}">
                <a16:creationId xmlns:a16="http://schemas.microsoft.com/office/drawing/2014/main" id="{EA19C3CA-2866-96C5-8EE9-76E1851A1E11}"/>
              </a:ext>
            </a:extLst>
          </p:cNvPr>
          <p:cNvSpPr/>
          <p:nvPr/>
        </p:nvSpPr>
        <p:spPr>
          <a:xfrm>
            <a:off x="758952" y="3813048"/>
            <a:ext cx="3858768" cy="228600"/>
          </a:xfrm>
          <a:prstGeom prst="rect">
            <a:avLst/>
          </a:prstGeom>
          <a:noFill/>
          <a:ln/>
        </p:spPr>
        <p:txBody>
          <a:bodyPr wrap="square" lIns="0" tIns="0" rIns="0" bIns="0" rtlCol="0" anchor="t">
            <a:normAutofit/>
          </a:bodyPr>
          <a:lstStyle/>
          <a:p>
            <a:pPr marL="0" indent="0" algn="l">
              <a:buNone/>
            </a:pPr>
            <a:r>
              <a:rPr lang="en-US" sz="960" dirty="0">
                <a:solidFill>
                  <a:srgbClr val="1A2A31"/>
                </a:solidFill>
                <a:latin typeface="Arial" pitchFamily="34" charset="0"/>
                <a:ea typeface="Arial" pitchFamily="34" charset="-122"/>
                <a:cs typeface="Arial" pitchFamily="34" charset="-120"/>
              </a:rPr>
              <a:t>Evaluated and applied criteria</a:t>
            </a:r>
            <a:endParaRPr lang="en-US" sz="960" dirty="0"/>
          </a:p>
        </p:txBody>
      </p:sp>
      <p:sp>
        <p:nvSpPr>
          <p:cNvPr id="56" name="Shape 10">
            <a:extLst>
              <a:ext uri="{FF2B5EF4-FFF2-40B4-BE49-F238E27FC236}">
                <a16:creationId xmlns:a16="http://schemas.microsoft.com/office/drawing/2014/main" id="{9CCA2396-F0FA-4921-807B-D69CD15950E2}"/>
              </a:ext>
            </a:extLst>
          </p:cNvPr>
          <p:cNvSpPr/>
          <p:nvPr/>
        </p:nvSpPr>
        <p:spPr>
          <a:xfrm>
            <a:off x="594360" y="4215384"/>
            <a:ext cx="73152" cy="0"/>
          </a:xfrm>
          <a:prstGeom prst="line">
            <a:avLst/>
          </a:prstGeom>
          <a:noFill/>
          <a:ln w="13970">
            <a:solidFill>
              <a:srgbClr val="15697A"/>
            </a:solidFill>
            <a:prstDash val="solid"/>
          </a:ln>
        </p:spPr>
        <p:txBody>
          <a:bodyPr/>
          <a:lstStyle/>
          <a:p>
            <a:endParaRPr lang="en-US"/>
          </a:p>
        </p:txBody>
      </p:sp>
      <p:sp>
        <p:nvSpPr>
          <p:cNvPr id="58" name="Text 11">
            <a:extLst>
              <a:ext uri="{FF2B5EF4-FFF2-40B4-BE49-F238E27FC236}">
                <a16:creationId xmlns:a16="http://schemas.microsoft.com/office/drawing/2014/main" id="{BDD11715-F5D2-A611-96B9-EF93A57D2A19}"/>
              </a:ext>
            </a:extLst>
          </p:cNvPr>
          <p:cNvSpPr/>
          <p:nvPr/>
        </p:nvSpPr>
        <p:spPr>
          <a:xfrm>
            <a:off x="758952" y="4087368"/>
            <a:ext cx="3858768" cy="228600"/>
          </a:xfrm>
          <a:prstGeom prst="rect">
            <a:avLst/>
          </a:prstGeom>
          <a:noFill/>
          <a:ln/>
        </p:spPr>
        <p:txBody>
          <a:bodyPr wrap="square" lIns="0" tIns="0" rIns="0" bIns="0" rtlCol="0" anchor="t">
            <a:normAutofit/>
          </a:bodyPr>
          <a:lstStyle/>
          <a:p>
            <a:pPr marL="0" indent="0" algn="l">
              <a:buNone/>
            </a:pPr>
            <a:r>
              <a:rPr lang="en-US" sz="960" dirty="0">
                <a:solidFill>
                  <a:srgbClr val="1A2A31"/>
                </a:solidFill>
                <a:latin typeface="Arial" pitchFamily="34" charset="0"/>
                <a:ea typeface="Arial" pitchFamily="34" charset="-122"/>
                <a:cs typeface="Arial" pitchFamily="34" charset="-120"/>
              </a:rPr>
              <a:t>Evidence supporting each decision</a:t>
            </a:r>
            <a:endParaRPr lang="en-US" sz="960" dirty="0"/>
          </a:p>
        </p:txBody>
      </p:sp>
      <p:sp>
        <p:nvSpPr>
          <p:cNvPr id="60" name="Shape 12">
            <a:extLst>
              <a:ext uri="{FF2B5EF4-FFF2-40B4-BE49-F238E27FC236}">
                <a16:creationId xmlns:a16="http://schemas.microsoft.com/office/drawing/2014/main" id="{759EE12E-5951-BF40-5142-B0EE0408004A}"/>
              </a:ext>
            </a:extLst>
          </p:cNvPr>
          <p:cNvSpPr/>
          <p:nvPr/>
        </p:nvSpPr>
        <p:spPr>
          <a:xfrm>
            <a:off x="594360" y="4489704"/>
            <a:ext cx="73152" cy="0"/>
          </a:xfrm>
          <a:prstGeom prst="line">
            <a:avLst/>
          </a:prstGeom>
          <a:noFill/>
          <a:ln w="13970">
            <a:solidFill>
              <a:srgbClr val="15697A"/>
            </a:solidFill>
            <a:prstDash val="solid"/>
          </a:ln>
        </p:spPr>
        <p:txBody>
          <a:bodyPr/>
          <a:lstStyle/>
          <a:p>
            <a:endParaRPr lang="en-US"/>
          </a:p>
        </p:txBody>
      </p:sp>
      <p:sp>
        <p:nvSpPr>
          <p:cNvPr id="62" name="Text 13">
            <a:extLst>
              <a:ext uri="{FF2B5EF4-FFF2-40B4-BE49-F238E27FC236}">
                <a16:creationId xmlns:a16="http://schemas.microsoft.com/office/drawing/2014/main" id="{B3B38FD6-7B37-6D7E-B93C-78708CE654AA}"/>
              </a:ext>
            </a:extLst>
          </p:cNvPr>
          <p:cNvSpPr/>
          <p:nvPr/>
        </p:nvSpPr>
        <p:spPr>
          <a:xfrm>
            <a:off x="758952" y="4361688"/>
            <a:ext cx="3858768" cy="228600"/>
          </a:xfrm>
          <a:prstGeom prst="rect">
            <a:avLst/>
          </a:prstGeom>
          <a:noFill/>
          <a:ln/>
        </p:spPr>
        <p:txBody>
          <a:bodyPr wrap="square" lIns="0" tIns="0" rIns="0" bIns="0" rtlCol="0" anchor="t">
            <a:normAutofit/>
          </a:bodyPr>
          <a:lstStyle/>
          <a:p>
            <a:pPr marL="0" indent="0" algn="l">
              <a:buNone/>
            </a:pPr>
            <a:r>
              <a:rPr lang="en-US" sz="960" dirty="0">
                <a:solidFill>
                  <a:srgbClr val="1A2A31"/>
                </a:solidFill>
                <a:latin typeface="Arial" pitchFamily="34" charset="0"/>
                <a:ea typeface="Arial" pitchFamily="34" charset="-122"/>
                <a:cs typeface="Arial" pitchFamily="34" charset="-120"/>
              </a:rPr>
              <a:t>Proposed classification</a:t>
            </a:r>
            <a:endParaRPr lang="en-US" sz="960" dirty="0"/>
          </a:p>
        </p:txBody>
      </p:sp>
      <p:sp>
        <p:nvSpPr>
          <p:cNvPr id="64" name="Shape 14">
            <a:extLst>
              <a:ext uri="{FF2B5EF4-FFF2-40B4-BE49-F238E27FC236}">
                <a16:creationId xmlns:a16="http://schemas.microsoft.com/office/drawing/2014/main" id="{9B753CDB-914C-517C-14DC-427E90EFFA56}"/>
              </a:ext>
            </a:extLst>
          </p:cNvPr>
          <p:cNvSpPr/>
          <p:nvPr/>
        </p:nvSpPr>
        <p:spPr>
          <a:xfrm>
            <a:off x="594360" y="4764024"/>
            <a:ext cx="73152" cy="0"/>
          </a:xfrm>
          <a:prstGeom prst="line">
            <a:avLst/>
          </a:prstGeom>
          <a:noFill/>
          <a:ln w="13970">
            <a:solidFill>
              <a:srgbClr val="15697A"/>
            </a:solidFill>
            <a:prstDash val="solid"/>
          </a:ln>
        </p:spPr>
        <p:txBody>
          <a:bodyPr/>
          <a:lstStyle/>
          <a:p>
            <a:endParaRPr lang="en-US"/>
          </a:p>
        </p:txBody>
      </p:sp>
      <p:sp>
        <p:nvSpPr>
          <p:cNvPr id="66" name="Text 15">
            <a:extLst>
              <a:ext uri="{FF2B5EF4-FFF2-40B4-BE49-F238E27FC236}">
                <a16:creationId xmlns:a16="http://schemas.microsoft.com/office/drawing/2014/main" id="{2B60C4F7-3968-DB6E-FDF9-86846F2EACF6}"/>
              </a:ext>
            </a:extLst>
          </p:cNvPr>
          <p:cNvSpPr/>
          <p:nvPr/>
        </p:nvSpPr>
        <p:spPr>
          <a:xfrm>
            <a:off x="758952" y="4636008"/>
            <a:ext cx="3858768" cy="228600"/>
          </a:xfrm>
          <a:prstGeom prst="rect">
            <a:avLst/>
          </a:prstGeom>
          <a:noFill/>
          <a:ln/>
        </p:spPr>
        <p:txBody>
          <a:bodyPr wrap="square" lIns="0" tIns="0" rIns="0" bIns="0" rtlCol="0" anchor="t">
            <a:normAutofit/>
          </a:bodyPr>
          <a:lstStyle/>
          <a:p>
            <a:pPr marL="0" indent="0" algn="l">
              <a:buNone/>
            </a:pPr>
            <a:r>
              <a:rPr lang="en-US" sz="960" dirty="0">
                <a:solidFill>
                  <a:srgbClr val="1A2A31"/>
                </a:solidFill>
                <a:latin typeface="Arial" pitchFamily="34" charset="0"/>
                <a:ea typeface="Arial" pitchFamily="34" charset="-122"/>
                <a:cs typeface="Arial" pitchFamily="34" charset="-120"/>
              </a:rPr>
              <a:t>Warnings and items requiring manual review</a:t>
            </a:r>
            <a:endParaRPr lang="en-US" sz="960" dirty="0"/>
          </a:p>
        </p:txBody>
      </p:sp>
      <p:sp>
        <p:nvSpPr>
          <p:cNvPr id="68" name="Shape 16">
            <a:extLst>
              <a:ext uri="{FF2B5EF4-FFF2-40B4-BE49-F238E27FC236}">
                <a16:creationId xmlns:a16="http://schemas.microsoft.com/office/drawing/2014/main" id="{C56B0E2D-3774-580D-6618-41EF40410AD6}"/>
              </a:ext>
            </a:extLst>
          </p:cNvPr>
          <p:cNvSpPr/>
          <p:nvPr/>
        </p:nvSpPr>
        <p:spPr>
          <a:xfrm>
            <a:off x="594360" y="5074920"/>
            <a:ext cx="4023360" cy="0"/>
          </a:xfrm>
          <a:prstGeom prst="line">
            <a:avLst/>
          </a:prstGeom>
          <a:noFill/>
          <a:ln w="8890">
            <a:solidFill>
              <a:srgbClr val="EBF0F1"/>
            </a:solidFill>
            <a:prstDash val="solid"/>
          </a:ln>
        </p:spPr>
        <p:txBody>
          <a:bodyPr/>
          <a:lstStyle/>
          <a:p>
            <a:endParaRPr lang="en-US"/>
          </a:p>
        </p:txBody>
      </p:sp>
      <p:sp>
        <p:nvSpPr>
          <p:cNvPr id="70" name="Text 17">
            <a:extLst>
              <a:ext uri="{FF2B5EF4-FFF2-40B4-BE49-F238E27FC236}">
                <a16:creationId xmlns:a16="http://schemas.microsoft.com/office/drawing/2014/main" id="{6EDC533E-3F4B-F82B-4D5F-9FD1DBB77FF6}"/>
              </a:ext>
            </a:extLst>
          </p:cNvPr>
          <p:cNvSpPr/>
          <p:nvPr/>
        </p:nvSpPr>
        <p:spPr>
          <a:xfrm>
            <a:off x="594360" y="5138928"/>
            <a:ext cx="4023360" cy="100584"/>
          </a:xfrm>
          <a:prstGeom prst="rect">
            <a:avLst/>
          </a:prstGeom>
          <a:noFill/>
          <a:ln/>
        </p:spPr>
        <p:txBody>
          <a:bodyPr wrap="square" lIns="0" tIns="0" rIns="0" bIns="0" rtlCol="0" anchor="t">
            <a:normAutofit lnSpcReduction="10000"/>
          </a:bodyPr>
          <a:lstStyle/>
          <a:p>
            <a:pPr marL="0" indent="0" algn="l">
              <a:buNone/>
            </a:pPr>
            <a:r>
              <a:rPr lang="en-US" sz="700" dirty="0">
                <a:solidFill>
                  <a:srgbClr val="8A9BA1"/>
                </a:solidFill>
                <a:latin typeface="Courier New" pitchFamily="34" charset="0"/>
                <a:ea typeface="Courier New" pitchFamily="34" charset="-122"/>
                <a:cs typeface="Courier New" pitchFamily="34" charset="-120"/>
              </a:rPr>
              <a:t>Current implementation</a:t>
            </a:r>
            <a:endParaRPr lang="en-US" sz="700" dirty="0"/>
          </a:p>
        </p:txBody>
      </p:sp>
      <p:sp>
        <p:nvSpPr>
          <p:cNvPr id="72" name="Text 18">
            <a:extLst>
              <a:ext uri="{FF2B5EF4-FFF2-40B4-BE49-F238E27FC236}">
                <a16:creationId xmlns:a16="http://schemas.microsoft.com/office/drawing/2014/main" id="{C59F8E9E-2FFF-3F61-E750-C3CDD6AA495C}"/>
              </a:ext>
            </a:extLst>
          </p:cNvPr>
          <p:cNvSpPr/>
          <p:nvPr/>
        </p:nvSpPr>
        <p:spPr>
          <a:xfrm>
            <a:off x="594360" y="5294376"/>
            <a:ext cx="4023360" cy="109728"/>
          </a:xfrm>
          <a:prstGeom prst="rect">
            <a:avLst/>
          </a:prstGeom>
          <a:noFill/>
          <a:ln/>
        </p:spPr>
        <p:txBody>
          <a:bodyPr wrap="square" lIns="0" tIns="0" rIns="0" bIns="0" rtlCol="0" anchor="t">
            <a:normAutofit fontScale="92500" lnSpcReduction="10000"/>
          </a:bodyPr>
          <a:lstStyle/>
          <a:p>
            <a:pPr marL="0" indent="0" algn="l">
              <a:buNone/>
            </a:pPr>
            <a:r>
              <a:rPr lang="en-US" sz="880" dirty="0">
                <a:solidFill>
                  <a:srgbClr val="1A2A31"/>
                </a:solidFill>
                <a:latin typeface="Arial" pitchFamily="34" charset="0"/>
                <a:ea typeface="Arial" pitchFamily="34" charset="-122"/>
                <a:cs typeface="Arial" pitchFamily="34" charset="-120"/>
              </a:rPr>
              <a:t>BRCA1 and BRCA2</a:t>
            </a:r>
            <a:endParaRPr lang="en-US" sz="880" dirty="0"/>
          </a:p>
        </p:txBody>
      </p:sp>
      <p:sp>
        <p:nvSpPr>
          <p:cNvPr id="74" name="Shape 19">
            <a:extLst>
              <a:ext uri="{FF2B5EF4-FFF2-40B4-BE49-F238E27FC236}">
                <a16:creationId xmlns:a16="http://schemas.microsoft.com/office/drawing/2014/main" id="{14E29A0C-E420-AD38-E670-92572DDFFCC0}"/>
              </a:ext>
            </a:extLst>
          </p:cNvPr>
          <p:cNvSpPr/>
          <p:nvPr/>
        </p:nvSpPr>
        <p:spPr>
          <a:xfrm>
            <a:off x="594360" y="5422392"/>
            <a:ext cx="4023360" cy="0"/>
          </a:xfrm>
          <a:prstGeom prst="line">
            <a:avLst/>
          </a:prstGeom>
          <a:noFill/>
          <a:ln w="8890">
            <a:solidFill>
              <a:srgbClr val="EBF0F1"/>
            </a:solidFill>
            <a:prstDash val="solid"/>
          </a:ln>
        </p:spPr>
        <p:txBody>
          <a:bodyPr/>
          <a:lstStyle/>
          <a:p>
            <a:endParaRPr lang="en-US"/>
          </a:p>
        </p:txBody>
      </p:sp>
      <p:sp>
        <p:nvSpPr>
          <p:cNvPr id="76" name="Text 20">
            <a:extLst>
              <a:ext uri="{FF2B5EF4-FFF2-40B4-BE49-F238E27FC236}">
                <a16:creationId xmlns:a16="http://schemas.microsoft.com/office/drawing/2014/main" id="{527522B8-3C06-6EC7-9B1F-F990A67C264A}"/>
              </a:ext>
            </a:extLst>
          </p:cNvPr>
          <p:cNvSpPr/>
          <p:nvPr/>
        </p:nvSpPr>
        <p:spPr>
          <a:xfrm>
            <a:off x="594360" y="5486400"/>
            <a:ext cx="4023360" cy="100584"/>
          </a:xfrm>
          <a:prstGeom prst="rect">
            <a:avLst/>
          </a:prstGeom>
          <a:noFill/>
          <a:ln/>
        </p:spPr>
        <p:txBody>
          <a:bodyPr wrap="square" lIns="0" tIns="0" rIns="0" bIns="0" rtlCol="0" anchor="t">
            <a:normAutofit lnSpcReduction="10000"/>
          </a:bodyPr>
          <a:lstStyle/>
          <a:p>
            <a:pPr marL="0" indent="0" algn="l">
              <a:buNone/>
            </a:pPr>
            <a:r>
              <a:rPr lang="en-US" sz="700" dirty="0">
                <a:solidFill>
                  <a:srgbClr val="8A9BA1"/>
                </a:solidFill>
                <a:latin typeface="Courier New" pitchFamily="34" charset="0"/>
                <a:ea typeface="Courier New" pitchFamily="34" charset="-122"/>
                <a:cs typeface="Courier New" pitchFamily="34" charset="-120"/>
              </a:rPr>
              <a:t>Web application</a:t>
            </a:r>
            <a:endParaRPr lang="en-US" sz="700" dirty="0"/>
          </a:p>
        </p:txBody>
      </p:sp>
      <p:sp>
        <p:nvSpPr>
          <p:cNvPr id="78" name="Text 21">
            <a:extLst>
              <a:ext uri="{FF2B5EF4-FFF2-40B4-BE49-F238E27FC236}">
                <a16:creationId xmlns:a16="http://schemas.microsoft.com/office/drawing/2014/main" id="{8404453F-E60A-8203-656B-173ECA5AA2FD}"/>
              </a:ext>
            </a:extLst>
          </p:cNvPr>
          <p:cNvSpPr/>
          <p:nvPr/>
        </p:nvSpPr>
        <p:spPr>
          <a:xfrm>
            <a:off x="594360" y="5641848"/>
            <a:ext cx="4023360" cy="109728"/>
          </a:xfrm>
          <a:prstGeom prst="rect">
            <a:avLst/>
          </a:prstGeom>
          <a:noFill/>
          <a:ln/>
        </p:spPr>
        <p:txBody>
          <a:bodyPr wrap="square" lIns="0" tIns="0" rIns="0" bIns="0" rtlCol="0" anchor="t">
            <a:normAutofit fontScale="92500" lnSpcReduction="10000"/>
          </a:bodyPr>
          <a:lstStyle/>
          <a:p>
            <a:pPr marL="0" indent="0" algn="l">
              <a:buNone/>
            </a:pPr>
            <a:r>
              <a:rPr lang="en-US" sz="880" dirty="0">
                <a:solidFill>
                  <a:srgbClr val="1A2A31"/>
                </a:solidFill>
                <a:latin typeface="Arial" pitchFamily="34" charset="0"/>
                <a:ea typeface="Arial" pitchFamily="34" charset="-122"/>
                <a:cs typeface="Arial" pitchFamily="34" charset="-120"/>
              </a:rPr>
              <a:t>ariane-app.duckdns.org</a:t>
            </a:r>
            <a:endParaRPr lang="en-US" sz="880" dirty="0"/>
          </a:p>
        </p:txBody>
      </p:sp>
      <p:sp>
        <p:nvSpPr>
          <p:cNvPr id="80" name="Shape 22">
            <a:extLst>
              <a:ext uri="{FF2B5EF4-FFF2-40B4-BE49-F238E27FC236}">
                <a16:creationId xmlns:a16="http://schemas.microsoft.com/office/drawing/2014/main" id="{38E30434-0DD2-5754-C9FA-B6619E19AA32}"/>
              </a:ext>
            </a:extLst>
          </p:cNvPr>
          <p:cNvSpPr/>
          <p:nvPr/>
        </p:nvSpPr>
        <p:spPr>
          <a:xfrm>
            <a:off x="594360" y="5769864"/>
            <a:ext cx="4023360" cy="0"/>
          </a:xfrm>
          <a:prstGeom prst="line">
            <a:avLst/>
          </a:prstGeom>
          <a:noFill/>
          <a:ln w="8890">
            <a:solidFill>
              <a:srgbClr val="EBF0F1"/>
            </a:solidFill>
            <a:prstDash val="solid"/>
          </a:ln>
        </p:spPr>
        <p:txBody>
          <a:bodyPr/>
          <a:lstStyle/>
          <a:p>
            <a:endParaRPr lang="en-US"/>
          </a:p>
        </p:txBody>
      </p:sp>
      <p:sp>
        <p:nvSpPr>
          <p:cNvPr id="82" name="Text 23">
            <a:extLst>
              <a:ext uri="{FF2B5EF4-FFF2-40B4-BE49-F238E27FC236}">
                <a16:creationId xmlns:a16="http://schemas.microsoft.com/office/drawing/2014/main" id="{4629A7D8-39B7-B720-E19F-2F3FF918DA8E}"/>
              </a:ext>
            </a:extLst>
          </p:cNvPr>
          <p:cNvSpPr/>
          <p:nvPr/>
        </p:nvSpPr>
        <p:spPr>
          <a:xfrm>
            <a:off x="594360" y="5833872"/>
            <a:ext cx="4023360" cy="100584"/>
          </a:xfrm>
          <a:prstGeom prst="rect">
            <a:avLst/>
          </a:prstGeom>
          <a:noFill/>
          <a:ln/>
        </p:spPr>
        <p:txBody>
          <a:bodyPr wrap="square" lIns="0" tIns="0" rIns="0" bIns="0" rtlCol="0" anchor="t">
            <a:normAutofit lnSpcReduction="10000"/>
          </a:bodyPr>
          <a:lstStyle/>
          <a:p>
            <a:pPr marL="0" indent="0" algn="l">
              <a:buNone/>
            </a:pPr>
            <a:r>
              <a:rPr lang="en-US" sz="700" dirty="0">
                <a:solidFill>
                  <a:srgbClr val="8A9BA1"/>
                </a:solidFill>
                <a:latin typeface="Courier New" pitchFamily="34" charset="0"/>
                <a:ea typeface="Courier New" pitchFamily="34" charset="-122"/>
                <a:cs typeface="Courier New" pitchFamily="34" charset="-120"/>
              </a:rPr>
              <a:t>Collaboration</a:t>
            </a:r>
            <a:endParaRPr lang="en-US" sz="700" dirty="0"/>
          </a:p>
        </p:txBody>
      </p:sp>
      <p:sp>
        <p:nvSpPr>
          <p:cNvPr id="84" name="Text 24">
            <a:extLst>
              <a:ext uri="{FF2B5EF4-FFF2-40B4-BE49-F238E27FC236}">
                <a16:creationId xmlns:a16="http://schemas.microsoft.com/office/drawing/2014/main" id="{3ADC1ED0-1910-3BE5-F8A7-88749AA99754}"/>
              </a:ext>
            </a:extLst>
          </p:cNvPr>
          <p:cNvSpPr/>
          <p:nvPr/>
        </p:nvSpPr>
        <p:spPr>
          <a:xfrm>
            <a:off x="579120" y="5989319"/>
            <a:ext cx="4221480" cy="722369"/>
          </a:xfrm>
          <a:prstGeom prst="rect">
            <a:avLst/>
          </a:prstGeom>
          <a:noFill/>
          <a:ln/>
        </p:spPr>
        <p:txBody>
          <a:bodyPr wrap="square" lIns="0" tIns="0" rIns="0" bIns="0" rtlCol="0" anchor="t">
            <a:normAutofit/>
          </a:bodyPr>
          <a:lstStyle/>
          <a:p>
            <a:pPr marL="0" indent="0" algn="l">
              <a:buNone/>
            </a:pPr>
            <a:r>
              <a:rPr lang="en-US" sz="880" dirty="0">
                <a:solidFill>
                  <a:srgbClr val="1A2A31"/>
                </a:solidFill>
                <a:latin typeface="Arial" pitchFamily="34" charset="0"/>
                <a:ea typeface="Arial" pitchFamily="34" charset="-122"/>
                <a:cs typeface="Arial" pitchFamily="34" charset="-120"/>
              </a:rPr>
              <a:t>prof. MUDr. Zdeněk Kleibl, Ph.D.</a:t>
            </a:r>
            <a:endParaRPr lang="en-US" sz="880" dirty="0"/>
          </a:p>
          <a:p>
            <a:pPr marL="0" indent="0" algn="l">
              <a:buNone/>
            </a:pPr>
            <a:r>
              <a:rPr lang="en-US" sz="880" dirty="0">
                <a:solidFill>
                  <a:srgbClr val="1A2A31"/>
                </a:solidFill>
                <a:latin typeface="Arial" pitchFamily="34" charset="0"/>
                <a:ea typeface="Arial" pitchFamily="34" charset="-122"/>
                <a:cs typeface="Arial" pitchFamily="34" charset="-120"/>
              </a:rPr>
              <a:t>RNDr. Jana Soukupová, Ph.D.</a:t>
            </a:r>
            <a:endParaRPr lang="en-US" sz="880" dirty="0"/>
          </a:p>
          <a:p>
            <a:pPr marL="0" indent="0" algn="l">
              <a:buNone/>
            </a:pPr>
            <a:r>
              <a:rPr lang="en-US" sz="880" dirty="0">
                <a:solidFill>
                  <a:srgbClr val="1A2A31"/>
                </a:solidFill>
                <a:latin typeface="Arial" pitchFamily="34" charset="0"/>
                <a:ea typeface="Arial" pitchFamily="34" charset="-122"/>
                <a:cs typeface="Arial" pitchFamily="34" charset="-120"/>
              </a:rPr>
              <a:t>Institute of Biochemistry and Experimental Oncology, First Faculty of Medicine, Charles University</a:t>
            </a:r>
            <a:endParaRPr lang="en-US" sz="880" dirty="0"/>
          </a:p>
        </p:txBody>
      </p:sp>
      <p:sp>
        <p:nvSpPr>
          <p:cNvPr id="86" name="Shape 25">
            <a:extLst>
              <a:ext uri="{FF2B5EF4-FFF2-40B4-BE49-F238E27FC236}">
                <a16:creationId xmlns:a16="http://schemas.microsoft.com/office/drawing/2014/main" id="{22ED9C86-BB76-A3EA-70BC-63B17CBC3C0F}"/>
              </a:ext>
            </a:extLst>
          </p:cNvPr>
          <p:cNvSpPr/>
          <p:nvPr/>
        </p:nvSpPr>
        <p:spPr>
          <a:xfrm>
            <a:off x="594360" y="6117336"/>
            <a:ext cx="4023360" cy="0"/>
          </a:xfrm>
          <a:prstGeom prst="line">
            <a:avLst/>
          </a:prstGeom>
          <a:noFill/>
          <a:ln w="8890">
            <a:solidFill>
              <a:srgbClr val="EBF0F1"/>
            </a:solidFill>
            <a:prstDash val="solid"/>
          </a:ln>
        </p:spPr>
        <p:txBody>
          <a:bodyPr/>
          <a:lstStyle/>
          <a:p>
            <a:endParaRPr lang="en-US"/>
          </a:p>
        </p:txBody>
      </p:sp>
      <p:pic>
        <p:nvPicPr>
          <p:cNvPr id="88" name="Image 1" descr="/mnt/data/ariane_deck_author_identity/images/ariane-result.png">
            <a:extLst>
              <a:ext uri="{FF2B5EF4-FFF2-40B4-BE49-F238E27FC236}">
                <a16:creationId xmlns:a16="http://schemas.microsoft.com/office/drawing/2014/main" id="{0D002DDA-F0B6-1CC0-EBBE-7519977EC1E1}"/>
              </a:ext>
            </a:extLst>
          </p:cNvPr>
          <p:cNvPicPr>
            <a:picLocks noChangeAspect="1"/>
          </p:cNvPicPr>
          <p:nvPr/>
        </p:nvPicPr>
        <p:blipFill>
          <a:blip r:embed="rId4"/>
          <a:srcRect r="1303" b="34000"/>
          <a:stretch/>
        </p:blipFill>
        <p:spPr>
          <a:xfrm>
            <a:off x="4800600" y="1417320"/>
            <a:ext cx="6812280" cy="4434840"/>
          </a:xfrm>
          <a:prstGeom prst="rect">
            <a:avLst/>
          </a:prstGeom>
        </p:spPr>
      </p:pic>
      <p:sp>
        <p:nvSpPr>
          <p:cNvPr id="90" name="Shape 26">
            <a:extLst>
              <a:ext uri="{FF2B5EF4-FFF2-40B4-BE49-F238E27FC236}">
                <a16:creationId xmlns:a16="http://schemas.microsoft.com/office/drawing/2014/main" id="{A043B0F4-8162-392A-3467-7E2BA1EE7609}"/>
              </a:ext>
            </a:extLst>
          </p:cNvPr>
          <p:cNvSpPr/>
          <p:nvPr/>
        </p:nvSpPr>
        <p:spPr>
          <a:xfrm>
            <a:off x="4800600" y="1417320"/>
            <a:ext cx="6812280" cy="4434840"/>
          </a:xfrm>
          <a:prstGeom prst="rect">
            <a:avLst/>
          </a:prstGeom>
          <a:solidFill>
            <a:srgbClr val="FFFFFF">
              <a:alpha val="0"/>
            </a:srgbClr>
          </a:solidFill>
          <a:ln w="8890">
            <a:solidFill>
              <a:srgbClr val="DCE4E6"/>
            </a:solidFill>
            <a:prstDash val="solid"/>
          </a:ln>
        </p:spPr>
        <p:txBody>
          <a:bodyPr/>
          <a:lstStyle/>
          <a:p>
            <a:endParaRPr lang="en-US"/>
          </a:p>
        </p:txBody>
      </p:sp>
      <p:sp>
        <p:nvSpPr>
          <p:cNvPr id="92" name="Text 27">
            <a:extLst>
              <a:ext uri="{FF2B5EF4-FFF2-40B4-BE49-F238E27FC236}">
                <a16:creationId xmlns:a16="http://schemas.microsoft.com/office/drawing/2014/main" id="{5E607113-09C8-C94E-CDBA-2E952160BF51}"/>
              </a:ext>
            </a:extLst>
          </p:cNvPr>
          <p:cNvSpPr/>
          <p:nvPr/>
        </p:nvSpPr>
        <p:spPr>
          <a:xfrm>
            <a:off x="4800600" y="5971032"/>
            <a:ext cx="3406140" cy="493776"/>
          </a:xfrm>
          <a:prstGeom prst="rect">
            <a:avLst/>
          </a:prstGeom>
          <a:solidFill>
            <a:srgbClr val="FFFFFF"/>
          </a:solidFill>
          <a:ln w="7620">
            <a:solidFill>
              <a:srgbClr val="DCE4E6"/>
            </a:solidFill>
          </a:ln>
        </p:spPr>
        <p:txBody>
          <a:bodyPr wrap="square" lIns="1270" tIns="1270" rIns="1270" bIns="1270" rtlCol="0" anchor="ctr">
            <a:normAutofit/>
          </a:bodyPr>
          <a:lstStyle/>
          <a:p>
            <a:pPr marL="0" indent="0" algn="ctr">
              <a:buNone/>
            </a:pPr>
            <a:r>
              <a:rPr lang="en-US" sz="940" dirty="0">
                <a:solidFill>
                  <a:srgbClr val="1A2A31"/>
                </a:solidFill>
                <a:latin typeface="Arial" pitchFamily="34" charset="0"/>
                <a:ea typeface="Arial" pitchFamily="34" charset="-122"/>
                <a:cs typeface="Arial" pitchFamily="34" charset="-120"/>
              </a:rPr>
              <a:t>Current implementation</a:t>
            </a:r>
            <a:endParaRPr lang="en-US" sz="940" dirty="0"/>
          </a:p>
          <a:p>
            <a:pPr marL="0" indent="0" algn="ctr">
              <a:buNone/>
            </a:pPr>
            <a:r>
              <a:rPr lang="en-US" sz="940" dirty="0">
                <a:solidFill>
                  <a:srgbClr val="1A2A31"/>
                </a:solidFill>
                <a:latin typeface="Arial" pitchFamily="34" charset="0"/>
                <a:ea typeface="Arial" pitchFamily="34" charset="-122"/>
                <a:cs typeface="Arial" pitchFamily="34" charset="-120"/>
              </a:rPr>
              <a:t>BRCA1 / BRCA2</a:t>
            </a:r>
            <a:endParaRPr lang="en-US" sz="940" dirty="0"/>
          </a:p>
        </p:txBody>
      </p:sp>
      <p:sp>
        <p:nvSpPr>
          <p:cNvPr id="94" name="Text 28">
            <a:extLst>
              <a:ext uri="{FF2B5EF4-FFF2-40B4-BE49-F238E27FC236}">
                <a16:creationId xmlns:a16="http://schemas.microsoft.com/office/drawing/2014/main" id="{624F00A5-3B73-A48C-8A19-8DF11184D151}"/>
              </a:ext>
            </a:extLst>
          </p:cNvPr>
          <p:cNvSpPr/>
          <p:nvPr/>
        </p:nvSpPr>
        <p:spPr>
          <a:xfrm>
            <a:off x="8206740" y="5971032"/>
            <a:ext cx="3406140" cy="493776"/>
          </a:xfrm>
          <a:prstGeom prst="rect">
            <a:avLst/>
          </a:prstGeom>
          <a:solidFill>
            <a:srgbClr val="FFFFFF"/>
          </a:solidFill>
          <a:ln w="7620">
            <a:solidFill>
              <a:srgbClr val="DCE4E6"/>
            </a:solidFill>
          </a:ln>
        </p:spPr>
        <p:txBody>
          <a:bodyPr wrap="square" lIns="1270" tIns="1270" rIns="1270" bIns="1270" rtlCol="0" anchor="ctr">
            <a:normAutofit/>
          </a:bodyPr>
          <a:lstStyle/>
          <a:p>
            <a:pPr marL="0" indent="0" algn="ctr">
              <a:buNone/>
            </a:pPr>
            <a:r>
              <a:rPr lang="en-US" sz="940" dirty="0">
                <a:solidFill>
                  <a:srgbClr val="1A2A31"/>
                </a:solidFill>
                <a:latin typeface="Arial" pitchFamily="34" charset="0"/>
                <a:ea typeface="Arial" pitchFamily="34" charset="-122"/>
                <a:cs typeface="Arial" pitchFamily="34" charset="-120"/>
              </a:rPr>
              <a:t>Designed for extension to</a:t>
            </a:r>
            <a:endParaRPr lang="en-US" sz="940" dirty="0"/>
          </a:p>
          <a:p>
            <a:pPr marL="0" indent="0" algn="ctr">
              <a:buNone/>
            </a:pPr>
            <a:r>
              <a:rPr lang="en-US" sz="940" dirty="0">
                <a:solidFill>
                  <a:srgbClr val="1A2A31"/>
                </a:solidFill>
                <a:latin typeface="Arial" pitchFamily="34" charset="0"/>
                <a:ea typeface="Arial" pitchFamily="34" charset="-122"/>
                <a:cs typeface="Arial" pitchFamily="34" charset="-120"/>
              </a:rPr>
              <a:t>additional genes and gene-specific guidelines</a:t>
            </a:r>
            <a:endParaRPr lang="en-US" sz="9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0">
            <a:extLst>
              <a:ext uri="{FF2B5EF4-FFF2-40B4-BE49-F238E27FC236}">
                <a16:creationId xmlns:a16="http://schemas.microsoft.com/office/drawing/2014/main" id="{BCE21AE8-55CC-4AA8-7213-49595C0306A4}"/>
              </a:ext>
            </a:extLst>
          </p:cNvPr>
          <p:cNvSpPr/>
          <p:nvPr/>
        </p:nvSpPr>
        <p:spPr>
          <a:xfrm>
            <a:off x="502920" y="329184"/>
            <a:ext cx="1463040" cy="164592"/>
          </a:xfrm>
          <a:prstGeom prst="rect">
            <a:avLst/>
          </a:prstGeom>
          <a:noFill/>
          <a:ln/>
        </p:spPr>
        <p:txBody>
          <a:bodyPr wrap="square" lIns="0" tIns="0" rIns="0" bIns="0" rtlCol="0" anchor="t">
            <a:normAutofit/>
          </a:bodyPr>
          <a:lstStyle/>
          <a:p>
            <a:pPr marL="0" indent="0" algn="l">
              <a:buNone/>
            </a:pPr>
            <a:r>
              <a:rPr lang="en-US" sz="750" kern="0" spc="120" dirty="0">
                <a:solidFill>
                  <a:srgbClr val="8A9BA1"/>
                </a:solidFill>
                <a:latin typeface="Courier New" pitchFamily="34" charset="0"/>
                <a:ea typeface="Courier New" pitchFamily="34" charset="-122"/>
                <a:cs typeface="Courier New" pitchFamily="34" charset="-120"/>
              </a:rPr>
              <a:t>Slide </a:t>
            </a:r>
            <a:r>
              <a:rPr lang="cs-CZ" sz="750" kern="0" spc="120" dirty="0">
                <a:solidFill>
                  <a:srgbClr val="8A9BA1"/>
                </a:solidFill>
                <a:latin typeface="Courier New" pitchFamily="34" charset="0"/>
                <a:ea typeface="Courier New" pitchFamily="34" charset="-122"/>
                <a:cs typeface="Courier New" pitchFamily="34" charset="-120"/>
              </a:rPr>
              <a:t>4</a:t>
            </a:r>
            <a:endParaRPr lang="en-US" sz="750" dirty="0"/>
          </a:p>
        </p:txBody>
      </p:sp>
      <p:sp>
        <p:nvSpPr>
          <p:cNvPr id="34" name="Text 1">
            <a:extLst>
              <a:ext uri="{FF2B5EF4-FFF2-40B4-BE49-F238E27FC236}">
                <a16:creationId xmlns:a16="http://schemas.microsoft.com/office/drawing/2014/main" id="{24995B4E-ACD6-52F2-779E-3B3D665870FD}"/>
              </a:ext>
            </a:extLst>
          </p:cNvPr>
          <p:cNvSpPr/>
          <p:nvPr/>
        </p:nvSpPr>
        <p:spPr>
          <a:xfrm>
            <a:off x="502920" y="566928"/>
            <a:ext cx="6400800" cy="530352"/>
          </a:xfrm>
          <a:prstGeom prst="rect">
            <a:avLst/>
          </a:prstGeom>
          <a:noFill/>
          <a:ln/>
        </p:spPr>
        <p:txBody>
          <a:bodyPr wrap="square" lIns="0" tIns="0" rIns="0" bIns="0" rtlCol="0" anchor="t">
            <a:normAutofit fontScale="85000" lnSpcReduction="10000"/>
          </a:bodyPr>
          <a:lstStyle/>
          <a:p>
            <a:pPr marL="0" indent="0" algn="l">
              <a:buNone/>
            </a:pPr>
            <a:r>
              <a:rPr lang="en-US" sz="2750" dirty="0">
                <a:solidFill>
                  <a:srgbClr val="1A2A31"/>
                </a:solidFill>
                <a:latin typeface="Georgia" pitchFamily="34" charset="0"/>
                <a:ea typeface="Georgia" pitchFamily="34" charset="-122"/>
                <a:cs typeface="Georgia" pitchFamily="34" charset="-120"/>
              </a:rPr>
              <a:t>Next phase: evidence from scientific literature</a:t>
            </a:r>
            <a:endParaRPr lang="en-US" sz="2750" dirty="0"/>
          </a:p>
        </p:txBody>
      </p:sp>
      <p:sp>
        <p:nvSpPr>
          <p:cNvPr id="36" name="Shape 2">
            <a:extLst>
              <a:ext uri="{FF2B5EF4-FFF2-40B4-BE49-F238E27FC236}">
                <a16:creationId xmlns:a16="http://schemas.microsoft.com/office/drawing/2014/main" id="{E6B25E2B-07D7-0DD8-BB53-FD88E0C71DD8}"/>
              </a:ext>
            </a:extLst>
          </p:cNvPr>
          <p:cNvSpPr/>
          <p:nvPr/>
        </p:nvSpPr>
        <p:spPr>
          <a:xfrm>
            <a:off x="502920" y="1161288"/>
            <a:ext cx="566928" cy="0"/>
          </a:xfrm>
          <a:prstGeom prst="line">
            <a:avLst/>
          </a:prstGeom>
          <a:noFill/>
          <a:ln w="19050">
            <a:solidFill>
              <a:srgbClr val="15697A"/>
            </a:solidFill>
            <a:prstDash val="solid"/>
          </a:ln>
        </p:spPr>
        <p:txBody>
          <a:bodyPr/>
          <a:lstStyle/>
          <a:p>
            <a:endParaRPr lang="en-US"/>
          </a:p>
        </p:txBody>
      </p:sp>
      <p:pic>
        <p:nvPicPr>
          <p:cNvPr id="38" name="Image 0" descr="/mnt/data/ariane_deck_author_identity/images/uochb-iocb-prague-logo.png">
            <a:extLst>
              <a:ext uri="{FF2B5EF4-FFF2-40B4-BE49-F238E27FC236}">
                <a16:creationId xmlns:a16="http://schemas.microsoft.com/office/drawing/2014/main" id="{F1E508C7-1D8D-A064-F973-ED0E9AAAFB20}"/>
              </a:ext>
            </a:extLst>
          </p:cNvPr>
          <p:cNvPicPr>
            <a:picLocks noChangeAspect="1"/>
          </p:cNvPicPr>
          <p:nvPr/>
        </p:nvPicPr>
        <p:blipFill>
          <a:blip r:embed="rId3"/>
          <a:stretch>
            <a:fillRect/>
          </a:stretch>
        </p:blipFill>
        <p:spPr>
          <a:xfrm>
            <a:off x="10152146" y="310896"/>
            <a:ext cx="1376132" cy="493776"/>
          </a:xfrm>
          <a:prstGeom prst="rect">
            <a:avLst/>
          </a:prstGeom>
        </p:spPr>
      </p:pic>
      <p:sp>
        <p:nvSpPr>
          <p:cNvPr id="40" name="Text 3">
            <a:extLst>
              <a:ext uri="{FF2B5EF4-FFF2-40B4-BE49-F238E27FC236}">
                <a16:creationId xmlns:a16="http://schemas.microsoft.com/office/drawing/2014/main" id="{B56ED180-7C6E-3A1A-630B-FAE723275909}"/>
              </a:ext>
            </a:extLst>
          </p:cNvPr>
          <p:cNvSpPr/>
          <p:nvPr/>
        </p:nvSpPr>
        <p:spPr>
          <a:xfrm>
            <a:off x="8595360" y="850392"/>
            <a:ext cx="3063240" cy="182880"/>
          </a:xfrm>
          <a:prstGeom prst="rect">
            <a:avLst/>
          </a:prstGeom>
          <a:noFill/>
          <a:ln/>
        </p:spPr>
        <p:txBody>
          <a:bodyPr wrap="square" lIns="0" tIns="0" rIns="0" bIns="0" rtlCol="0" anchor="t">
            <a:normAutofit/>
          </a:bodyPr>
          <a:lstStyle/>
          <a:p>
            <a:pPr marL="0" indent="0" algn="r">
              <a:buNone/>
            </a:pPr>
            <a:r>
              <a:rPr lang="en-US" sz="900" b="1" dirty="0">
                <a:solidFill>
                  <a:srgbClr val="1A2A31"/>
                </a:solidFill>
                <a:latin typeface="Arial" pitchFamily="34" charset="0"/>
                <a:ea typeface="Arial" pitchFamily="34" charset="-122"/>
                <a:cs typeface="Arial" pitchFamily="34" charset="-120"/>
              </a:rPr>
              <a:t>Kamila Clarová</a:t>
            </a:r>
            <a:endParaRPr lang="en-US" sz="900" dirty="0"/>
          </a:p>
        </p:txBody>
      </p:sp>
      <p:sp>
        <p:nvSpPr>
          <p:cNvPr id="42" name="Text 4">
            <a:extLst>
              <a:ext uri="{FF2B5EF4-FFF2-40B4-BE49-F238E27FC236}">
                <a16:creationId xmlns:a16="http://schemas.microsoft.com/office/drawing/2014/main" id="{A4679677-19F4-84DF-E6EB-A99E6CD80120}"/>
              </a:ext>
            </a:extLst>
          </p:cNvPr>
          <p:cNvSpPr/>
          <p:nvPr/>
        </p:nvSpPr>
        <p:spPr>
          <a:xfrm>
            <a:off x="8229600" y="1051560"/>
            <a:ext cx="3429000" cy="182880"/>
          </a:xfrm>
          <a:prstGeom prst="rect">
            <a:avLst/>
          </a:prstGeom>
          <a:noFill/>
          <a:ln/>
        </p:spPr>
        <p:txBody>
          <a:bodyPr wrap="square" lIns="0" tIns="0" rIns="0" bIns="0" rtlCol="0" anchor="t">
            <a:normAutofit/>
          </a:bodyPr>
          <a:lstStyle/>
          <a:p>
            <a:pPr marL="0" indent="0" algn="r">
              <a:buNone/>
            </a:pPr>
            <a:r>
              <a:rPr lang="en-US" sz="800" dirty="0">
                <a:solidFill>
                  <a:srgbClr val="5B6E76"/>
                </a:solidFill>
                <a:latin typeface="Arial" pitchFamily="34" charset="0"/>
                <a:ea typeface="Arial" pitchFamily="34" charset="-122"/>
                <a:cs typeface="Arial" pitchFamily="34" charset="-120"/>
              </a:rPr>
              <a:t>Jiří Vondrášek Group</a:t>
            </a:r>
            <a:endParaRPr lang="en-US" sz="800" dirty="0"/>
          </a:p>
        </p:txBody>
      </p:sp>
      <p:sp>
        <p:nvSpPr>
          <p:cNvPr id="44" name="Text 5">
            <a:extLst>
              <a:ext uri="{FF2B5EF4-FFF2-40B4-BE49-F238E27FC236}">
                <a16:creationId xmlns:a16="http://schemas.microsoft.com/office/drawing/2014/main" id="{C4D992BF-56B7-868E-0F7C-84C30AD04E06}"/>
              </a:ext>
            </a:extLst>
          </p:cNvPr>
          <p:cNvSpPr/>
          <p:nvPr/>
        </p:nvSpPr>
        <p:spPr>
          <a:xfrm>
            <a:off x="594360" y="1508760"/>
            <a:ext cx="5120640" cy="1783080"/>
          </a:xfrm>
          <a:prstGeom prst="rect">
            <a:avLst/>
          </a:prstGeom>
          <a:noFill/>
          <a:ln/>
        </p:spPr>
        <p:txBody>
          <a:bodyPr wrap="square" lIns="0" tIns="0" rIns="0" bIns="0" rtlCol="0" anchor="t">
            <a:normAutofit/>
          </a:bodyPr>
          <a:lstStyle/>
          <a:p>
            <a:pPr marL="0" indent="0" algn="l">
              <a:buNone/>
            </a:pPr>
            <a:r>
              <a:rPr lang="en-US" sz="1150" dirty="0">
                <a:solidFill>
                  <a:srgbClr val="1A2A31"/>
                </a:solidFill>
                <a:latin typeface="Arial" pitchFamily="34" charset="0"/>
                <a:ea typeface="Arial" pitchFamily="34" charset="-122"/>
                <a:cs typeface="Arial" pitchFamily="34" charset="-120"/>
              </a:rPr>
              <a:t>Not all evidence required for variant interpretation is available in structured databases.</a:t>
            </a:r>
            <a:endParaRPr lang="en-US" sz="1150" dirty="0"/>
          </a:p>
          <a:p>
            <a:pPr marL="0" indent="0" algn="l">
              <a:buNone/>
            </a:pPr>
            <a:endParaRPr lang="en-US" sz="1150" dirty="0"/>
          </a:p>
          <a:p>
            <a:pPr marL="0" indent="0" algn="l">
              <a:buNone/>
            </a:pPr>
            <a:r>
              <a:rPr lang="en-US" sz="1150" dirty="0">
                <a:solidFill>
                  <a:srgbClr val="1A2A31"/>
                </a:solidFill>
                <a:latin typeface="Arial" pitchFamily="34" charset="0"/>
                <a:ea typeface="Arial" pitchFamily="34" charset="-122"/>
                <a:cs typeface="Arial" pitchFamily="34" charset="-120"/>
              </a:rPr>
              <a:t>Functional studies, RNA experiments and other relevant results are often reported only in individual publications, tables or supplementary data and currently require manual literature curation.</a:t>
            </a:r>
            <a:endParaRPr lang="en-US" sz="1150" dirty="0"/>
          </a:p>
          <a:p>
            <a:pPr marL="0" indent="0" algn="l">
              <a:buNone/>
            </a:pPr>
            <a:endParaRPr lang="en-US" sz="1150" dirty="0"/>
          </a:p>
          <a:p>
            <a:pPr marL="0" indent="0" algn="l">
              <a:buNone/>
            </a:pPr>
            <a:r>
              <a:rPr lang="en-US" sz="1150" dirty="0">
                <a:solidFill>
                  <a:srgbClr val="1A2A31"/>
                </a:solidFill>
                <a:latin typeface="Arial" pitchFamily="34" charset="0"/>
                <a:ea typeface="Arial" pitchFamily="34" charset="-122"/>
                <a:cs typeface="Arial" pitchFamily="34" charset="-120"/>
              </a:rPr>
              <a:t>Language-model-based tools will be used to assist literature search and structured evidence extraction. Extracted evidence will remain linked to the original publication and will be presented for expert review.</a:t>
            </a:r>
            <a:endParaRPr lang="en-US" sz="1150" dirty="0"/>
          </a:p>
        </p:txBody>
      </p:sp>
      <p:sp>
        <p:nvSpPr>
          <p:cNvPr id="46" name="Text 6">
            <a:extLst>
              <a:ext uri="{FF2B5EF4-FFF2-40B4-BE49-F238E27FC236}">
                <a16:creationId xmlns:a16="http://schemas.microsoft.com/office/drawing/2014/main" id="{D9DA8251-822C-A569-83EA-EC2511563FFF}"/>
              </a:ext>
            </a:extLst>
          </p:cNvPr>
          <p:cNvSpPr/>
          <p:nvPr/>
        </p:nvSpPr>
        <p:spPr>
          <a:xfrm>
            <a:off x="594360" y="3703320"/>
            <a:ext cx="5120640" cy="164592"/>
          </a:xfrm>
          <a:prstGeom prst="rect">
            <a:avLst/>
          </a:prstGeom>
          <a:noFill/>
          <a:ln/>
        </p:spPr>
        <p:txBody>
          <a:bodyPr wrap="square" lIns="0" tIns="0" rIns="0" bIns="0" rtlCol="0" anchor="t">
            <a:normAutofit/>
          </a:bodyPr>
          <a:lstStyle/>
          <a:p>
            <a:pPr marL="0" indent="0" algn="l">
              <a:buNone/>
            </a:pPr>
            <a:r>
              <a:rPr lang="en-US" sz="770" b="1" kern="0" spc="110" dirty="0">
                <a:solidFill>
                  <a:srgbClr val="8A9BA1"/>
                </a:solidFill>
                <a:latin typeface="Arial" pitchFamily="34" charset="0"/>
                <a:ea typeface="Arial" pitchFamily="34" charset="-122"/>
                <a:cs typeface="Arial" pitchFamily="34" charset="-120"/>
              </a:rPr>
              <a:t>Initial scope</a:t>
            </a:r>
            <a:endParaRPr lang="en-US" sz="770" dirty="0"/>
          </a:p>
        </p:txBody>
      </p:sp>
      <p:sp>
        <p:nvSpPr>
          <p:cNvPr id="48" name="Shape 7">
            <a:extLst>
              <a:ext uri="{FF2B5EF4-FFF2-40B4-BE49-F238E27FC236}">
                <a16:creationId xmlns:a16="http://schemas.microsoft.com/office/drawing/2014/main" id="{C7D85AF5-EC73-D2FE-96DB-D2DE7DF53923}"/>
              </a:ext>
            </a:extLst>
          </p:cNvPr>
          <p:cNvSpPr/>
          <p:nvPr/>
        </p:nvSpPr>
        <p:spPr>
          <a:xfrm>
            <a:off x="594360" y="3950208"/>
            <a:ext cx="5120640" cy="0"/>
          </a:xfrm>
          <a:prstGeom prst="line">
            <a:avLst/>
          </a:prstGeom>
          <a:noFill/>
          <a:ln w="12700">
            <a:solidFill>
              <a:srgbClr val="EBF0F1"/>
            </a:solidFill>
            <a:prstDash val="solid"/>
          </a:ln>
        </p:spPr>
        <p:txBody>
          <a:bodyPr/>
          <a:lstStyle/>
          <a:p>
            <a:endParaRPr lang="en-US"/>
          </a:p>
        </p:txBody>
      </p:sp>
      <p:sp>
        <p:nvSpPr>
          <p:cNvPr id="50" name="Shape 8">
            <a:extLst>
              <a:ext uri="{FF2B5EF4-FFF2-40B4-BE49-F238E27FC236}">
                <a16:creationId xmlns:a16="http://schemas.microsoft.com/office/drawing/2014/main" id="{258DBDA0-6E08-E6CF-66FD-355F24088707}"/>
              </a:ext>
            </a:extLst>
          </p:cNvPr>
          <p:cNvSpPr/>
          <p:nvPr/>
        </p:nvSpPr>
        <p:spPr>
          <a:xfrm>
            <a:off x="594360" y="4105656"/>
            <a:ext cx="5120640" cy="0"/>
          </a:xfrm>
          <a:prstGeom prst="line">
            <a:avLst/>
          </a:prstGeom>
          <a:noFill/>
          <a:ln w="8890">
            <a:solidFill>
              <a:srgbClr val="EBF0F1"/>
            </a:solidFill>
            <a:prstDash val="solid"/>
          </a:ln>
        </p:spPr>
        <p:txBody>
          <a:bodyPr/>
          <a:lstStyle/>
          <a:p>
            <a:endParaRPr lang="en-US"/>
          </a:p>
        </p:txBody>
      </p:sp>
      <p:sp>
        <p:nvSpPr>
          <p:cNvPr id="52" name="Text 9">
            <a:extLst>
              <a:ext uri="{FF2B5EF4-FFF2-40B4-BE49-F238E27FC236}">
                <a16:creationId xmlns:a16="http://schemas.microsoft.com/office/drawing/2014/main" id="{E8F8A283-328F-7B33-3B7B-209F443257A5}"/>
              </a:ext>
            </a:extLst>
          </p:cNvPr>
          <p:cNvSpPr/>
          <p:nvPr/>
        </p:nvSpPr>
        <p:spPr>
          <a:xfrm>
            <a:off x="594360" y="4169664"/>
            <a:ext cx="5120640" cy="100584"/>
          </a:xfrm>
          <a:prstGeom prst="rect">
            <a:avLst/>
          </a:prstGeom>
          <a:noFill/>
          <a:ln/>
        </p:spPr>
        <p:txBody>
          <a:bodyPr wrap="square" lIns="0" tIns="0" rIns="0" bIns="0" rtlCol="0" anchor="t">
            <a:normAutofit lnSpcReduction="10000"/>
          </a:bodyPr>
          <a:lstStyle/>
          <a:p>
            <a:pPr marL="0" indent="0" algn="l">
              <a:buNone/>
            </a:pPr>
            <a:r>
              <a:rPr lang="en-US" sz="700" dirty="0">
                <a:solidFill>
                  <a:srgbClr val="8A9BA1"/>
                </a:solidFill>
                <a:latin typeface="Courier New" pitchFamily="34" charset="0"/>
                <a:ea typeface="Courier New" pitchFamily="34" charset="-122"/>
                <a:cs typeface="Courier New" pitchFamily="34" charset="-120"/>
              </a:rPr>
              <a:t>Genes</a:t>
            </a:r>
            <a:endParaRPr lang="en-US" sz="700" dirty="0"/>
          </a:p>
        </p:txBody>
      </p:sp>
      <p:sp>
        <p:nvSpPr>
          <p:cNvPr id="54" name="Text 10">
            <a:extLst>
              <a:ext uri="{FF2B5EF4-FFF2-40B4-BE49-F238E27FC236}">
                <a16:creationId xmlns:a16="http://schemas.microsoft.com/office/drawing/2014/main" id="{D1A4D285-E540-2F75-BDA6-FF797DF1CC4D}"/>
              </a:ext>
            </a:extLst>
          </p:cNvPr>
          <p:cNvSpPr/>
          <p:nvPr/>
        </p:nvSpPr>
        <p:spPr>
          <a:xfrm>
            <a:off x="594360" y="4325112"/>
            <a:ext cx="5120640" cy="237744"/>
          </a:xfrm>
          <a:prstGeom prst="rect">
            <a:avLst/>
          </a:prstGeom>
          <a:noFill/>
          <a:ln/>
        </p:spPr>
        <p:txBody>
          <a:bodyPr wrap="square" lIns="0" tIns="0" rIns="0" bIns="0" rtlCol="0" anchor="t">
            <a:normAutofit/>
          </a:bodyPr>
          <a:lstStyle/>
          <a:p>
            <a:pPr marL="0" indent="0" algn="l">
              <a:buNone/>
            </a:pPr>
            <a:r>
              <a:rPr lang="en-US" sz="980" dirty="0">
                <a:solidFill>
                  <a:srgbClr val="1A2A31"/>
                </a:solidFill>
                <a:latin typeface="Arial" pitchFamily="34" charset="0"/>
                <a:ea typeface="Arial" pitchFamily="34" charset="-122"/>
                <a:cs typeface="Arial" pitchFamily="34" charset="-120"/>
              </a:rPr>
              <a:t>BRCA1 and BRCA2</a:t>
            </a:r>
            <a:endParaRPr lang="en-US" sz="980" dirty="0"/>
          </a:p>
        </p:txBody>
      </p:sp>
      <p:sp>
        <p:nvSpPr>
          <p:cNvPr id="56" name="Shape 11">
            <a:extLst>
              <a:ext uri="{FF2B5EF4-FFF2-40B4-BE49-F238E27FC236}">
                <a16:creationId xmlns:a16="http://schemas.microsoft.com/office/drawing/2014/main" id="{79E9268A-7FFD-3EA5-64F8-225CB139C265}"/>
              </a:ext>
            </a:extLst>
          </p:cNvPr>
          <p:cNvSpPr/>
          <p:nvPr/>
        </p:nvSpPr>
        <p:spPr>
          <a:xfrm>
            <a:off x="594360" y="4599432"/>
            <a:ext cx="5120640" cy="0"/>
          </a:xfrm>
          <a:prstGeom prst="line">
            <a:avLst/>
          </a:prstGeom>
          <a:noFill/>
          <a:ln w="8890">
            <a:solidFill>
              <a:srgbClr val="EBF0F1"/>
            </a:solidFill>
            <a:prstDash val="solid"/>
          </a:ln>
        </p:spPr>
        <p:txBody>
          <a:bodyPr/>
          <a:lstStyle/>
          <a:p>
            <a:endParaRPr lang="en-US"/>
          </a:p>
        </p:txBody>
      </p:sp>
      <p:sp>
        <p:nvSpPr>
          <p:cNvPr id="58" name="Text 12">
            <a:extLst>
              <a:ext uri="{FF2B5EF4-FFF2-40B4-BE49-F238E27FC236}">
                <a16:creationId xmlns:a16="http://schemas.microsoft.com/office/drawing/2014/main" id="{2B225F0B-64BA-2290-145F-ABAA133D63F3}"/>
              </a:ext>
            </a:extLst>
          </p:cNvPr>
          <p:cNvSpPr/>
          <p:nvPr/>
        </p:nvSpPr>
        <p:spPr>
          <a:xfrm>
            <a:off x="594360" y="4663440"/>
            <a:ext cx="5120640" cy="100584"/>
          </a:xfrm>
          <a:prstGeom prst="rect">
            <a:avLst/>
          </a:prstGeom>
          <a:noFill/>
          <a:ln/>
        </p:spPr>
        <p:txBody>
          <a:bodyPr wrap="square" lIns="0" tIns="0" rIns="0" bIns="0" rtlCol="0" anchor="t">
            <a:normAutofit lnSpcReduction="10000"/>
          </a:bodyPr>
          <a:lstStyle/>
          <a:p>
            <a:pPr marL="0" indent="0" algn="l">
              <a:buNone/>
            </a:pPr>
            <a:r>
              <a:rPr lang="en-US" sz="700" dirty="0">
                <a:solidFill>
                  <a:srgbClr val="8A9BA1"/>
                </a:solidFill>
                <a:latin typeface="Courier New" pitchFamily="34" charset="0"/>
                <a:ea typeface="Courier New" pitchFamily="34" charset="-122"/>
                <a:cs typeface="Courier New" pitchFamily="34" charset="-120"/>
              </a:rPr>
              <a:t>Evidence</a:t>
            </a:r>
            <a:endParaRPr lang="en-US" sz="700" dirty="0"/>
          </a:p>
        </p:txBody>
      </p:sp>
      <p:sp>
        <p:nvSpPr>
          <p:cNvPr id="60" name="Text 13">
            <a:extLst>
              <a:ext uri="{FF2B5EF4-FFF2-40B4-BE49-F238E27FC236}">
                <a16:creationId xmlns:a16="http://schemas.microsoft.com/office/drawing/2014/main" id="{D73D4B89-1546-C61E-9E7F-9D05A23BB40D}"/>
              </a:ext>
            </a:extLst>
          </p:cNvPr>
          <p:cNvSpPr/>
          <p:nvPr/>
        </p:nvSpPr>
        <p:spPr>
          <a:xfrm>
            <a:off x="594360" y="4818888"/>
            <a:ext cx="5120640" cy="237744"/>
          </a:xfrm>
          <a:prstGeom prst="rect">
            <a:avLst/>
          </a:prstGeom>
          <a:noFill/>
          <a:ln/>
        </p:spPr>
        <p:txBody>
          <a:bodyPr wrap="square" lIns="0" tIns="0" rIns="0" bIns="0" rtlCol="0" anchor="t">
            <a:normAutofit/>
          </a:bodyPr>
          <a:lstStyle/>
          <a:p>
            <a:pPr marL="0" indent="0" algn="l">
              <a:buNone/>
            </a:pPr>
            <a:r>
              <a:rPr lang="en-US" sz="980" dirty="0">
                <a:solidFill>
                  <a:srgbClr val="1A2A31"/>
                </a:solidFill>
                <a:latin typeface="Arial" pitchFamily="34" charset="0"/>
                <a:ea typeface="Arial" pitchFamily="34" charset="-122"/>
                <a:cs typeface="Arial" pitchFamily="34" charset="-120"/>
              </a:rPr>
              <a:t>Functional and RNA / splicing studies</a:t>
            </a:r>
            <a:endParaRPr lang="en-US" sz="980" dirty="0"/>
          </a:p>
        </p:txBody>
      </p:sp>
      <p:sp>
        <p:nvSpPr>
          <p:cNvPr id="62" name="Shape 14">
            <a:extLst>
              <a:ext uri="{FF2B5EF4-FFF2-40B4-BE49-F238E27FC236}">
                <a16:creationId xmlns:a16="http://schemas.microsoft.com/office/drawing/2014/main" id="{F374EB74-DE76-E47B-DFA3-33911D4CF33F}"/>
              </a:ext>
            </a:extLst>
          </p:cNvPr>
          <p:cNvSpPr/>
          <p:nvPr/>
        </p:nvSpPr>
        <p:spPr>
          <a:xfrm>
            <a:off x="594360" y="5093208"/>
            <a:ext cx="5120640" cy="0"/>
          </a:xfrm>
          <a:prstGeom prst="line">
            <a:avLst/>
          </a:prstGeom>
          <a:noFill/>
          <a:ln w="8890">
            <a:solidFill>
              <a:srgbClr val="EBF0F1"/>
            </a:solidFill>
            <a:prstDash val="solid"/>
          </a:ln>
        </p:spPr>
        <p:txBody>
          <a:bodyPr/>
          <a:lstStyle/>
          <a:p>
            <a:endParaRPr lang="en-US"/>
          </a:p>
        </p:txBody>
      </p:sp>
      <p:sp>
        <p:nvSpPr>
          <p:cNvPr id="64" name="Text 15">
            <a:extLst>
              <a:ext uri="{FF2B5EF4-FFF2-40B4-BE49-F238E27FC236}">
                <a16:creationId xmlns:a16="http://schemas.microsoft.com/office/drawing/2014/main" id="{574FE186-0C99-7586-43AA-67EACCF8A239}"/>
              </a:ext>
            </a:extLst>
          </p:cNvPr>
          <p:cNvSpPr/>
          <p:nvPr/>
        </p:nvSpPr>
        <p:spPr>
          <a:xfrm>
            <a:off x="594360" y="5157216"/>
            <a:ext cx="5120640" cy="100584"/>
          </a:xfrm>
          <a:prstGeom prst="rect">
            <a:avLst/>
          </a:prstGeom>
          <a:noFill/>
          <a:ln/>
        </p:spPr>
        <p:txBody>
          <a:bodyPr wrap="square" lIns="0" tIns="0" rIns="0" bIns="0" rtlCol="0" anchor="t">
            <a:normAutofit lnSpcReduction="10000"/>
          </a:bodyPr>
          <a:lstStyle/>
          <a:p>
            <a:pPr marL="0" indent="0" algn="l">
              <a:buNone/>
            </a:pPr>
            <a:r>
              <a:rPr lang="en-US" sz="700" dirty="0">
                <a:solidFill>
                  <a:srgbClr val="8A9BA1"/>
                </a:solidFill>
                <a:latin typeface="Courier New" pitchFamily="34" charset="0"/>
                <a:ea typeface="Courier New" pitchFamily="34" charset="-122"/>
                <a:cs typeface="Courier New" pitchFamily="34" charset="-120"/>
              </a:rPr>
              <a:t>Why BRCA first</a:t>
            </a:r>
            <a:endParaRPr lang="en-US" sz="700" dirty="0"/>
          </a:p>
        </p:txBody>
      </p:sp>
      <p:sp>
        <p:nvSpPr>
          <p:cNvPr id="66" name="Text 16">
            <a:extLst>
              <a:ext uri="{FF2B5EF4-FFF2-40B4-BE49-F238E27FC236}">
                <a16:creationId xmlns:a16="http://schemas.microsoft.com/office/drawing/2014/main" id="{E7121A6A-1D71-59C6-DB1A-964DE2A49A7E}"/>
              </a:ext>
            </a:extLst>
          </p:cNvPr>
          <p:cNvSpPr/>
          <p:nvPr/>
        </p:nvSpPr>
        <p:spPr>
          <a:xfrm>
            <a:off x="594360" y="5312664"/>
            <a:ext cx="5120640" cy="237744"/>
          </a:xfrm>
          <a:prstGeom prst="rect">
            <a:avLst/>
          </a:prstGeom>
          <a:noFill/>
          <a:ln/>
        </p:spPr>
        <p:txBody>
          <a:bodyPr wrap="square" lIns="0" tIns="0" rIns="0" bIns="0" rtlCol="0" anchor="t">
            <a:normAutofit/>
          </a:bodyPr>
          <a:lstStyle/>
          <a:p>
            <a:pPr marL="0" indent="0" algn="l">
              <a:buNone/>
            </a:pPr>
            <a:r>
              <a:rPr lang="en-US" sz="980" dirty="0">
                <a:solidFill>
                  <a:srgbClr val="1A2A31"/>
                </a:solidFill>
                <a:latin typeface="Arial" pitchFamily="34" charset="0"/>
                <a:ea typeface="Arial" pitchFamily="34" charset="-122"/>
                <a:cs typeface="Arial" pitchFamily="34" charset="-120"/>
              </a:rPr>
              <a:t>A large body of curated literature is available for development and evaluation</a:t>
            </a:r>
            <a:endParaRPr lang="en-US" sz="980" dirty="0"/>
          </a:p>
        </p:txBody>
      </p:sp>
      <p:sp>
        <p:nvSpPr>
          <p:cNvPr id="68" name="Shape 17">
            <a:extLst>
              <a:ext uri="{FF2B5EF4-FFF2-40B4-BE49-F238E27FC236}">
                <a16:creationId xmlns:a16="http://schemas.microsoft.com/office/drawing/2014/main" id="{C903E8A0-CDDA-BB35-D2F9-C35E8DFA7C4C}"/>
              </a:ext>
            </a:extLst>
          </p:cNvPr>
          <p:cNvSpPr/>
          <p:nvPr/>
        </p:nvSpPr>
        <p:spPr>
          <a:xfrm>
            <a:off x="594360" y="5586984"/>
            <a:ext cx="5120640" cy="0"/>
          </a:xfrm>
          <a:prstGeom prst="line">
            <a:avLst/>
          </a:prstGeom>
          <a:noFill/>
          <a:ln w="8890">
            <a:solidFill>
              <a:srgbClr val="EBF0F1"/>
            </a:solidFill>
            <a:prstDash val="solid"/>
          </a:ln>
        </p:spPr>
        <p:txBody>
          <a:bodyPr/>
          <a:lstStyle/>
          <a:p>
            <a:endParaRPr lang="en-US"/>
          </a:p>
        </p:txBody>
      </p:sp>
      <p:sp>
        <p:nvSpPr>
          <p:cNvPr id="70" name="Text 18">
            <a:extLst>
              <a:ext uri="{FF2B5EF4-FFF2-40B4-BE49-F238E27FC236}">
                <a16:creationId xmlns:a16="http://schemas.microsoft.com/office/drawing/2014/main" id="{E456D91A-3025-758E-AE46-0BDDE0D86F16}"/>
              </a:ext>
            </a:extLst>
          </p:cNvPr>
          <p:cNvSpPr/>
          <p:nvPr/>
        </p:nvSpPr>
        <p:spPr>
          <a:xfrm>
            <a:off x="6172200" y="1508760"/>
            <a:ext cx="5440680" cy="164592"/>
          </a:xfrm>
          <a:prstGeom prst="rect">
            <a:avLst/>
          </a:prstGeom>
          <a:noFill/>
          <a:ln/>
        </p:spPr>
        <p:txBody>
          <a:bodyPr wrap="square" lIns="0" tIns="0" rIns="0" bIns="0" rtlCol="0" anchor="t">
            <a:normAutofit/>
          </a:bodyPr>
          <a:lstStyle/>
          <a:p>
            <a:pPr marL="0" indent="0" algn="l">
              <a:buNone/>
            </a:pPr>
            <a:r>
              <a:rPr lang="en-US" sz="770" b="1" kern="0" spc="110" dirty="0">
                <a:solidFill>
                  <a:srgbClr val="8A9BA1"/>
                </a:solidFill>
                <a:latin typeface="Arial" pitchFamily="34" charset="0"/>
                <a:ea typeface="Arial" pitchFamily="34" charset="-122"/>
                <a:cs typeface="Arial" pitchFamily="34" charset="-120"/>
              </a:rPr>
              <a:t>Planned workflow</a:t>
            </a:r>
            <a:endParaRPr lang="en-US" sz="770" dirty="0"/>
          </a:p>
        </p:txBody>
      </p:sp>
      <p:sp>
        <p:nvSpPr>
          <p:cNvPr id="72" name="Shape 19">
            <a:extLst>
              <a:ext uri="{FF2B5EF4-FFF2-40B4-BE49-F238E27FC236}">
                <a16:creationId xmlns:a16="http://schemas.microsoft.com/office/drawing/2014/main" id="{3C151F08-7A5D-5C9F-602C-2128E9B3E019}"/>
              </a:ext>
            </a:extLst>
          </p:cNvPr>
          <p:cNvSpPr/>
          <p:nvPr/>
        </p:nvSpPr>
        <p:spPr>
          <a:xfrm>
            <a:off x="6172200" y="1755648"/>
            <a:ext cx="5440680" cy="0"/>
          </a:xfrm>
          <a:prstGeom prst="line">
            <a:avLst/>
          </a:prstGeom>
          <a:noFill/>
          <a:ln w="12700">
            <a:solidFill>
              <a:srgbClr val="EBF0F1"/>
            </a:solidFill>
            <a:prstDash val="solid"/>
          </a:ln>
        </p:spPr>
        <p:txBody>
          <a:bodyPr/>
          <a:lstStyle/>
          <a:p>
            <a:endParaRPr lang="en-US"/>
          </a:p>
        </p:txBody>
      </p:sp>
      <p:sp>
        <p:nvSpPr>
          <p:cNvPr id="74" name="Text 20">
            <a:extLst>
              <a:ext uri="{FF2B5EF4-FFF2-40B4-BE49-F238E27FC236}">
                <a16:creationId xmlns:a16="http://schemas.microsoft.com/office/drawing/2014/main" id="{4CEF6780-6F7C-C3A1-DEC4-A3838766CBA5}"/>
              </a:ext>
            </a:extLst>
          </p:cNvPr>
          <p:cNvSpPr/>
          <p:nvPr/>
        </p:nvSpPr>
        <p:spPr>
          <a:xfrm>
            <a:off x="6172200" y="1901952"/>
            <a:ext cx="5440680" cy="438912"/>
          </a:xfrm>
          <a:prstGeom prst="rect">
            <a:avLst/>
          </a:prstGeom>
          <a:solidFill>
            <a:srgbClr val="FFFFFF"/>
          </a:solidFill>
          <a:ln w="9525">
            <a:solidFill>
              <a:srgbClr val="15697A"/>
            </a:solidFill>
          </a:ln>
        </p:spPr>
        <p:txBody>
          <a:bodyPr wrap="square" lIns="635" tIns="635" rIns="635" bIns="635" rtlCol="0" anchor="ctr">
            <a:normAutofit/>
          </a:bodyPr>
          <a:lstStyle/>
          <a:p>
            <a:pPr marL="0" indent="0" algn="ctr">
              <a:buNone/>
            </a:pPr>
            <a:r>
              <a:rPr lang="en-US" sz="1050" b="1" dirty="0">
                <a:solidFill>
                  <a:srgbClr val="1A2A31"/>
                </a:solidFill>
                <a:latin typeface="Arial" pitchFamily="34" charset="0"/>
                <a:ea typeface="Arial" pitchFamily="34" charset="-122"/>
                <a:cs typeface="Arial" pitchFamily="34" charset="-120"/>
              </a:rPr>
              <a:t>Scientific literature</a:t>
            </a:r>
            <a:endParaRPr lang="en-US" sz="1050" dirty="0"/>
          </a:p>
        </p:txBody>
      </p:sp>
      <p:sp>
        <p:nvSpPr>
          <p:cNvPr id="76" name="Text 21">
            <a:extLst>
              <a:ext uri="{FF2B5EF4-FFF2-40B4-BE49-F238E27FC236}">
                <a16:creationId xmlns:a16="http://schemas.microsoft.com/office/drawing/2014/main" id="{9A40F549-D8DC-AFBD-9606-499C7D003A85}"/>
              </a:ext>
            </a:extLst>
          </p:cNvPr>
          <p:cNvSpPr/>
          <p:nvPr/>
        </p:nvSpPr>
        <p:spPr>
          <a:xfrm>
            <a:off x="6172200" y="2505456"/>
            <a:ext cx="5440680" cy="438912"/>
          </a:xfrm>
          <a:prstGeom prst="rect">
            <a:avLst/>
          </a:prstGeom>
          <a:solidFill>
            <a:srgbClr val="F5F8F8"/>
          </a:solidFill>
          <a:ln w="9525">
            <a:solidFill>
              <a:srgbClr val="DCE4E6"/>
            </a:solidFill>
          </a:ln>
        </p:spPr>
        <p:txBody>
          <a:bodyPr wrap="square" lIns="635" tIns="635" rIns="635" bIns="635" rtlCol="0" anchor="ctr">
            <a:normAutofit/>
          </a:bodyPr>
          <a:lstStyle/>
          <a:p>
            <a:pPr marL="0" indent="0" algn="ctr">
              <a:buNone/>
            </a:pPr>
            <a:r>
              <a:rPr lang="en-US" sz="1050" dirty="0">
                <a:solidFill>
                  <a:srgbClr val="1A2A31"/>
                </a:solidFill>
                <a:latin typeface="Arial" pitchFamily="34" charset="0"/>
                <a:ea typeface="Arial" pitchFamily="34" charset="-122"/>
                <a:cs typeface="Arial" pitchFamily="34" charset="-120"/>
              </a:rPr>
              <a:t>Find relevant studies</a:t>
            </a:r>
            <a:endParaRPr lang="en-US" sz="1050" dirty="0"/>
          </a:p>
        </p:txBody>
      </p:sp>
      <p:sp>
        <p:nvSpPr>
          <p:cNvPr id="78" name="Text 22">
            <a:extLst>
              <a:ext uri="{FF2B5EF4-FFF2-40B4-BE49-F238E27FC236}">
                <a16:creationId xmlns:a16="http://schemas.microsoft.com/office/drawing/2014/main" id="{4E1066DD-968F-7D23-69E5-02AAF0954601}"/>
              </a:ext>
            </a:extLst>
          </p:cNvPr>
          <p:cNvSpPr/>
          <p:nvPr/>
        </p:nvSpPr>
        <p:spPr>
          <a:xfrm>
            <a:off x="6172200" y="3108960"/>
            <a:ext cx="5440680" cy="438912"/>
          </a:xfrm>
          <a:prstGeom prst="rect">
            <a:avLst/>
          </a:prstGeom>
          <a:solidFill>
            <a:srgbClr val="F5F8F8"/>
          </a:solidFill>
          <a:ln w="9525">
            <a:solidFill>
              <a:srgbClr val="DCE4E6"/>
            </a:solidFill>
          </a:ln>
        </p:spPr>
        <p:txBody>
          <a:bodyPr wrap="square" lIns="635" tIns="635" rIns="635" bIns="635" rtlCol="0" anchor="ctr">
            <a:normAutofit/>
          </a:bodyPr>
          <a:lstStyle/>
          <a:p>
            <a:pPr marL="0" indent="0" algn="ctr">
              <a:buNone/>
            </a:pPr>
            <a:r>
              <a:rPr lang="en-US" sz="1050" dirty="0">
                <a:solidFill>
                  <a:srgbClr val="1A2A31"/>
                </a:solidFill>
                <a:latin typeface="Arial" pitchFamily="34" charset="0"/>
                <a:ea typeface="Arial" pitchFamily="34" charset="-122"/>
                <a:cs typeface="Arial" pitchFamily="34" charset="-120"/>
              </a:rPr>
              <a:t>Identify variants, experiments and results</a:t>
            </a:r>
            <a:endParaRPr lang="en-US" sz="1050" dirty="0"/>
          </a:p>
        </p:txBody>
      </p:sp>
      <p:sp>
        <p:nvSpPr>
          <p:cNvPr id="80" name="Text 23">
            <a:extLst>
              <a:ext uri="{FF2B5EF4-FFF2-40B4-BE49-F238E27FC236}">
                <a16:creationId xmlns:a16="http://schemas.microsoft.com/office/drawing/2014/main" id="{590D6A11-DE82-5DAF-B9A7-093B2EAC02FE}"/>
              </a:ext>
            </a:extLst>
          </p:cNvPr>
          <p:cNvSpPr/>
          <p:nvPr/>
        </p:nvSpPr>
        <p:spPr>
          <a:xfrm>
            <a:off x="6172200" y="3712464"/>
            <a:ext cx="5440680" cy="438912"/>
          </a:xfrm>
          <a:prstGeom prst="rect">
            <a:avLst/>
          </a:prstGeom>
          <a:solidFill>
            <a:srgbClr val="F5F8F8"/>
          </a:solidFill>
          <a:ln w="9525">
            <a:solidFill>
              <a:srgbClr val="DCE4E6"/>
            </a:solidFill>
          </a:ln>
        </p:spPr>
        <p:txBody>
          <a:bodyPr wrap="square" lIns="635" tIns="635" rIns="635" bIns="635" rtlCol="0" anchor="ctr">
            <a:normAutofit/>
          </a:bodyPr>
          <a:lstStyle/>
          <a:p>
            <a:pPr marL="0" indent="0" algn="ctr">
              <a:buNone/>
            </a:pPr>
            <a:r>
              <a:rPr lang="en-US" sz="1050" dirty="0">
                <a:solidFill>
                  <a:srgbClr val="1A2A31"/>
                </a:solidFill>
                <a:latin typeface="Arial" pitchFamily="34" charset="0"/>
                <a:ea typeface="Arial" pitchFamily="34" charset="-122"/>
                <a:cs typeface="Arial" pitchFamily="34" charset="-120"/>
              </a:rPr>
              <a:t>Extract structured, source-linked evidence</a:t>
            </a:r>
            <a:endParaRPr lang="en-US" sz="1050" dirty="0"/>
          </a:p>
        </p:txBody>
      </p:sp>
      <p:sp>
        <p:nvSpPr>
          <p:cNvPr id="82" name="Text 24">
            <a:extLst>
              <a:ext uri="{FF2B5EF4-FFF2-40B4-BE49-F238E27FC236}">
                <a16:creationId xmlns:a16="http://schemas.microsoft.com/office/drawing/2014/main" id="{BAE6D641-2560-FBD4-AEB2-6E6C56A99955}"/>
              </a:ext>
            </a:extLst>
          </p:cNvPr>
          <p:cNvSpPr/>
          <p:nvPr/>
        </p:nvSpPr>
        <p:spPr>
          <a:xfrm>
            <a:off x="6172200" y="4315968"/>
            <a:ext cx="5440680" cy="438912"/>
          </a:xfrm>
          <a:prstGeom prst="rect">
            <a:avLst/>
          </a:prstGeom>
          <a:solidFill>
            <a:srgbClr val="15697A"/>
          </a:solidFill>
          <a:ln w="9525">
            <a:solidFill>
              <a:srgbClr val="15697A"/>
            </a:solidFill>
          </a:ln>
        </p:spPr>
        <p:txBody>
          <a:bodyPr wrap="square" lIns="635" tIns="635" rIns="635" bIns="635" rtlCol="0" anchor="ctr">
            <a:normAutofit/>
          </a:bodyPr>
          <a:lstStyle/>
          <a:p>
            <a:pPr marL="0" indent="0" algn="ctr">
              <a:buNone/>
            </a:pPr>
            <a:r>
              <a:rPr lang="en-US" sz="1050" b="1" dirty="0">
                <a:solidFill>
                  <a:srgbClr val="FFFFFF"/>
                </a:solidFill>
                <a:latin typeface="Arial" pitchFamily="34" charset="0"/>
                <a:ea typeface="Arial" pitchFamily="34" charset="-122"/>
                <a:cs typeface="Arial" pitchFamily="34" charset="-120"/>
              </a:rPr>
              <a:t>Expert review and use in ARIANE</a:t>
            </a:r>
            <a:endParaRPr lang="en-US" sz="1050" dirty="0"/>
          </a:p>
        </p:txBody>
      </p:sp>
      <p:sp>
        <p:nvSpPr>
          <p:cNvPr id="84" name="Text 25">
            <a:extLst>
              <a:ext uri="{FF2B5EF4-FFF2-40B4-BE49-F238E27FC236}">
                <a16:creationId xmlns:a16="http://schemas.microsoft.com/office/drawing/2014/main" id="{BD72FC74-FEAF-04DE-DFF0-937EB439FD53}"/>
              </a:ext>
            </a:extLst>
          </p:cNvPr>
          <p:cNvSpPr/>
          <p:nvPr/>
        </p:nvSpPr>
        <p:spPr>
          <a:xfrm>
            <a:off x="6172200" y="4983480"/>
            <a:ext cx="5440680" cy="164592"/>
          </a:xfrm>
          <a:prstGeom prst="rect">
            <a:avLst/>
          </a:prstGeom>
          <a:noFill/>
          <a:ln/>
        </p:spPr>
        <p:txBody>
          <a:bodyPr wrap="square" lIns="0" tIns="0" rIns="0" bIns="0" rtlCol="0" anchor="t">
            <a:normAutofit/>
          </a:bodyPr>
          <a:lstStyle/>
          <a:p>
            <a:pPr marL="0" indent="0" algn="l">
              <a:buNone/>
            </a:pPr>
            <a:r>
              <a:rPr lang="en-US" sz="770" b="1" kern="0" spc="110" dirty="0">
                <a:solidFill>
                  <a:srgbClr val="8A9BA1"/>
                </a:solidFill>
                <a:latin typeface="Arial" pitchFamily="34" charset="0"/>
                <a:ea typeface="Arial" pitchFamily="34" charset="-122"/>
                <a:cs typeface="Arial" pitchFamily="34" charset="-120"/>
              </a:rPr>
              <a:t>Longer-term direction</a:t>
            </a:r>
            <a:endParaRPr lang="en-US" sz="770" dirty="0"/>
          </a:p>
        </p:txBody>
      </p:sp>
      <p:sp>
        <p:nvSpPr>
          <p:cNvPr id="86" name="Shape 26">
            <a:extLst>
              <a:ext uri="{FF2B5EF4-FFF2-40B4-BE49-F238E27FC236}">
                <a16:creationId xmlns:a16="http://schemas.microsoft.com/office/drawing/2014/main" id="{A4B7716B-7055-D44A-4F6A-FB7C5F154B9C}"/>
              </a:ext>
            </a:extLst>
          </p:cNvPr>
          <p:cNvSpPr/>
          <p:nvPr/>
        </p:nvSpPr>
        <p:spPr>
          <a:xfrm>
            <a:off x="6172200" y="5230368"/>
            <a:ext cx="5440680" cy="0"/>
          </a:xfrm>
          <a:prstGeom prst="line">
            <a:avLst/>
          </a:prstGeom>
          <a:noFill/>
          <a:ln w="12700">
            <a:solidFill>
              <a:srgbClr val="EBF0F1"/>
            </a:solidFill>
            <a:prstDash val="solid"/>
          </a:ln>
        </p:spPr>
        <p:txBody>
          <a:bodyPr/>
          <a:lstStyle/>
          <a:p>
            <a:endParaRPr lang="en-US"/>
          </a:p>
        </p:txBody>
      </p:sp>
      <p:sp>
        <p:nvSpPr>
          <p:cNvPr id="88" name="Text 27">
            <a:extLst>
              <a:ext uri="{FF2B5EF4-FFF2-40B4-BE49-F238E27FC236}">
                <a16:creationId xmlns:a16="http://schemas.microsoft.com/office/drawing/2014/main" id="{213DB931-1386-3105-B382-FC138AC69CD5}"/>
              </a:ext>
            </a:extLst>
          </p:cNvPr>
          <p:cNvSpPr/>
          <p:nvPr/>
        </p:nvSpPr>
        <p:spPr>
          <a:xfrm>
            <a:off x="6172200" y="5385816"/>
            <a:ext cx="5440680" cy="694944"/>
          </a:xfrm>
          <a:prstGeom prst="rect">
            <a:avLst/>
          </a:prstGeom>
          <a:solidFill>
            <a:srgbClr val="F5F8F8"/>
          </a:solidFill>
          <a:ln w="9525">
            <a:solidFill>
              <a:srgbClr val="DCE4E6"/>
            </a:solidFill>
          </a:ln>
        </p:spPr>
        <p:txBody>
          <a:bodyPr wrap="square" lIns="1778" tIns="1778" rIns="1778" bIns="1778" rtlCol="0" anchor="ctr">
            <a:normAutofit/>
          </a:bodyPr>
          <a:lstStyle/>
          <a:p>
            <a:pPr marL="0" indent="0">
              <a:buNone/>
            </a:pPr>
            <a:r>
              <a:rPr lang="en-US" sz="1120" dirty="0">
                <a:solidFill>
                  <a:srgbClr val="5B6E76"/>
                </a:solidFill>
                <a:latin typeface="Arial" pitchFamily="34" charset="0"/>
                <a:ea typeface="Arial" pitchFamily="34" charset="-122"/>
                <a:cs typeface="Arial" pitchFamily="34" charset="-120"/>
              </a:rPr>
              <a:t>The same framework can be extended to additional genes and gene-specific interpretation guidelines.</a:t>
            </a:r>
            <a:endParaRPr lang="en-US" sz="11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554480" cy="210312"/>
          </a:xfrm>
          <a:prstGeom prst="rect">
            <a:avLst/>
          </a:prstGeom>
          <a:noFill/>
        </p:spPr>
        <p:txBody>
          <a:bodyPr wrap="square" lIns="18288" tIns="18288" rIns="18288" bIns="18288">
            <a:normAutofit/>
          </a:bodyPr>
          <a:lstStyle/>
          <a:p>
            <a:r>
              <a:rPr lang="cs-CZ" sz="850" dirty="0" err="1">
                <a:solidFill>
                  <a:srgbClr val="8A9BA1"/>
                </a:solidFill>
                <a:latin typeface="IBM Plex Mono"/>
              </a:rPr>
              <a:t>Conclusion</a:t>
            </a:r>
            <a:endParaRPr sz="850" b="0" dirty="0">
              <a:solidFill>
                <a:srgbClr val="8A9BA1"/>
              </a:solidFill>
              <a:latin typeface="IBM Plex Mono"/>
            </a:endParaRPr>
          </a:p>
        </p:txBody>
      </p:sp>
      <p:sp>
        <p:nvSpPr>
          <p:cNvPr id="3" name="TextBox 2"/>
          <p:cNvSpPr txBox="1"/>
          <p:nvPr/>
        </p:nvSpPr>
        <p:spPr>
          <a:xfrm>
            <a:off x="502920" y="566928"/>
            <a:ext cx="7498079" cy="868680"/>
          </a:xfrm>
          <a:prstGeom prst="rect">
            <a:avLst/>
          </a:prstGeom>
          <a:noFill/>
        </p:spPr>
        <p:txBody>
          <a:bodyPr wrap="square" lIns="18288" tIns="18288" rIns="18288" bIns="18288">
            <a:normAutofit/>
          </a:bodyPr>
          <a:lstStyle/>
          <a:p>
            <a:r>
              <a:rPr sz="2700" b="0">
                <a:solidFill>
                  <a:srgbClr val="1A2A31"/>
                </a:solidFill>
                <a:latin typeface="Newsreader"/>
              </a:rPr>
              <a:t>Towards more systematic variant interpretation</a:t>
            </a:r>
          </a:p>
        </p:txBody>
      </p:sp>
      <p:sp>
        <p:nvSpPr>
          <p:cNvPr id="4" name="Rectangle 3"/>
          <p:cNvSpPr/>
          <p:nvPr/>
        </p:nvSpPr>
        <p:spPr>
          <a:xfrm>
            <a:off x="502920" y="1444752"/>
            <a:ext cx="566928" cy="22860"/>
          </a:xfrm>
          <a:prstGeom prst="rect">
            <a:avLst/>
          </a:prstGeom>
          <a:solidFill>
            <a:srgbClr val="1569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10012680" y="274320"/>
            <a:ext cx="1417320" cy="508555"/>
          </a:xfrm>
          <a:prstGeom prst="rect">
            <a:avLst/>
          </a:prstGeom>
        </p:spPr>
      </p:pic>
      <p:sp>
        <p:nvSpPr>
          <p:cNvPr id="6" name="TextBox 5"/>
          <p:cNvSpPr txBox="1"/>
          <p:nvPr/>
        </p:nvSpPr>
        <p:spPr>
          <a:xfrm>
            <a:off x="8092440" y="832104"/>
            <a:ext cx="3383280" cy="182880"/>
          </a:xfrm>
          <a:prstGeom prst="rect">
            <a:avLst/>
          </a:prstGeom>
          <a:noFill/>
        </p:spPr>
        <p:txBody>
          <a:bodyPr wrap="square" lIns="18288" tIns="18288" rIns="18288" bIns="18288">
            <a:normAutofit/>
          </a:bodyPr>
          <a:lstStyle/>
          <a:p>
            <a:pPr algn="r"/>
            <a:r>
              <a:rPr sz="950" b="1">
                <a:solidFill>
                  <a:srgbClr val="1A2A31"/>
                </a:solidFill>
                <a:latin typeface="IBM Plex Sans"/>
              </a:rPr>
              <a:t>Kamila Clarová</a:t>
            </a:r>
          </a:p>
        </p:txBody>
      </p:sp>
      <p:sp>
        <p:nvSpPr>
          <p:cNvPr id="7" name="TextBox 6"/>
          <p:cNvSpPr txBox="1"/>
          <p:nvPr/>
        </p:nvSpPr>
        <p:spPr>
          <a:xfrm>
            <a:off x="8092440" y="1033271"/>
            <a:ext cx="3383280" cy="182880"/>
          </a:xfrm>
          <a:prstGeom prst="rect">
            <a:avLst/>
          </a:prstGeom>
          <a:noFill/>
        </p:spPr>
        <p:txBody>
          <a:bodyPr wrap="square" lIns="18288" tIns="18288" rIns="18288" bIns="18288">
            <a:normAutofit/>
          </a:bodyPr>
          <a:lstStyle/>
          <a:p>
            <a:pPr algn="r"/>
            <a:r>
              <a:rPr sz="900" b="0">
                <a:solidFill>
                  <a:srgbClr val="5B6E76"/>
                </a:solidFill>
                <a:latin typeface="IBM Plex Sans"/>
              </a:rPr>
              <a:t>Jiří Vondrášek Group</a:t>
            </a:r>
          </a:p>
        </p:txBody>
      </p:sp>
      <p:sp>
        <p:nvSpPr>
          <p:cNvPr id="8" name="Rounded Rectangle 7"/>
          <p:cNvSpPr/>
          <p:nvPr/>
        </p:nvSpPr>
        <p:spPr>
          <a:xfrm>
            <a:off x="566928" y="1719072"/>
            <a:ext cx="3291840" cy="4133087"/>
          </a:xfrm>
          <a:prstGeom prst="roundRect">
            <a:avLst>
              <a:gd name="adj" fmla="val 5278"/>
            </a:avLst>
          </a:prstGeom>
          <a:solidFill>
            <a:srgbClr val="F5F8F8"/>
          </a:solidFill>
          <a:ln>
            <a:solidFill>
              <a:srgbClr val="DCE4E6"/>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64592" rtlCol="0" anchor="t">
            <a:normAutofit/>
          </a:bodyPr>
          <a:lstStyle/>
          <a:p>
            <a:pPr algn="ctr">
              <a:spcAft>
                <a:spcPts val="800"/>
              </a:spcAft>
            </a:pPr>
            <a:r>
              <a:rPr sz="1100" b="1">
                <a:solidFill>
                  <a:srgbClr val="8A9BA1"/>
                </a:solidFill>
                <a:latin typeface="IBM Plex Sans"/>
              </a:rPr>
              <a:t>CURRENT CHALLENGE</a:t>
            </a:r>
          </a:p>
          <a:p>
            <a:pPr>
              <a:lnSpc>
                <a:spcPct val="108000"/>
              </a:lnSpc>
            </a:pPr>
            <a:r>
              <a:rPr sz="1230">
                <a:solidFill>
                  <a:srgbClr val="1A2A31"/>
                </a:solidFill>
                <a:latin typeface="IBM Plex Sans"/>
              </a:rPr>
              <a:t>Variant classification is complex, time-consuming and requires substantial expert knowledge. Relevant evidence and gene-specific rules are not always evaluated consistently in routine practice.</a:t>
            </a:r>
          </a:p>
        </p:txBody>
      </p:sp>
      <p:sp>
        <p:nvSpPr>
          <p:cNvPr id="9" name="Rounded Rectangle 8"/>
          <p:cNvSpPr/>
          <p:nvPr/>
        </p:nvSpPr>
        <p:spPr>
          <a:xfrm>
            <a:off x="4160520" y="1719072"/>
            <a:ext cx="3840480" cy="4133087"/>
          </a:xfrm>
          <a:prstGeom prst="roundRect">
            <a:avLst>
              <a:gd name="adj" fmla="val 2619"/>
            </a:avLst>
          </a:prstGeom>
          <a:solidFill>
            <a:srgbClr val="F5F8F8"/>
          </a:solidFill>
          <a:ln>
            <a:solidFill>
              <a:srgbClr val="DCE4E6"/>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64592" rtlCol="0" anchor="t">
            <a:normAutofit/>
          </a:bodyPr>
          <a:lstStyle/>
          <a:p>
            <a:pPr algn="ctr">
              <a:spcAft>
                <a:spcPts val="800"/>
              </a:spcAft>
            </a:pPr>
            <a:r>
              <a:rPr sz="1100" b="1">
                <a:solidFill>
                  <a:srgbClr val="8A9BA1"/>
                </a:solidFill>
                <a:latin typeface="IBM Plex Sans"/>
              </a:rPr>
              <a:t>ARIANE IN LABORATORY PRACTICE</a:t>
            </a:r>
          </a:p>
          <a:p>
            <a:pPr>
              <a:lnSpc>
                <a:spcPct val="108000"/>
              </a:lnSpc>
            </a:pPr>
            <a:r>
              <a:rPr sz="1080">
                <a:solidFill>
                  <a:srgbClr val="1A2A31"/>
                </a:solidFill>
                <a:latin typeface="IBM Plex Sans"/>
              </a:rPr>
              <a:t>ARIANE is designed as a practical tool for laboratories performing variant classification. It supports the interpretation of individual variants by automatically evaluating applicable criteria, documenting the underlying evidence and guiding the user through the classification process. The development is carried out in collaboration with ENIGMA members Jana Soukupová and Zdeněk Kleibl, ensuring close interaction with the expert community involved in BRCA1/2 variant interpretation.</a:t>
            </a:r>
          </a:p>
        </p:txBody>
      </p:sp>
      <p:sp>
        <p:nvSpPr>
          <p:cNvPr id="10" name="Rounded Rectangle 9"/>
          <p:cNvSpPr/>
          <p:nvPr/>
        </p:nvSpPr>
        <p:spPr>
          <a:xfrm>
            <a:off x="8302752" y="1719072"/>
            <a:ext cx="3337560" cy="4133087"/>
          </a:xfrm>
          <a:prstGeom prst="roundRect">
            <a:avLst>
              <a:gd name="adj" fmla="val 3242"/>
            </a:avLst>
          </a:prstGeom>
          <a:solidFill>
            <a:srgbClr val="F5F8F8"/>
          </a:solidFill>
          <a:ln>
            <a:solidFill>
              <a:srgbClr val="DCE4E6"/>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64592" rtlCol="0" anchor="t">
            <a:normAutofit/>
          </a:bodyPr>
          <a:lstStyle/>
          <a:p>
            <a:pPr algn="ctr">
              <a:spcAft>
                <a:spcPts val="800"/>
              </a:spcAft>
            </a:pPr>
            <a:r>
              <a:rPr sz="1100" b="1">
                <a:solidFill>
                  <a:srgbClr val="8A9BA1"/>
                </a:solidFill>
                <a:latin typeface="IBM Plex Sans"/>
              </a:rPr>
              <a:t>NEXT DEVELOPMENT STEP</a:t>
            </a:r>
          </a:p>
          <a:p>
            <a:pPr>
              <a:lnSpc>
                <a:spcPct val="108000"/>
              </a:lnSpc>
            </a:pPr>
            <a:r>
              <a:rPr sz="1230">
                <a:solidFill>
                  <a:srgbClr val="1A2A31"/>
                </a:solidFill>
                <a:latin typeface="IBM Plex Sans"/>
              </a:rPr>
              <a:t>Extend the framework to evidence contained in scientific literature, while keeping expert review as an integral part of the interpretation process.</a:t>
            </a:r>
          </a:p>
        </p:txBody>
      </p:sp>
      <p:sp>
        <p:nvSpPr>
          <p:cNvPr id="11" name="TextBox 10"/>
          <p:cNvSpPr txBox="1"/>
          <p:nvPr/>
        </p:nvSpPr>
        <p:spPr>
          <a:xfrm>
            <a:off x="594360" y="6236208"/>
            <a:ext cx="6400800" cy="256032"/>
          </a:xfrm>
          <a:prstGeom prst="rect">
            <a:avLst/>
          </a:prstGeom>
          <a:noFill/>
        </p:spPr>
        <p:txBody>
          <a:bodyPr wrap="none" lIns="18288" tIns="0" rIns="18288" bIns="0">
            <a:spAutoFit/>
          </a:bodyPr>
          <a:lstStyle/>
          <a:p>
            <a:r>
              <a:rPr sz="1050" u="sng">
                <a:solidFill>
                  <a:srgbClr val="15697A"/>
                </a:solidFill>
                <a:latin typeface="IBM Plex Sans"/>
                <a:hlinkClick r:id="rId4"/>
              </a:rPr>
              <a:t>Video demonstration: ARIANE - BRCA1/2 Variant Classification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335</TotalTime>
  <Words>1355</Words>
  <Application>Microsoft Office PowerPoint</Application>
  <PresentationFormat>Widescreen</PresentationFormat>
  <Paragraphs>200</Paragraphs>
  <Slides>6</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vt:i4>
      </vt:variant>
    </vt:vector>
  </HeadingPairs>
  <TitlesOfParts>
    <vt:vector size="17" baseType="lpstr">
      <vt:lpstr>Aptos</vt:lpstr>
      <vt:lpstr>Aptos Display</vt:lpstr>
      <vt:lpstr>Arial</vt:lpstr>
      <vt:lpstr>Consolas</vt:lpstr>
      <vt:lpstr>Courier New</vt:lpstr>
      <vt:lpstr>Georgia</vt:lpstr>
      <vt:lpstr>IBM Plex Mono</vt:lpstr>
      <vt:lpstr>IBM Plex Sans</vt:lpstr>
      <vt:lpstr>Newsreader</vt:lpstr>
      <vt:lpstr>Segoe UI</vt:lpstr>
      <vt:lpstr>Office Theme</vt:lpstr>
      <vt:lpstr>ARIANE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kamila clarova</dc:creator>
  <cp:lastModifiedBy>kamila clarova</cp:lastModifiedBy>
  <cp:revision>17</cp:revision>
  <dcterms:created xsi:type="dcterms:W3CDTF">2026-08-31T10:16:31Z</dcterms:created>
  <dcterms:modified xsi:type="dcterms:W3CDTF">2026-09-02T11:26:13Z</dcterms:modified>
</cp:coreProperties>
</file>